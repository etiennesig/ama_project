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Restitution AMA - talk track:
1. Start with the framing: the panel may not know the EdTech domain, so define the business problem and success criteria first.
2. Position AMA as a professional-marker programme, not as a school exam: demonstrate structured thinking, trade-offs, learning, and objection handling.
3. Use LearnEU as the thread: 4.1M learners, privacy-first constraints, EU AI Act high-risk obligations, then the architecture choices.
4. Make the demo feel inevitable: each technical component exists because it protects a user outcome or a compliance requirement.
5. Close with maturity: what was learned, what would be improved, and what would be done with more time or resources.
Key dates: final presentations from 27 July; graduation in Prague on 9 September; optional cohort handoff on 10-11 September.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8869680" y="-1417320"/>
            <a:ext cx="4206240" cy="4206240"/>
          </a:xfrm>
          <a:prstGeom prst="arc">
            <a:avLst/>
          </a:prstGeom>
          <a:noFill/>
          <a:ln w="228600">
            <a:solidFill>
              <a:srgbClr val="38BDF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9281160" y="-987552"/>
            <a:ext cx="3200400" cy="3200400"/>
          </a:xfrm>
          <a:prstGeom prst="arc">
            <a:avLst/>
          </a:prstGeom>
          <a:noFill/>
          <a:ln w="152400">
            <a:solidFill>
              <a:srgbClr val="2DD4BF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291072"/>
            <a:ext cx="12191695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3840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10" kern="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 FINAL RESTITUTION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758952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 la soutenance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 récit d’architecte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530352" y="1984248"/>
            <a:ext cx="5074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message à faire passer : ce n’est pas un examen technique, c’est la preuve d’une capacité à cadrer un problème complexe, choisir des compromis, démontrer de la valeur et apprendre vite.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530352" y="2999232"/>
            <a:ext cx="5029200" cy="1298448"/>
          </a:xfrm>
          <a:prstGeom prst="roundRect">
            <a:avLst>
              <a:gd name="adj" fmla="val 7042"/>
            </a:avLst>
          </a:prstGeom>
          <a:solidFill>
            <a:srgbClr val="0F172A"/>
          </a:solidFill>
          <a:ln w="12700">
            <a:solidFill>
              <a:srgbClr val="2441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32369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140" kern="0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ANGLE LEARNEU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786384" y="34838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4.1M learners → privacy-first architecture → live slice → roadmap to 60/60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786384" y="394106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B8C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Ouvrir par l’enjeu métier, ancrer chaque choix technique dans un outcome, puis montrer la démo comme conséquence logique du raisonnement.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566928" y="45902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Jalons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344168" y="5001768"/>
            <a:ext cx="3255264" cy="0"/>
          </a:xfrm>
          <a:prstGeom prst="line">
            <a:avLst/>
          </a:prstGeom>
          <a:noFill/>
          <a:ln w="25400">
            <a:solidFill>
              <a:srgbClr val="27405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43584" y="4901184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52303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juil.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713232" y="54589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B8C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premières présentations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2871216" y="4901184"/>
            <a:ext cx="201168" cy="201168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2888" y="52303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sept.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2340864" y="54589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B8C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graduation à Prague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4498848" y="490118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523036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10–11 sept.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3968496" y="54589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B8C7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passage de relais cohorte suivante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5961888" y="530352"/>
            <a:ext cx="2697480" cy="1536192"/>
          </a:xfrm>
          <a:prstGeom prst="roundRect">
            <a:avLst>
              <a:gd name="adj" fmla="val 4762"/>
            </a:avLst>
          </a:prstGeom>
          <a:solidFill>
            <a:srgbClr val="172033"/>
          </a:solidFill>
          <a:ln w="12700">
            <a:solidFill>
              <a:srgbClr val="27405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61888" y="530352"/>
            <a:ext cx="73152" cy="15361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90488" y="69494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JURY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190488" y="9144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 avant détails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190488" y="131673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Définir le problème, l’audience, les critères de succès et les compromis avant de plonger dans l’architecture.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8942832" y="530352"/>
            <a:ext cx="2697480" cy="1536192"/>
          </a:xfrm>
          <a:prstGeom prst="roundRect">
            <a:avLst>
              <a:gd name="adj" fmla="val 4762"/>
            </a:avLst>
          </a:prstGeom>
          <a:solidFill>
            <a:srgbClr val="172033"/>
          </a:solidFill>
          <a:ln w="12700">
            <a:solidFill>
              <a:srgbClr val="27405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942832" y="530352"/>
            <a:ext cx="73152" cy="153619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71432" y="69494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171432" y="9144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Préparée, répétée, prouvée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9171432" y="131673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démo est le cœur attendu. Les assets GitHub, vidéos ou documents restent des preuves complémentaires.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5961888" y="2331720"/>
            <a:ext cx="2697480" cy="1536192"/>
          </a:xfrm>
          <a:prstGeom prst="roundRect">
            <a:avLst>
              <a:gd name="adj" fmla="val 4762"/>
            </a:avLst>
          </a:prstGeom>
          <a:solidFill>
            <a:srgbClr val="172033"/>
          </a:solidFill>
          <a:ln w="12700">
            <a:solidFill>
              <a:srgbClr val="27405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961888" y="2331720"/>
            <a:ext cx="73152" cy="153619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0488" y="24963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190488" y="27157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Éviter le piège technique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190488" y="311810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échecs passés viennent surtout d’un démarrage tardif, d’un récit faible et d’une démo insuffisamment aboutie.</a:t>
            </a:r>
            <a:endParaRPr lang="en-US" sz="1030" dirty="0"/>
          </a:p>
        </p:txBody>
      </p:sp>
      <p:sp>
        <p:nvSpPr>
          <p:cNvPr id="39" name="Shape 37"/>
          <p:cNvSpPr/>
          <p:nvPr/>
        </p:nvSpPr>
        <p:spPr>
          <a:xfrm>
            <a:off x="8942832" y="2331720"/>
            <a:ext cx="2697480" cy="1536192"/>
          </a:xfrm>
          <a:prstGeom prst="roundRect">
            <a:avLst>
              <a:gd name="adj" fmla="val 4762"/>
            </a:avLst>
          </a:prstGeom>
          <a:solidFill>
            <a:srgbClr val="172033"/>
          </a:solidFill>
          <a:ln w="12700">
            <a:solidFill>
              <a:srgbClr val="27405D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942832" y="2331720"/>
            <a:ext cx="73152" cy="15361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71432" y="24963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40" kern="0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RECONNAISSANCE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9171432" y="271576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 devient un marqueur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171432" y="3118104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RH, succession planning, badge recognition et sessions L300 : la graduation doit montrer une posture durable.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5961888" y="4187952"/>
            <a:ext cx="5678424" cy="1444752"/>
          </a:xfrm>
          <a:prstGeom prst="roundRect">
            <a:avLst>
              <a:gd name="adj" fmla="val 6329"/>
            </a:avLst>
          </a:prstGeom>
          <a:solidFill>
            <a:srgbClr val="101B2D"/>
          </a:solidFill>
          <a:ln w="12700">
            <a:solidFill>
              <a:srgbClr val="2A466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36208" y="4434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structure de récit à garder</a:t>
            </a:r>
            <a:endParaRPr lang="en-US" sz="1320" dirty="0"/>
          </a:p>
        </p:txBody>
      </p:sp>
      <p:sp>
        <p:nvSpPr>
          <p:cNvPr id="46" name="Shape 44"/>
          <p:cNvSpPr/>
          <p:nvPr/>
        </p:nvSpPr>
        <p:spPr>
          <a:xfrm>
            <a:off x="6263640" y="4864608"/>
            <a:ext cx="310896" cy="31089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4946904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117336" y="527608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maintenant ?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6793992" y="4910328"/>
            <a:ext cx="237744" cy="201168"/>
          </a:xfrm>
          <a:prstGeom prst="chevron">
            <a:avLst/>
          </a:prstGeom>
          <a:solidFill>
            <a:srgbClr val="324B68"/>
          </a:solidFill>
          <a:ln w="12700">
            <a:solidFill>
              <a:srgbClr val="324B6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98664" y="4864608"/>
            <a:ext cx="310896" cy="31089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90104" y="4946904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452360" y="527608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 pari d’architecture ?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8129016" y="4910328"/>
            <a:ext cx="237744" cy="201168"/>
          </a:xfrm>
          <a:prstGeom prst="chevron">
            <a:avLst/>
          </a:prstGeom>
          <a:solidFill>
            <a:srgbClr val="324B68"/>
          </a:solidFill>
          <a:ln w="12700">
            <a:solidFill>
              <a:srgbClr val="324B6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933688" y="4864608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025128" y="4946904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787384" y="527608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Quelle preuve live ?</a:t>
            </a:r>
            <a:endParaRPr lang="en-US" sz="760" dirty="0"/>
          </a:p>
        </p:txBody>
      </p:sp>
      <p:sp>
        <p:nvSpPr>
          <p:cNvPr id="57" name="Shape 55"/>
          <p:cNvSpPr/>
          <p:nvPr/>
        </p:nvSpPr>
        <p:spPr>
          <a:xfrm>
            <a:off x="9464040" y="4910328"/>
            <a:ext cx="237744" cy="201168"/>
          </a:xfrm>
          <a:prstGeom prst="chevron">
            <a:avLst/>
          </a:prstGeom>
          <a:solidFill>
            <a:srgbClr val="324B68"/>
          </a:solidFill>
          <a:ln w="12700">
            <a:solidFill>
              <a:srgbClr val="324B6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268712" y="4864608"/>
            <a:ext cx="310896" cy="31089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360152" y="4946904"/>
            <a:ext cx="1280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0122408" y="527608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Qu’ai-je appris ?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521208" y="6419088"/>
            <a:ext cx="2194560" cy="329184"/>
          </a:xfrm>
          <a:prstGeom prst="roundRect">
            <a:avLst>
              <a:gd name="adj" fmla="val 33333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6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12648" y="6501384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Freeze narrative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2852928" y="6419088"/>
            <a:ext cx="1965960" cy="329184"/>
          </a:xfrm>
          <a:prstGeom prst="roundRect">
            <a:avLst>
              <a:gd name="adj" fmla="val 33333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6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44368" y="6501384"/>
            <a:ext cx="17830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Rehearse demo</a:t>
            </a:r>
            <a:endParaRPr lang="en-US" sz="820" dirty="0"/>
          </a:p>
        </p:txBody>
      </p:sp>
      <p:sp>
        <p:nvSpPr>
          <p:cNvPr id="65" name="Shape 63"/>
          <p:cNvSpPr/>
          <p:nvPr/>
        </p:nvSpPr>
        <p:spPr>
          <a:xfrm>
            <a:off x="4956048" y="6419088"/>
            <a:ext cx="1920240" cy="329184"/>
          </a:xfrm>
          <a:prstGeom prst="roundRect">
            <a:avLst>
              <a:gd name="adj" fmla="val 33333"/>
            </a:avLst>
          </a:prstGeom>
          <a:solidFill>
            <a:srgbClr val="B45309">
              <a:alpha val="92000"/>
            </a:srgbClr>
          </a:solidFill>
          <a:ln w="12700">
            <a:solidFill>
              <a:srgbClr val="B45309">
                <a:alpha val="6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47488" y="6501384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IaC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7013448" y="6419088"/>
            <a:ext cx="2148840" cy="329184"/>
          </a:xfrm>
          <a:prstGeom prst="roundRect">
            <a:avLst>
              <a:gd name="adj" fmla="val 33333"/>
            </a:avLst>
          </a:prstGeom>
          <a:solidFill>
            <a:srgbClr val="F97316">
              <a:alpha val="92000"/>
            </a:srgbClr>
          </a:solidFill>
          <a:ln w="12700">
            <a:solidFill>
              <a:srgbClr val="F97316">
                <a:alpha val="6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104888" y="6501384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fallback</a:t>
            </a:r>
            <a:endParaRPr lang="en-US" sz="820" dirty="0"/>
          </a:p>
        </p:txBody>
      </p:sp>
      <p:sp>
        <p:nvSpPr>
          <p:cNvPr id="69" name="Text 67"/>
          <p:cNvSpPr/>
          <p:nvPr/>
        </p:nvSpPr>
        <p:spPr>
          <a:xfrm>
            <a:off x="9400032" y="6419088"/>
            <a:ext cx="225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EAF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Dernière consigne : montrer la démarche et les apprentissages autant que le résultat.</a:t>
            </a:r>
            <a:endParaRPr lang="en-US" sz="8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 Training Restitution - Storytelling</dc:title>
  <dc:subject>AMA training restitution</dc:subject>
  <dc:creator>Etienne Sigwald</dc:creator>
  <cp:lastModifiedBy>Etienne Sigwald</cp:lastModifiedBy>
  <cp:revision>1</cp:revision>
  <dcterms:created xsi:type="dcterms:W3CDTF">2026-07-10T07:43:06Z</dcterms:created>
  <dcterms:modified xsi:type="dcterms:W3CDTF">2026-07-10T07:43:06Z</dcterms:modified>
</cp:coreProperties>
</file>