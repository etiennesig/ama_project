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9.jpg" ContentType="image/jpg"/>
  <Override PartName="/ppt/media/image24.jpg" ContentType="image/jpg"/>
  <Override PartName="/ppt/media/image26.jpg" ContentType="image/jpg"/>
  <Override PartName="/ppt/media/image3.svg" ContentType="image/svg+xml"/>
  <Override PartName="/ppt/media/image31.jpg" ContentType="image/jpg"/>
  <Override PartName="/ppt/media/image4.jpg" ContentType="image/jpg"/>
  <Override PartName="/ppt/media/image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5" r:id="rId4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7203" autoAdjust="0"/>
  </p:normalViewPr>
  <p:slideViewPr>
    <p:cSldViewPr snapToGrid="0">
      <p:cViewPr varScale="1">
        <p:scale>
          <a:sx n="110" d="100"/>
          <a:sy n="110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164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4,1 millions d’enfants nous regardent — c’est le seul chiffre qui compte. En vingt slides et sept minutes de démo, je vous montre comment on tient trois promesses qu’on entend toujours opposer : personnaliser, protéger la vie privée des mineurs, et rester européen de bout en bout. Pas un slideware : une slice réellement déployée sur Azure West Europe.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vous ne reteniez qu’une slide, ce serait celle-ci. Quatre chiffres, un contrat, zéro excuse.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Quarante points d’écart entre nos meilleures et nos moins bonnes écoles — sur exactement le même contenu. Ce n’est pas un problème de qualité du contenu. C’est un problème de livraison.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thèse en une phrase. À partir de 2027, les ministères européens n’achèteront que de l’IA éducative résidente UE et conforme à l’AI Act. La conformité n’est pas un coût : c’est l’asset de vente. Fenêtre : 18 à 24 mois.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chiffres tirés mot pour mot du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Cinquante-cinq millions d’euros de valeur annuelle au régime de croisière, sur trois marchés.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personas, trois gains chiffrés.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solution en une slide pour le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CRO, le CCO, le CLO et le CISO : la conformité n’est pas un livrable de fin de programme, c’est un gate de chaque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CAIO et le CLO : aucune décision autonome n’atteint un mineur.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CDO : la stratégie est moins de données, mieux gouvernées.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CISO : zero-trust appliqué de bout en 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CHRO et le COO : la première raison pour laquelle ce type de produit échoue, c’est la perte de confiance des enseignants.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CMO : la vitesse de marché est notre arme commerciale.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COO : la gouvernance tient en quatre instances et neuf rôles nommés.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CEO et le COO : cinq phases, douze mois, et chaque gate est bloquant.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Sept minutes, trois personas, une seule backend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CFO et le CIO : la forme du programme est lisible.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CRO et le CCO : le registre complet est en annexe A12.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de clôture pour le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décisions. Un — mandater les DPIA dans les cinq pays. Deux — libérer 3,5 millions pour la Phase 0. Trois — nommer le président du Conseil RAI. Merci.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vue détaillée de l’architecture.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par service, alignement strict sur la liste du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flux, trois régimes.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GDPR Article 8 décliné pour les cinq marchés.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CLO et le CAIO : cartographie article par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CAIO et le CDO : la stack PPML.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CAIO et le CTO : choix de modèle par tâche.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CAIO et le CTO : architecture agentique.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CTO/CISO/CCO :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CTO et le COO : SLO alignés sur la fenêtre scolaire.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CFO : KPI FinOps interne.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registre complet. Trois risques en orange à severity ≥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leading indicators au quotidien.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CEO et le CAIO : la gouvernance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CISO et le CLO : l’IR est drillé trimestriellement.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le CSO et le CFO : KPI FinOps + proxy carbone.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 pour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E7ADE7-FAD5-808C-A0AB-6D895B6BD2F2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35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D38F5B-5B2A-C576-8754-00FAD284A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1533004"/>
            <a:ext cx="4391025" cy="2077492"/>
          </a:xfrm>
        </p:spPr>
        <p:txBody>
          <a:bodyPr anchor="ctr">
            <a:noAutofit/>
          </a:bodyPr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 descr="A silver shield with text and stars&#10;&#10;AI-generated content may be incorrect.">
            <a:extLst>
              <a:ext uri="{FF2B5EF4-FFF2-40B4-BE49-F238E27FC236}">
                <a16:creationId xmlns:a16="http://schemas.microsoft.com/office/drawing/2014/main" id="{746D5BD2-EB53-8934-F59E-1E9E27007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844" t="2514" r="4223" b="5918"/>
          <a:stretch>
            <a:fillRect/>
          </a:stretch>
        </p:blipFill>
        <p:spPr>
          <a:xfrm>
            <a:off x="8431342" y="4484020"/>
            <a:ext cx="525587" cy="523494"/>
          </a:xfrm>
          <a:prstGeom prst="rect">
            <a:avLst/>
          </a:prstGeom>
          <a:effectLst>
            <a:outerShdw blurRad="762000" sx="118000" sy="118000" algn="ctr" rotWithShape="0">
              <a:schemeClr val="tx1">
                <a:alpha val="7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804541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84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.png"/><Relationship Id="rId8" Type="http://schemas.openxmlformats.org/officeDocument/2006/relationships/image" Target="../media/image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.png"/><Relationship Id="rId8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jp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jp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.png"/><Relationship Id="rId8" Type="http://schemas.openxmlformats.org/officeDocument/2006/relationships/image" Target="../media/image3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jp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0ACE77-768E-0851-8417-AF922325D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008" y="1362434"/>
            <a:ext cx="6177937" cy="2077492"/>
          </a:xfrm>
        </p:spPr>
        <p:txBody>
          <a:bodyPr/>
          <a:lstStyle/>
          <a:p>
            <a:r>
              <a:rPr lang="en-US" sz="8625" b="1" dirty="0" err="1">
                <a:solidFill>
                  <a:schemeClr val="bg2"/>
                </a:solidFill>
                <a:latin typeface="Georgia" panose="02040502050405020303" pitchFamily="18" charset="0"/>
              </a:rPr>
              <a:t>LearnEU</a:t>
            </a:r>
            <a:r>
              <a:rPr lang="en-US" sz="8625" b="1" dirty="0">
                <a:solidFill>
                  <a:schemeClr val="bg2"/>
                </a:solidFill>
                <a:latin typeface="Georgia" panose="02040502050405020303" pitchFamily="18" charset="0"/>
              </a:rPr>
              <a:t> </a:t>
            </a:r>
            <a:br>
              <a:rPr lang="en-US" b="1" dirty="0">
                <a:solidFill>
                  <a:schemeClr val="bg2"/>
                </a:solidFill>
                <a:latin typeface="Georgia" panose="02040502050405020303" pitchFamily="18" charset="0"/>
              </a:rPr>
            </a:br>
            <a:r>
              <a:rPr lang="en-US" sz="1800" b="1" dirty="0">
                <a:solidFill>
                  <a:schemeClr val="bg2"/>
                </a:solidFill>
                <a:latin typeface="Georgia" panose="02040502050405020303" pitchFamily="18" charset="0"/>
              </a:rPr>
              <a:t>Every learner, every language, one Europe</a:t>
            </a:r>
            <a:r>
              <a:rPr lang="en-US" sz="1800" b="1" dirty="0">
                <a:latin typeface="Georgia" panose="02040502050405020303" pitchFamily="18" charset="0"/>
              </a:rPr>
              <a:t>.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AEBBF41-80D6-2EAF-7316-FA546F9BD7B8}"/>
              </a:ext>
            </a:extLst>
          </p:cNvPr>
          <p:cNvSpPr txBox="1">
            <a:spLocks/>
          </p:cNvSpPr>
          <p:nvPr/>
        </p:nvSpPr>
        <p:spPr>
          <a:xfrm>
            <a:off x="585470" y="3218526"/>
            <a:ext cx="4391025" cy="2077492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Aptos SemiBold" panose="020B0004020202020204" pitchFamily="34" charset="0"/>
                <a:ea typeface="+mn-ea"/>
                <a:cs typeface="Segoe UI" pitchFamily="34" charset="0"/>
              </a:defRPr>
            </a:lvl1pPr>
          </a:lstStyle>
          <a:p>
            <a:r>
              <a:rPr lang="en-US" sz="1500" b="1" dirty="0">
                <a:solidFill>
                  <a:schemeClr val="bg2"/>
                </a:solidFill>
              </a:rPr>
              <a:t>Etienne SIGWALD</a:t>
            </a:r>
            <a:endParaRPr lang="en-US" sz="1500" dirty="0">
              <a:solidFill>
                <a:schemeClr val="bg2"/>
              </a:solidFill>
            </a:endParaRPr>
          </a:p>
        </p:txBody>
      </p:sp>
      <p:pic>
        <p:nvPicPr>
          <p:cNvPr id="3" name="Picture 2" descr="File:Microsoft logo (2012).svg - Wikimedia Commons">
            <a:extLst>
              <a:ext uri="{FF2B5EF4-FFF2-40B4-BE49-F238E27FC236}">
                <a16:creationId xmlns:a16="http://schemas.microsoft.com/office/drawing/2014/main" id="{658785CF-DD23-026E-57C9-5CE564F49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0" y="191612"/>
            <a:ext cx="1001111" cy="213518"/>
          </a:xfrm>
          <a:prstGeom prst="rect">
            <a:avLst/>
          </a:prstGeom>
        </p:spPr>
      </p:pic>
      <p:pic>
        <p:nvPicPr>
          <p:cNvPr id="6" name="Graphic 5" descr="Leading Tech Education">
            <a:extLst>
              <a:ext uri="{FF2B5EF4-FFF2-40B4-BE49-F238E27FC236}">
                <a16:creationId xmlns:a16="http://schemas.microsoft.com/office/drawing/2014/main" id="{D38002AA-AF21-21FC-75F2-40EFE2E911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3019" y="1600292"/>
            <a:ext cx="3203552" cy="160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4/workspace/images/diverse-group-of-european-children-ages-10-14-smil_2026-05-27T12-44-15_image_DAS_0.jpg"/>
          <p:cNvPicPr>
            <a:picLocks noChangeAspect="1"/>
          </p:cNvPicPr>
          <p:nvPr/>
        </p:nvPicPr>
        <p:blipFill>
          <a:blip r:embed="rId3"/>
          <a:srcRect l="23747" r="23747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8F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 million kids.</a:t>
            </a:r>
            <a:endParaRPr lang="en-US" sz="3800"/>
          </a:p>
          <a:p>
            <a:pPr marL="0" indent="0">
              <a:buNone/>
            </a:pPr>
            <a:r>
              <a:rPr lang="en-US" sz="3800" b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promise.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Personalised. Private. European.</a:t>
            </a:r>
            <a:endParaRPr lang="en-US" sz="1600" dirty="0"/>
          </a:p>
        </p:txBody>
      </p:sp>
      <p:pic>
        <p:nvPicPr>
          <p:cNvPr id="16" name="Picture 15" descr="File:Microsoft logo (2012).svg - Wikimedia Commons">
            <a:extLst>
              <a:ext uri="{FF2B5EF4-FFF2-40B4-BE49-F238E27FC236}">
                <a16:creationId xmlns:a16="http://schemas.microsoft.com/office/drawing/2014/main" id="{265898B2-CDA1-0B84-114A-D7832E5C1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7" name="Graphic 16" descr="Leading Tech Education">
            <a:extLst>
              <a:ext uri="{FF2B5EF4-FFF2-40B4-BE49-F238E27FC236}">
                <a16:creationId xmlns:a16="http://schemas.microsoft.com/office/drawing/2014/main" id="{9453A19A-F1EE-BC23-E696-2545312EC7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5021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sign for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numbers · 1 contract · 0 excuses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54864" cy="1197864"/>
          </a:xfrm>
          <a:prstGeom prst="rect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4.1M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learners in scope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· BE · DE · PL · RO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755648"/>
            <a:ext cx="54864" cy="1197864"/>
          </a:xfrm>
          <a:prstGeom prst="rect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−26pp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50749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Outcome-gap closed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12 months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493008"/>
            <a:ext cx="54864" cy="1197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5204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−45%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772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administrative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freed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46320" y="3493008"/>
            <a:ext cx="54864" cy="1197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204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49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50749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8 · AI 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CE-marked compliance</a:t>
            </a:r>
            <a:endParaRPr lang="en-US" sz="1100" dirty="0"/>
          </a:p>
        </p:txBody>
      </p:sp>
      <p:pic>
        <p:nvPicPr>
          <p:cNvPr id="41" name="Picture 40" descr="File:Microsoft logo (2012).svg - Wikimedia Commons">
            <a:extLst>
              <a:ext uri="{FF2B5EF4-FFF2-40B4-BE49-F238E27FC236}">
                <a16:creationId xmlns:a16="http://schemas.microsoft.com/office/drawing/2014/main" id="{CDF82C41-0701-87FA-229F-12D35680A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43" name="Graphic 42" descr="Leading Tech Education">
            <a:extLst>
              <a:ext uri="{FF2B5EF4-FFF2-40B4-BE49-F238E27FC236}">
                <a16:creationId xmlns:a16="http://schemas.microsoft.com/office/drawing/2014/main" id="{D1DC25E0-4235-C18E-E2A9-784E88043E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4/workspace/images/abstract-educational-concept-showing-a-wide-gap-be_2026-05-27T12-44-15_image_DAS_0.jpg"/>
          <p:cNvPicPr>
            <a:picLocks noChangeAspect="1"/>
          </p:cNvPicPr>
          <p:nvPr/>
        </p:nvPicPr>
        <p:blipFill>
          <a:blip r:embed="rId3"/>
          <a:srcRect l="23333" r="23333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4F0F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F6B6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content.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 kids.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40-point gap.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not a content problem. It’s a delivery problem.</a:t>
            </a:r>
            <a:endParaRPr lang="en-US" sz="1600" dirty="0"/>
          </a:p>
        </p:txBody>
      </p:sp>
      <p:pic>
        <p:nvPicPr>
          <p:cNvPr id="15" name="Picture 14" descr="File:Microsoft logo (2012).svg - Wikimedia Commons">
            <a:extLst>
              <a:ext uri="{FF2B5EF4-FFF2-40B4-BE49-F238E27FC236}">
                <a16:creationId xmlns:a16="http://schemas.microsoft.com/office/drawing/2014/main" id="{6B8E54F7-F413-F1AF-697B-D0796CFFD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7" name="Graphic 16" descr="Leading Tech Education">
            <a:extLst>
              <a:ext uri="{FF2B5EF4-FFF2-40B4-BE49-F238E27FC236}">
                <a16:creationId xmlns:a16="http://schemas.microsoft.com/office/drawing/2014/main" id="{F8223D29-39EA-D52A-C00E-325891B6F2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"/>
            <a:ext cx="2560320" cy="2560320"/>
          </a:xfrm>
          <a:prstGeom prst="ellipse">
            <a:avLst/>
          </a:prstGeom>
          <a:solidFill>
            <a:srgbClr val="FF6B6B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7C5CFC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4114800"/>
            <a:ext cx="1371600" cy="1371600"/>
          </a:xfrm>
          <a:prstGeom prst="ellipse">
            <a:avLst/>
          </a:prstGeom>
          <a:solidFill>
            <a:srgbClr val="7C5CFC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F6B6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F6B6B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9" name="Text 6"/>
          <p:cNvSpPr/>
          <p:nvPr/>
        </p:nvSpPr>
        <p:spPr>
          <a:xfrm>
            <a:off x="914400" y="128016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not a tax on the product. It is the product.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LearnEU programme thesis</a:t>
            </a:r>
            <a:endParaRPr lang="en-US" sz="1400" dirty="0"/>
          </a:p>
        </p:txBody>
      </p:sp>
      <p:pic>
        <p:nvPicPr>
          <p:cNvPr id="16" name="Picture 15" descr="File:Microsoft logo (2012).svg - Wikimedia Commons">
            <a:extLst>
              <a:ext uri="{FF2B5EF4-FFF2-40B4-BE49-F238E27FC236}">
                <a16:creationId xmlns:a16="http://schemas.microsoft.com/office/drawing/2014/main" id="{1587F75A-4E24-DE3F-36AF-39A4BCF8E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8" name="Graphic 17" descr="Leading Tech Education">
            <a:extLst>
              <a:ext uri="{FF2B5EF4-FFF2-40B4-BE49-F238E27FC236}">
                <a16:creationId xmlns:a16="http://schemas.microsoft.com/office/drawing/2014/main" id="{AD73512E-C1E9-4791-E331-A8EA51BFE4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20B2A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548640" y="550218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sign for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−26% gap · −45% teacher admin · 12mo → 6wk · 100% GDPR Art. 8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54864" cy="1197864"/>
          </a:xfrm>
          <a:prstGeom prst="rect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−26pp</a:t>
            </a:r>
            <a:endParaRPr lang="en-US" sz="340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gap closed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12 months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84632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755648"/>
            <a:ext cx="54864" cy="1197864"/>
          </a:xfrm>
          <a:prstGeom prst="rect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−45%</a:t>
            </a:r>
            <a:endParaRPr lang="en-US" sz="3400"/>
          </a:p>
        </p:txBody>
      </p:sp>
      <p:sp>
        <p:nvSpPr>
          <p:cNvPr id="13" name="Text 11"/>
          <p:cNvSpPr/>
          <p:nvPr/>
        </p:nvSpPr>
        <p:spPr>
          <a:xfrm>
            <a:off x="50749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administrative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freed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54864" cy="1197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weeks</a:t>
            </a:r>
            <a:endParaRPr lang="en-US" sz="3400"/>
          </a:p>
        </p:txBody>
      </p:sp>
      <p:sp>
        <p:nvSpPr>
          <p:cNvPr id="17" name="Text 15"/>
          <p:cNvSpPr/>
          <p:nvPr/>
        </p:nvSpPr>
        <p:spPr>
          <a:xfrm>
            <a:off x="7772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per market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12 months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3493008"/>
            <a:ext cx="54864" cy="1197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/>
          </a:p>
        </p:txBody>
      </p:sp>
      <p:sp>
        <p:nvSpPr>
          <p:cNvPr id="21" name="Text 19"/>
          <p:cNvSpPr/>
          <p:nvPr/>
        </p:nvSpPr>
        <p:spPr>
          <a:xfrm>
            <a:off x="50749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8 · AI Act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CE-marked compliance</a:t>
            </a:r>
            <a:endParaRPr lang="en-US" sz="1100"/>
          </a:p>
        </p:txBody>
      </p:sp>
      <p:pic>
        <p:nvPicPr>
          <p:cNvPr id="30" name="Picture 14" descr="File:Microsoft logo (2012).svg - Wikimedia Commons">
            <a:extLst>
              <a:ext uri="{FF2B5EF4-FFF2-40B4-BE49-F238E27FC236}">
                <a16:creationId xmlns:a16="http://schemas.microsoft.com/office/drawing/2014/main" id="{5CEC2EB4-9151-9636-846E-612891DAD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31" name="Graphic 16" descr="Leading Tech Education">
            <a:extLst>
              <a:ext uri="{FF2B5EF4-FFF2-40B4-BE49-F238E27FC236}">
                <a16:creationId xmlns:a16="http://schemas.microsoft.com/office/drawing/2014/main" id="{C9AD6596-2890-7A9B-04A6-9B5978D0F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" y="4713890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20B2A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Run-rate annual value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≤ 24 months on three markets live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54864" cy="1197864"/>
          </a:xfrm>
          <a:prstGeom prst="rect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€55M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value 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speed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755648"/>
            <a:ext cx="54864" cy="1197864"/>
          </a:xfrm>
          <a:prstGeom prst="rect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€28M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50749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productivity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(−45% admin × 120K teachers)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493008"/>
            <a:ext cx="54864" cy="1197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5204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€18M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772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ARR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market entry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46320" y="3493008"/>
            <a:ext cx="54864" cy="1197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204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49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€9M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50749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outcome gap</a:t>
            </a:r>
            <a:endParaRPr lang="en-US" sz="1100" dirty="0"/>
          </a:p>
        </p:txBody>
      </p:sp>
      <p:pic>
        <p:nvPicPr>
          <p:cNvPr id="37" name="Picture 36" descr="File:Microsoft logo (2012).svg - Wikimedia Commons">
            <a:extLst>
              <a:ext uri="{FF2B5EF4-FFF2-40B4-BE49-F238E27FC236}">
                <a16:creationId xmlns:a16="http://schemas.microsoft.com/office/drawing/2014/main" id="{E07FE494-353B-6F6F-D071-038025B8F8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39" name="Graphic 38" descr="Leading Tech Education">
            <a:extLst>
              <a:ext uri="{FF2B5EF4-FFF2-40B4-BE49-F238E27FC236}">
                <a16:creationId xmlns:a16="http://schemas.microsoft.com/office/drawing/2014/main" id="{75F76DB5-CF0C-78BF-8AAF-F9381C3C7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20B2A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of what they hate. More of what works.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Lucas, Mr Klein, Sophie — three quantified wins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0664" y="1508760"/>
            <a:ext cx="2450592" cy="54864"/>
          </a:xfrm>
          <a:prstGeom prst="rect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91640" y="1691640"/>
            <a:ext cx="548640" cy="548640"/>
          </a:xfrm>
          <a:prstGeom prst="ellipse">
            <a:avLst/>
          </a:prstGeom>
          <a:solidFill>
            <a:srgbClr val="20B2A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7830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 — Learner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26974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at his level (P-correct ≈ 0.7)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formative feedback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punitive grading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20440" y="150876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529584" y="1508760"/>
            <a:ext cx="2450592" cy="54864"/>
          </a:xfrm>
          <a:prstGeom prst="rect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80560" y="1691640"/>
            <a:ext cx="548640" cy="548640"/>
          </a:xfrm>
          <a:prstGeom prst="ellipse">
            <a:avLst/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830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576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 Klein — Teacher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57600" y="26974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admin time back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hint is explainable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override, always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09360" y="1508760"/>
            <a:ext cx="2468880" cy="29260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318504" y="1508760"/>
            <a:ext cx="2450592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269480" y="1691640"/>
            <a:ext cx="548640" cy="548640"/>
          </a:xfrm>
          <a:prstGeom prst="ellipse">
            <a:avLst/>
          </a:prstGeom>
          <a:solidFill>
            <a:srgbClr val="FF6B6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7830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Sophie — Parent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46520" y="26974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Native-language portal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8 controls in one click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teacher decides — by contract</a:t>
            </a:r>
            <a:endParaRPr lang="en-US" sz="1050" dirty="0"/>
          </a:p>
        </p:txBody>
      </p:sp>
      <p:pic>
        <p:nvPicPr>
          <p:cNvPr id="32" name="Picture 31" descr="File:Microsoft logo (2012).svg - Wikimedia Commons">
            <a:extLst>
              <a:ext uri="{FF2B5EF4-FFF2-40B4-BE49-F238E27FC236}">
                <a16:creationId xmlns:a16="http://schemas.microsoft.com/office/drawing/2014/main" id="{1FD2488C-77A3-7447-8C1A-E6104D32C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34" name="Graphic 33" descr="Leading Tech Education">
            <a:extLst>
              <a:ext uri="{FF2B5EF4-FFF2-40B4-BE49-F238E27FC236}">
                <a16:creationId xmlns:a16="http://schemas.microsoft.com/office/drawing/2014/main" id="{946FEFD6-35DA-7077-1CA5-0418E43515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4DA8D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Three AIs. Zero data leaving the EU.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8 Azure services, all in scope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54864" cy="1197864"/>
          </a:xfrm>
          <a:prstGeom prst="rect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ONNX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· DP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755648"/>
            <a:ext cx="54864" cy="1197864"/>
          </a:xfrm>
          <a:prstGeom prst="rect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Localisation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50749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· RAG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493008"/>
            <a:ext cx="54864" cy="1197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5204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772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grading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feedback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46320" y="3493008"/>
            <a:ext cx="54864" cy="1197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204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49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services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50749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EU regions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export</a:t>
            </a:r>
            <a:endParaRPr lang="en-US" sz="1100" dirty="0"/>
          </a:p>
        </p:txBody>
      </p:sp>
      <p:pic>
        <p:nvPicPr>
          <p:cNvPr id="37" name="Picture 36" descr="File:Microsoft logo (2012).svg - Wikimedia Commons">
            <a:extLst>
              <a:ext uri="{FF2B5EF4-FFF2-40B4-BE49-F238E27FC236}">
                <a16:creationId xmlns:a16="http://schemas.microsoft.com/office/drawing/2014/main" id="{82C04833-2C85-B96A-0D5A-89462156B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39" name="Graphic 38" descr="Leading Tech Education">
            <a:extLst>
              <a:ext uri="{FF2B5EF4-FFF2-40B4-BE49-F238E27FC236}">
                <a16:creationId xmlns:a16="http://schemas.microsoft.com/office/drawing/2014/main" id="{A282F60F-A522-2D63-5D0B-29D483872B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4/workspace/images/abstract-digital-visualization-of-data-privacy-and_2026-05-27T12-44-09_image_DAS_0.jpg"/>
          <p:cNvPicPr>
            <a:picLocks noChangeAspect="1"/>
          </p:cNvPicPr>
          <p:nvPr/>
        </p:nvPicPr>
        <p:blipFill>
          <a:blip r:embed="rId3"/>
          <a:srcRect l="27481" r="27481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0FAF7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20B2A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1148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0B2A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a release gate. Not an audit deliverable.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LearnEU SDLC principle</a:t>
            </a:r>
            <a:endParaRPr lang="en-US" sz="1400" dirty="0"/>
          </a:p>
        </p:txBody>
      </p:sp>
      <p:pic>
        <p:nvPicPr>
          <p:cNvPr id="16" name="Picture 15" descr="File:Microsoft logo (2012).svg - Wikimedia Commons">
            <a:extLst>
              <a:ext uri="{FF2B5EF4-FFF2-40B4-BE49-F238E27FC236}">
                <a16:creationId xmlns:a16="http://schemas.microsoft.com/office/drawing/2014/main" id="{80F215FD-452E-345A-44AD-FC398BBC1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8" name="Graphic 17" descr="Leading Tech Education">
            <a:extLst>
              <a:ext uri="{FF2B5EF4-FFF2-40B4-BE49-F238E27FC236}">
                <a16:creationId xmlns:a16="http://schemas.microsoft.com/office/drawing/2014/main" id="{7CEF22A6-A2B1-D369-43D0-CD8E27BFB9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"/>
            <a:ext cx="2560320" cy="2560320"/>
          </a:xfrm>
          <a:prstGeom prst="ellipse">
            <a:avLst/>
          </a:prstGeom>
          <a:solidFill>
            <a:srgbClr val="20B2AA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2ECC71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4114800"/>
            <a:ext cx="1371600" cy="1371600"/>
          </a:xfrm>
          <a:prstGeom prst="ellipse">
            <a:avLst/>
          </a:prstGeom>
          <a:solidFill>
            <a:srgbClr val="2ECC71">
              <a:alpha val="7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20B2A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572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0B2AA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9" name="Text 6"/>
          <p:cNvSpPr/>
          <p:nvPr/>
        </p:nvSpPr>
        <p:spPr>
          <a:xfrm>
            <a:off x="914400" y="128016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autonomous decision touches a learner. Ever.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Responsible AI Council charter</a:t>
            </a:r>
            <a:endParaRPr lang="en-US" sz="1400" dirty="0"/>
          </a:p>
        </p:txBody>
      </p:sp>
      <p:pic>
        <p:nvPicPr>
          <p:cNvPr id="16" name="Picture 15" descr="File:Microsoft logo (2012).svg - Wikimedia Commons">
            <a:extLst>
              <a:ext uri="{FF2B5EF4-FFF2-40B4-BE49-F238E27FC236}">
                <a16:creationId xmlns:a16="http://schemas.microsoft.com/office/drawing/2014/main" id="{6587C8C4-D5FE-CD44-561E-F4FFE8CB3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8" name="Graphic 17" descr="Leading Tech Education">
            <a:extLst>
              <a:ext uri="{FF2B5EF4-FFF2-40B4-BE49-F238E27FC236}">
                <a16:creationId xmlns:a16="http://schemas.microsoft.com/office/drawing/2014/main" id="{AF04E87C-7C8E-164C-7575-1AE8F64FC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20B2A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data. Better governed. Never re-identifiable.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+ Purview + customer-managed keys, end-to-end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54864" cy="1197864"/>
          </a:xfrm>
          <a:prstGeom prst="rect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PII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Gold aggregates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755648"/>
            <a:ext cx="54864" cy="1197864"/>
          </a:xfrm>
          <a:prstGeom prst="rect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days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50749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SLA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· evidenced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493008"/>
            <a:ext cx="54864" cy="1197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5204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CMK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772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keys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audit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46320" y="3493008"/>
            <a:ext cx="54864" cy="1197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204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49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EU regions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50749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Europe · Germany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</a:t>
            </a:r>
            <a:endParaRPr lang="en-US" sz="1100" dirty="0"/>
          </a:p>
        </p:txBody>
      </p:sp>
      <p:pic>
        <p:nvPicPr>
          <p:cNvPr id="37" name="Picture 36" descr="File:Microsoft logo (2012).svg - Wikimedia Commons">
            <a:extLst>
              <a:ext uri="{FF2B5EF4-FFF2-40B4-BE49-F238E27FC236}">
                <a16:creationId xmlns:a16="http://schemas.microsoft.com/office/drawing/2014/main" id="{9F2056E0-B79A-23D8-CFDE-96234BA76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39" name="Graphic 38" descr="Leading Tech Education">
            <a:extLst>
              <a:ext uri="{FF2B5EF4-FFF2-40B4-BE49-F238E27FC236}">
                <a16:creationId xmlns:a16="http://schemas.microsoft.com/office/drawing/2014/main" id="{DF304275-2395-7551-3B64-451335182D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20B2A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only. By design. By contract.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· Private Endpoints · CMK · Confidential Computing · WORM audit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PaaS behind Private Endpoints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+ web apps only public surface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 on every storage and AI service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Computing for re-identifiable workloads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Europe + Germany West Central + Poland Central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Data Boundary verified per sub-processor, quarterly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(WORM) = AI Act Art. 12 evidence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 wired per AI feature (sub-5-minute disable)</a:t>
            </a:r>
            <a:endParaRPr lang="en-US" sz="1200" dirty="0"/>
          </a:p>
        </p:txBody>
      </p:sp>
      <p:pic>
        <p:nvPicPr>
          <p:cNvPr id="14" name="Picture 13" descr="File:Microsoft logo (2012).svg - Wikimedia Commons">
            <a:extLst>
              <a:ext uri="{FF2B5EF4-FFF2-40B4-BE49-F238E27FC236}">
                <a16:creationId xmlns:a16="http://schemas.microsoft.com/office/drawing/2014/main" id="{7D16DFEC-5D34-CDCC-E8C0-28553BC14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6" name="Graphic 15" descr="Leading Tech Education">
            <a:extLst>
              <a:ext uri="{FF2B5EF4-FFF2-40B4-BE49-F238E27FC236}">
                <a16:creationId xmlns:a16="http://schemas.microsoft.com/office/drawing/2014/main" id="{72F52B68-A252-7DBE-809C-5984C7B2A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4/workspace/images/warm-and-inviting-scene-of-a-young-male-teacher-he_2026-05-27T12-44-15_image_DAS_0.jpg"/>
          <p:cNvPicPr>
            <a:picLocks noChangeAspect="1"/>
          </p:cNvPicPr>
          <p:nvPr/>
        </p:nvPicPr>
        <p:blipFill>
          <a:blip r:embed="rId3"/>
          <a:srcRect l="27481" r="27481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FF8F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11480" y="6400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F28C28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Teachers are the </a:t>
            </a:r>
            <a:r>
              <a:rPr lang="en-US" sz="3000" i="1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team, </a:t>
            </a:r>
            <a:r>
              <a:rPr lang="en-US" sz="3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test cohort.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LearnEU adoption principle</a:t>
            </a:r>
            <a:endParaRPr lang="en-US" sz="1400" dirty="0"/>
          </a:p>
        </p:txBody>
      </p:sp>
      <p:pic>
        <p:nvPicPr>
          <p:cNvPr id="16" name="Picture 15" descr="File:Microsoft logo (2012).svg - Wikimedia Commons">
            <a:extLst>
              <a:ext uri="{FF2B5EF4-FFF2-40B4-BE49-F238E27FC236}">
                <a16:creationId xmlns:a16="http://schemas.microsoft.com/office/drawing/2014/main" id="{64B7893D-AE99-8AC1-1C71-3B6BED167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8" name="Graphic 17" descr="Leading Tech Education">
            <a:extLst>
              <a:ext uri="{FF2B5EF4-FFF2-40B4-BE49-F238E27FC236}">
                <a16:creationId xmlns:a16="http://schemas.microsoft.com/office/drawing/2014/main" id="{EDD87D8B-4A92-9F4A-C223-842B916464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markets. One pipeline. Six weeks each.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DE → BE/PL/RO, pedagogy-led, ministry-aligned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54864" cy="1197864"/>
          </a:xfrm>
          <a:prstGeom prst="rect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· M5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· 20 schools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proof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755648"/>
            <a:ext cx="54864" cy="1197864"/>
          </a:xfrm>
          <a:prstGeom prst="rect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· M8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50749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schools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marked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493008"/>
            <a:ext cx="54864" cy="1197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5204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BE/PL/RO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772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2 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traction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46320" y="3493008"/>
            <a:ext cx="54864" cy="1197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35204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49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weeks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50749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per market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</a:t>
            </a:r>
            <a:endParaRPr lang="en-US" sz="1100" dirty="0"/>
          </a:p>
        </p:txBody>
      </p:sp>
      <p:pic>
        <p:nvPicPr>
          <p:cNvPr id="37" name="Picture 36" descr="File:Microsoft logo (2012).svg - Wikimedia Commons">
            <a:extLst>
              <a:ext uri="{FF2B5EF4-FFF2-40B4-BE49-F238E27FC236}">
                <a16:creationId xmlns:a16="http://schemas.microsoft.com/office/drawing/2014/main" id="{4CA134C3-487C-E85C-FAAA-9F555123E3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39" name="Graphic 38" descr="Leading Tech Education">
            <a:extLst>
              <a:ext uri="{FF2B5EF4-FFF2-40B4-BE49-F238E27FC236}">
                <a16:creationId xmlns:a16="http://schemas.microsoft.com/office/drawing/2014/main" id="{64B166C6-631F-6D46-95E2-33B443AAE1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councils. Nine agents. One chain.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sign-off precedes technical sign-off — by charter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monthly · KPI, risk, spend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CEO/CFO/COO/CRO chair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Council bi-weekly · release gates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chair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Board · technical decisions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chair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Council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release · pedagogical sign-off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specialist agents, each with named accountability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cross-agent is the internal auditor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traced in the Spec Kit repository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sign-off always precedes technical sign-off</a:t>
            </a:r>
            <a:endParaRPr lang="en-US" sz="1200" dirty="0"/>
          </a:p>
        </p:txBody>
      </p:sp>
      <p:pic>
        <p:nvPicPr>
          <p:cNvPr id="14" name="Picture 13" descr="File:Microsoft logo (2012).svg - Wikimedia Commons">
            <a:extLst>
              <a:ext uri="{FF2B5EF4-FFF2-40B4-BE49-F238E27FC236}">
                <a16:creationId xmlns:a16="http://schemas.microsoft.com/office/drawing/2014/main" id="{638997B1-2011-CC0F-7B76-0957B1BB4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6" name="Graphic 15" descr="Leading Tech Education">
            <a:extLst>
              <a:ext uri="{FF2B5EF4-FFF2-40B4-BE49-F238E27FC236}">
                <a16:creationId xmlns:a16="http://schemas.microsoft.com/office/drawing/2014/main" id="{5C9A8F76-5235-DAE4-300A-C083952D6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phases. Twelve months. Every gate is a hard stop.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market live M8 · CE-marked M10 · 3 markets by M12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8046720" cy="365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402336" cy="402336"/>
          </a:xfrm>
          <a:prstGeom prst="ellipse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P0–P1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M0–M5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/>
          </a:p>
          <a:p>
            <a:pPr marL="0" indent="0" algn="ctr">
              <a:buNone/>
            </a:pPr>
            <a:r>
              <a:rPr lang="en-US" sz="10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DPIA · landing zone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402336" cy="402336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2743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M5–M8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256032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pilot</a:t>
            </a:r>
            <a:endParaRPr lang="en-US" sz="1100"/>
          </a:p>
          <a:p>
            <a:pPr marL="0" indent="0" algn="ctr">
              <a:buNone/>
            </a:pPr>
            <a:r>
              <a:rPr lang="en-US" sz="10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schools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486400" y="2560320"/>
            <a:ext cx="402336" cy="40233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M8–M10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484632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marked</a:t>
            </a:r>
            <a:endParaRPr lang="en-US" sz="1100"/>
          </a:p>
          <a:p>
            <a:pPr marL="0" indent="0" algn="ctr">
              <a:buNone/>
            </a:pPr>
            <a:r>
              <a:rPr lang="en-US" sz="10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launch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7772400" y="2560320"/>
            <a:ext cx="402336" cy="402336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P4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731520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M10–M12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7132320" y="31089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market</a:t>
            </a:r>
            <a:endParaRPr lang="en-US" sz="1100"/>
          </a:p>
          <a:p>
            <a:pPr marL="0" indent="0" algn="ctr">
              <a:buNone/>
            </a:pPr>
            <a:r>
              <a:rPr lang="en-US" sz="100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DR drill</a:t>
            </a:r>
            <a:endParaRPr lang="en-US" sz="1000"/>
          </a:p>
        </p:txBody>
      </p:sp>
      <p:pic>
        <p:nvPicPr>
          <p:cNvPr id="37" name="Picture 36" descr="File:Microsoft logo (2012).svg - Wikimedia Commons">
            <a:extLst>
              <a:ext uri="{FF2B5EF4-FFF2-40B4-BE49-F238E27FC236}">
                <a16:creationId xmlns:a16="http://schemas.microsoft.com/office/drawing/2014/main" id="{02265B58-A30D-83DF-7CEA-0F63966DC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39" name="Graphic 38" descr="Leading Tech Education">
            <a:extLst>
              <a:ext uri="{FF2B5EF4-FFF2-40B4-BE49-F238E27FC236}">
                <a16:creationId xmlns:a16="http://schemas.microsoft.com/office/drawing/2014/main" id="{69A4FDC8-5C7E-E20F-1E02-A1428745B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F6B6B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7 minutes.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→ Learner → Parent · one backend · West Europe</a:t>
            </a:r>
            <a:endParaRPr lang="en-US" sz="1200" dirty="0"/>
          </a:p>
        </p:txBody>
      </p:sp>
      <p:pic>
        <p:nvPicPr>
          <p:cNvPr id="25" name="Image 0" descr="Demo scree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657600" cy="3108960"/>
          </a:xfrm>
          <a:prstGeom prst="roundRect">
            <a:avLst>
              <a:gd name="adj" fmla="val 5000"/>
            </a:avLst>
          </a:prstGeom>
        </p:spPr>
      </p:pic>
      <p:sp>
        <p:nvSpPr>
          <p:cNvPr id="30" name="Shape 30"/>
          <p:cNvSpPr/>
          <p:nvPr/>
        </p:nvSpPr>
        <p:spPr>
          <a:xfrm>
            <a:off x="4572000" y="1554480"/>
            <a:ext cx="182880" cy="1828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31"/>
          <p:cNvSpPr/>
          <p:nvPr/>
        </p:nvSpPr>
        <p:spPr>
          <a:xfrm>
            <a:off x="4846320" y="1508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1200"/>
          </a:p>
        </p:txBody>
      </p:sp>
      <p:sp>
        <p:nvSpPr>
          <p:cNvPr id="32" name="Text 32"/>
          <p:cNvSpPr/>
          <p:nvPr/>
        </p:nvSpPr>
        <p:spPr>
          <a:xfrm>
            <a:off x="557784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Pre-flight: 3 green pills, browser zoom 110%</a:t>
            </a:r>
            <a:endParaRPr lang="en-US" sz="1100"/>
          </a:p>
        </p:txBody>
      </p:sp>
      <p:sp>
        <p:nvSpPr>
          <p:cNvPr id="33" name="Shape 33"/>
          <p:cNvSpPr/>
          <p:nvPr/>
        </p:nvSpPr>
        <p:spPr>
          <a:xfrm>
            <a:off x="4572000" y="2057400"/>
            <a:ext cx="182880" cy="18288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4"/>
          <p:cNvSpPr/>
          <p:nvPr/>
        </p:nvSpPr>
        <p:spPr>
          <a:xfrm>
            <a:off x="484632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00:30</a:t>
            </a:r>
            <a:endParaRPr lang="en-US" sz="1200"/>
          </a:p>
        </p:txBody>
      </p:sp>
      <p:sp>
        <p:nvSpPr>
          <p:cNvPr id="35" name="Text 35"/>
          <p:cNvSpPr/>
          <p:nvPr/>
        </p:nvSpPr>
        <p:spPr>
          <a:xfrm>
            <a:off x="55778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Console</a:t>
            </a: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remediation plan, explainable</a:t>
            </a:r>
            <a:endParaRPr lang="en-US" sz="1100"/>
          </a:p>
        </p:txBody>
      </p:sp>
      <p:sp>
        <p:nvSpPr>
          <p:cNvPr id="36" name="Shape 36"/>
          <p:cNvSpPr/>
          <p:nvPr/>
        </p:nvSpPr>
        <p:spPr>
          <a:xfrm>
            <a:off x="4572000" y="2560320"/>
            <a:ext cx="182880" cy="182880"/>
          </a:xfrm>
          <a:prstGeom prst="ellipse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7"/>
          <p:cNvSpPr/>
          <p:nvPr/>
        </p:nvSpPr>
        <p:spPr>
          <a:xfrm>
            <a:off x="484632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02:30</a:t>
            </a:r>
            <a:endParaRPr lang="en-US" sz="1200"/>
          </a:p>
        </p:txBody>
      </p:sp>
      <p:sp>
        <p:nvSpPr>
          <p:cNvPr id="38" name="Text 38"/>
          <p:cNvSpPr/>
          <p:nvPr/>
        </p:nvSpPr>
        <p:spPr>
          <a:xfrm>
            <a:off x="557784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Web</a:t>
            </a: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adaptive ONNX picker (P ≈ 0.7)</a:t>
            </a:r>
            <a:endParaRPr lang="en-US" sz="1100"/>
          </a:p>
        </p:txBody>
      </p:sp>
      <p:sp>
        <p:nvSpPr>
          <p:cNvPr id="39" name="Shape 39"/>
          <p:cNvSpPr/>
          <p:nvPr/>
        </p:nvSpPr>
        <p:spPr>
          <a:xfrm>
            <a:off x="4572000" y="3063240"/>
            <a:ext cx="182880" cy="18288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40"/>
          <p:cNvSpPr/>
          <p:nvPr/>
        </p:nvSpPr>
        <p:spPr>
          <a:xfrm>
            <a:off x="484632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04:30</a:t>
            </a:r>
            <a:endParaRPr lang="en-US" sz="1200"/>
          </a:p>
        </p:txBody>
      </p:sp>
      <p:sp>
        <p:nvSpPr>
          <p:cNvPr id="41" name="Text 41"/>
          <p:cNvSpPr/>
          <p:nvPr/>
        </p:nvSpPr>
        <p:spPr>
          <a:xfrm>
            <a:off x="557784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</a:t>
            </a: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GDPR Art. 8, native-language</a:t>
            </a:r>
            <a:endParaRPr lang="en-US" sz="1100"/>
          </a:p>
        </p:txBody>
      </p:sp>
      <p:sp>
        <p:nvSpPr>
          <p:cNvPr id="42" name="Shape 42"/>
          <p:cNvSpPr/>
          <p:nvPr/>
        </p:nvSpPr>
        <p:spPr>
          <a:xfrm>
            <a:off x="4572000" y="3566160"/>
            <a:ext cx="182880" cy="182880"/>
          </a:xfrm>
          <a:prstGeom prst="ellipse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3"/>
          <p:cNvSpPr/>
          <p:nvPr/>
        </p:nvSpPr>
        <p:spPr>
          <a:xfrm>
            <a:off x="484632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1200"/>
          </a:p>
        </p:txBody>
      </p:sp>
      <p:sp>
        <p:nvSpPr>
          <p:cNvPr id="44" name="Text 44"/>
          <p:cNvSpPr/>
          <p:nvPr/>
        </p:nvSpPr>
        <p:spPr>
          <a:xfrm>
            <a:off x="55778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Activity + Safety, audit trail</a:t>
            </a:r>
            <a:endParaRPr lang="en-US" sz="1100"/>
          </a:p>
        </p:txBody>
      </p:sp>
      <p:sp>
        <p:nvSpPr>
          <p:cNvPr id="45" name="Shape 45"/>
          <p:cNvSpPr/>
          <p:nvPr/>
        </p:nvSpPr>
        <p:spPr>
          <a:xfrm>
            <a:off x="4572000" y="4069080"/>
            <a:ext cx="182880" cy="182880"/>
          </a:xfrm>
          <a:prstGeom prst="ellipse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6"/>
          <p:cNvSpPr/>
          <p:nvPr/>
        </p:nvSpPr>
        <p:spPr>
          <a:xfrm>
            <a:off x="484632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0B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1200"/>
          </a:p>
        </p:txBody>
      </p:sp>
      <p:sp>
        <p:nvSpPr>
          <p:cNvPr id="47" name="Text 47"/>
          <p:cNvSpPr/>
          <p:nvPr/>
        </p:nvSpPr>
        <p:spPr>
          <a:xfrm>
            <a:off x="557784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slides</a:t>
            </a:r>
            <a:endParaRPr lang="en-US" sz="1100"/>
          </a:p>
        </p:txBody>
      </p:sp>
      <p:pic>
        <p:nvPicPr>
          <p:cNvPr id="27" name="Picture 26" descr="File:Microsoft logo (2012).svg - Wikimedia Commons">
            <a:extLst>
              <a:ext uri="{FF2B5EF4-FFF2-40B4-BE49-F238E27FC236}">
                <a16:creationId xmlns:a16="http://schemas.microsoft.com/office/drawing/2014/main" id="{528C64E2-4B19-9717-3489-304E4048B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28" name="Graphic 27" descr="Leading Tech Education">
            <a:extLst>
              <a:ext uri="{FF2B5EF4-FFF2-40B4-BE49-F238E27FC236}">
                <a16:creationId xmlns:a16="http://schemas.microsoft.com/office/drawing/2014/main" id="{72C10E0A-A6CC-7802-4C69-EAD6E84CC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3" y="4719146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Predictable. Optimised. Sustainable.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PTUs where it matters · PAYG where it doesn’t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54864" cy="1197864"/>
          </a:xfrm>
          <a:prstGeom prst="rect">
            <a:avLst/>
          </a:prstGeom>
          <a:solidFill>
            <a:srgbClr val="F28C2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783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€18–22M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build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platform · 30% AI · 25% compliance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64592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846320" y="1755648"/>
            <a:ext cx="54864" cy="1197864"/>
          </a:xfrm>
          <a:prstGeom prst="rect">
            <a:avLst/>
          </a:prstGeom>
          <a:solidFill>
            <a:srgbClr val="20B2A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830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B2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€6M/yr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507492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run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Azure · 35% people · 10% sub-proc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493008"/>
            <a:ext cx="54864" cy="1197864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5204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≤24 mo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77724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markets live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846320" y="3383280"/>
            <a:ext cx="3749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846320" y="3493008"/>
            <a:ext cx="54864" cy="1197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5204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074920" y="3520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€2M</a:t>
            </a:r>
            <a:endParaRPr lang="en-US" sz="3400" dirty="0"/>
          </a:p>
        </p:txBody>
      </p:sp>
      <p:sp>
        <p:nvSpPr>
          <p:cNvPr id="25" name="Text 19"/>
          <p:cNvSpPr/>
          <p:nvPr/>
        </p:nvSpPr>
        <p:spPr>
          <a:xfrm>
            <a:off x="507492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 OpenAI cost runaway</a:t>
            </a:r>
            <a:endParaRPr lang="en-US" sz="1100" dirty="0"/>
          </a:p>
        </p:txBody>
      </p:sp>
      <p:pic>
        <p:nvPicPr>
          <p:cNvPr id="37" name="Picture 36" descr="File:Microsoft logo (2012).svg - Wikimedia Commons">
            <a:extLst>
              <a:ext uri="{FF2B5EF4-FFF2-40B4-BE49-F238E27FC236}">
                <a16:creationId xmlns:a16="http://schemas.microsoft.com/office/drawing/2014/main" id="{4F9612B9-0E84-4956-E6F6-D953FE3853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39" name="Graphic 38" descr="Leading Tech Education">
            <a:extLst>
              <a:ext uri="{FF2B5EF4-FFF2-40B4-BE49-F238E27FC236}">
                <a16:creationId xmlns:a16="http://schemas.microsoft.com/office/drawing/2014/main" id="{D5BBDC03-3579-2CE7-2A21-71F6F6896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6 risks. Owned. Mitigated. Contingent.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is a project-killer if managed actively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DPA blocks DPIA → engage from M0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fails to converge → DP central fallback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quality drift → reviewer never optional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disparity &gt; 5pp → per-cohort release gate + rollback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cost runaway → PTUs · caching · €2M reserve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73 serious incident → drilled IR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9591477B-9C4C-BE13-42C4-FB67F7DD6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0B4DC00E-B446-F85D-7E47-CF35724034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board sees. Every month.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KPIs · 6 risks · 1 posture · 1 cost / learner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gap per cohort, per market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minutes saved (telemetry + NPS)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throughput (units / week)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8 · DPIA freshness · erasure SLA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K5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conformity · Annex IV · overrides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learner / month with carbon proxy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780E7989-1ABB-3802-0836-BEEF67FC7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27EF74D5-A768-6183-8341-3CCE39C03A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4/workspace/images/diverse-group-of-european-professionals-in-a-brigh_2026-05-27T12-44-05_image_DAS_0.jpg"/>
          <p:cNvPicPr>
            <a:picLocks noChangeAspect="1"/>
          </p:cNvPicPr>
          <p:nvPr/>
        </p:nvPicPr>
        <p:blipFill>
          <a:blip r:embed="rId3"/>
          <a:srcRect l="24321" r="24321"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FF8F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F28C2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81636" y="658368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decisions. Today.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· Budget · Chair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6517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mandate across NL/BE/DE/PL/RO — unlocks Phase 0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€3.5M for Phase 0 — landing zone · DPIAs · Annex IV skeleton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Responsible AI Council chair — by next steering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outcome contract as board-scorecard KPIs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NL → DE sequencing; markets 3–5 at month-10 gate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8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Personalised. Private. European.</a:t>
            </a:r>
            <a:endParaRPr lang="en-US" sz="1400" dirty="0"/>
          </a:p>
        </p:txBody>
      </p:sp>
      <p:pic>
        <p:nvPicPr>
          <p:cNvPr id="15" name="Picture 14" descr="File:Microsoft logo (2012).svg - Wikimedia Commons">
            <a:extLst>
              <a:ext uri="{FF2B5EF4-FFF2-40B4-BE49-F238E27FC236}">
                <a16:creationId xmlns:a16="http://schemas.microsoft.com/office/drawing/2014/main" id="{2AE0533B-D407-05E6-75F1-3EA41FDFF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7" name="Graphic 16" descr="Leading Tech Education">
            <a:extLst>
              <a:ext uri="{FF2B5EF4-FFF2-40B4-BE49-F238E27FC236}">
                <a16:creationId xmlns:a16="http://schemas.microsoft.com/office/drawing/2014/main" id="{CCF1F3D3-5F1F-8EBA-FA2C-62A6C4FB4C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 · Target architecture, layered 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→ Ingestion → Storage → Processing → Serving → Governance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(pseudonymised), teacher content, curricula, devices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(front door) + Event Hubs + ADF batch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OneLake (Bronze/Silver/Gold) + Feature Store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(federated + DP) + Confidential Computing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+ AI Search (RAG) + Content Safety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on-device (default) + AML Online Endpoints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Console · Learner Web · Parent Portal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Managed HSM (CMK on all stores)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34142D3E-4EB9-3CDD-2327-403F44DCD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695F1E9A-A697-45E1-E8A5-C60777AC64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 · Eight Azure services, EU-only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to the case-study service list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parent/learner identity, per-country tenants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OneLake + Notebooks + Power BI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labels, lineage, DLP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2.0, rate-limit, OWASP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Machine Learning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+ assessment models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+ feedback (EU boundary)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 every generative output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teacher/school/ministry dashboards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290D7244-E2FB-B7C8-18E4-F18CD410F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F57298A7-3543-6399-60C1-7DD2DDBB49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A3 · Three data flows, three privacy regimes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· grading · localisation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default = on-device ONNX; no data sent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federated round: device → DP-protected gradients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model published to registry → re-deployed to devices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training never sees raw learner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Grading: submission → APIM → AML (no retention) → teacher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Localisation: source → AI Search → Azure OpenAI → reviewer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generative outputs pass Content Safety before surface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for every AI decision (AI Act Art. 12)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B0523DE9-3990-FFCC-261F-DF9EC7E29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CC13AFA3-B92B-58D5-CD72-6B994D8AC1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A4 · GDPR Article 8 — strictest interpretation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age 16 · DPIA per market · erasure 30 days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consent age: 16 (NL standard, strictest)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consent via verifiable parent identity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 basis matrix: contract + consent + legitimate interest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Processing (Art. 30) per market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Access Request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30-day SLA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erasure cascades through Purview lineage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per market, refreshed annually or on change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GDPR Art. 30 review at Steering Committee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F8A93BFC-3EA9-ECB4-C0A0-EC9C76CD4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89F8D7FB-571E-BEA3-AE82-A216526552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A5 · High-risk obligations, article-by-article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III §3 · Art. 9–15, 43, 72, 73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9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risk-management system per feature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10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(quality, bias, representativeness)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11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(Annex IV file)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12 · logging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6-month retention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13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for users (teacher + parent)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14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(teacher-in-the-loop, kill switch)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robustness, cybersecurity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43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 assessment + CE marking (M10)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72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post-market monitoring (live from pilot)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73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serious-incident reporting (drilled IR)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3B567647-4894-FF5C-FBE5-7FB210696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40CA317C-48A7-823E-CF2E-BD34833BA3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A6 · On-device · Federated · DP · Confidential Compute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EU-resident, defensible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on-device inference (ONNX Runtime Web / mobile)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training: device computes gradients locally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Privacy: noise added before transmission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aggregation in Azure Confidential VMs / AKS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learner data never leaves device under default 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training only on opt-in with explicit consent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Computing protects against cloud operator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carries no PII; lineage proves it in Purview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331869C2-0410-9DA9-D522-AF21097EF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3743DA02-D15B-16EC-EB47-DA0821686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A7 · Right-sized model per task, gated release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where it matters; small + fine-tuned everywhere else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learner: custom small model (synthetic + federated)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fine-tuned Phi-class for structured grading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Localisation: Azure OpenAI GPT-class with RAG + glossary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small-first, escalate when confidence &lt; threshold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per-cohort disparity ≤ 5 pp (gating)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ECE ≤ 0.05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0 critical Content Safety failures in eval suite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teacher-readable explanation for every decision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2613774A-B602-DD2A-FFB8-57A62ABC1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93D7A5B1-46F6-C740-A4E3-EDB4B4EE2C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A8 · Nine specialist agents, one orchestrator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· accountable · audited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Program Orchestrator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coordinates, synthesises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Compliance Officer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Children’s Data Specialist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ML Engineer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Sciences Expert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Content Localisation Lead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Evaluator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QA &amp; Verifier (internal auditor)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Deployment Agent (end-to-end provisioning)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in specs/&lt;NNN-feature&gt;/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AE314C35-95BA-8EFB-E183-1764A7935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C923016A-4EBC-6859-EEDB-18F2A18BF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A9 · App Insights + immutable audit = Art. 12 ready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decision logged, queryable, defensible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per surface (Teacher/Learner/Parent/Admin)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events: ai_decision, override, content_safety_block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Per-cohort fairness metrics aggregated continuously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workbooks for AI Act Art. 12 evidence on demand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WORM storage, EU regions, 6-month retention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stream of every AI decision + override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hashes; quarterly integrity check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to RAI Council dashboard + Steering monthly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B809FB61-AF82-561B-E6B3-18D4915CA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B62D4568-38CD-FEAA-CEC5-0D377417A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A10 · SLOs designed for school-day peaks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availability, scale — all measured on the wire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availability: 99.9% (excl. planned maintenance)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picker p95: ≤ 200 ms (on-device); ≤ 800 ms (fallback)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grading p95: ≤ 3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batch: 6-week SLA per market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EU (West Europe ↔ North Europe; DE primary)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drill quarterly; RPO ≤ 15 min, RTO ≤ 2 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rate-limit per school (noisy-neighbour prevention)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 per AI feature (sub-5-minute disable)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1993388A-F851-AA62-ED7E-C835DB907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5B399B58-A6CA-60F1-D88D-918D1D0966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A11 · Cost / learner / month is the FinOps north star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≤ €0.45 / learner / month at 3-market scale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compute &amp; storage: ~35% of run cost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(localisation + grading): ~20%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(RAI, editorial, CSM, ops): ~35%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Sub-processors + licences: ~10%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PTU on OpenAI for predictable load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repeated localisations (~30% cost avoidance)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small models for routine; frontier for edge cases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pinning + reserved instances for Fabric capacity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FAA91D2A-B48E-6370-E70E-3569ECEFE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7EBA014D-979F-2FAB-38D4-911F0F397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A12 · 12 risks tracked, monthly Steering review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Likelihood × Impact (1–5 each)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blocks DPIA · sev 15 · DPO · engage early · delay that market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conformity fails · sev 10 · AI Act CO · Annex IV from M0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non-convergence · sev 12 · ML Lead · DP central fallback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quality drift · sev 16 · Editorial · reviewer non-optional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override explosion · sev 12 · UX/RAI · co-design + CPD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disparity &gt; 5pp · sev 15 · RAI · gate + same-day rollback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Sub-processor change · sev 10 · DPO/Arch · quarterly 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cost runaway · sev 12 · FinOps · PTU + cache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onboarding lag · sev 12 · Country Mgrs · CSM per market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73 serious incident · sev 5 · RAI/DPO · drilled IR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vulnerability · sev 10 · Security · pen-test + Defender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  </a:t>
            </a: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false negative · sev 10 · RAI/Editorial · takedown &lt; 2h</a:t>
            </a:r>
            <a:endParaRPr lang="en-US" sz="1100" dirty="0"/>
          </a:p>
        </p:txBody>
      </p:sp>
      <p:pic>
        <p:nvPicPr>
          <p:cNvPr id="8" name="Picture 7" descr="File:Microsoft logo (2012).svg - Wikimedia Commons">
            <a:extLst>
              <a:ext uri="{FF2B5EF4-FFF2-40B4-BE49-F238E27FC236}">
                <a16:creationId xmlns:a16="http://schemas.microsoft.com/office/drawing/2014/main" id="{C6AEB99E-3332-3193-761E-27181A562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0" name="Graphic 9" descr="Leading Tech Education">
            <a:extLst>
              <a:ext uri="{FF2B5EF4-FFF2-40B4-BE49-F238E27FC236}">
                <a16:creationId xmlns:a16="http://schemas.microsoft.com/office/drawing/2014/main" id="{1D090F32-F034-2947-9BE6-A9B20F033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A13 · Leading indicators per workstream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watch weekly to know KPIs will land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mastery improvement, curriculum coverage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per-cohort fairness disparity (gating)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teacher minutes saved / assignment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override rate ≤ 10%, ECE ≤ 0.05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Localisation: units / week / market, first-pass acceptance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Localisation: glossary coverage % per subject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% features with current Annex IV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erasure cycle time, # overrides exercised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90348C74-EA71-6BB8-36E6-237E544C2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B91B2F92-5471-F92F-96A9-E8F2A99F7E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A14 · Who decides what, when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bodies, named chairs, written charter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· CEO chair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Council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· CAIO chair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Board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· CTO chair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Council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release · Learning Sciences chair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Council chair: independent (proposed)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RAI Evaluator, AI Act CO, GDPR Specialist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bind/release model versions, mandate rollback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weekly dashboard, quarterly re-evaluation report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8DF2C1EC-6C92-8CB7-E9FB-D7FC8A63B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1F466E9A-B030-EEAC-6CAE-075701BB7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A15 · IR drilled, statutory windows known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33/34 · AI Act Art. 73 · Content Safety takedown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+ Sentinel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SOC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 anomaly detection on AI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per AI feature (sub-5-minute disable)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matrix: P1 = learner data or serious AI incident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33: 72-hour DPA notification on breach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34: data-subject notification when high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Art. 73: serious incident reporting (statutory window)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Post-incident: RCA + RAI Council review within 5 days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2A8EAA17-CC35-9330-1B69-A0014B769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E0A7C915-DC97-B8AD-0364-F6DED46CEE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A16 · gCO₂e / learner / month — measured and reduced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group ESG report; auditable proxy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proxy = Azure emissions / active learners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Emissions Impact Dashboard as source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reduces server-side carbon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quarterly into group ESG narrative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selection prioritises high renewable share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Small-first model routing reduces inference carbon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capacity for Fabric → better PUE utilisation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 of legacy on-prem grading systems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A3131610-2518-85AE-8C45-F5F38CB52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80D095C6-80D3-AED6-E238-9A9E5161BC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A17 · Acronyms and source documents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traceable, nothing invented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Impact Assessment (GDPR Art. 35)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PPML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ML (FL + DP + CC)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 Read Many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PTU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Throughput Units (Azure OpenAI)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33: edtech personalised learning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Rubric Evaluation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plan/00–09 (charter to tutorial)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4D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demo/ARCHITECTURE.md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DEPLOYMENT-REPORT.md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agents/*.chatmode.md (9 specialist roles)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restitution/deck-outline.md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631A1046-7019-5124-C567-FDE6C3F3FB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AC33CD75-5027-C2EC-7629-CCDC1176EA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8640" y="274320"/>
            <a:ext cx="2011680" cy="292608"/>
          </a:xfrm>
          <a:prstGeom prst="roundRect">
            <a:avLst>
              <a:gd name="adj" fmla="val 31250"/>
            </a:avLst>
          </a:prstGeom>
          <a:solidFill>
            <a:srgbClr val="8888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A18 · Scale plan to 4.1M learners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resilience, and cost discipline in one operating 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b="1" sz="1200">
                <a:solidFill>
                  <a:srgbClr val="4DA8DA"/>
                </a:solidFill>
                <a:latin typeface="Calibri"/>
              </a:rPr>
              <a:t>Peak design point  </a:t>
            </a:r>
            <a:r>
              <a:rPr b="0" sz="1200">
                <a:solidFill>
                  <a:srgbClr val="555555"/>
                </a:solidFill>
                <a:latin typeface="Calibri"/>
              </a:rPr>
              <a:t>120k–220k concurrent sessions (exam windows)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b="1" sz="1200">
                <a:solidFill>
                  <a:srgbClr val="4DA8DA"/>
                </a:solidFill>
                <a:latin typeface="Calibri"/>
              </a:rPr>
              <a:t>API SLO target  </a:t>
            </a:r>
            <a:r>
              <a:rPr b="0" sz="1200">
                <a:solidFill>
                  <a:srgbClr val="555555"/>
                </a:solidFill>
                <a:latin typeface="Calibri"/>
              </a:rPr>
              <a:t>p95 &lt; 300 ms reads; &lt; 500 ms writes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b="1" sz="1200">
                <a:solidFill>
                  <a:srgbClr val="4DA8DA"/>
                </a:solidFill>
                <a:latin typeface="Calibri"/>
              </a:rPr>
              <a:t>PostgreSQL tuning  </a:t>
            </a:r>
            <a:r>
              <a:rPr b="0" sz="1200">
                <a:solidFill>
                  <a:srgbClr val="555555"/>
                </a:solidFill>
                <a:latin typeface="Calibri"/>
              </a:rPr>
              <a:t>logical partitioning + read replicas + async buffering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b="1" sz="1200">
                <a:solidFill>
                  <a:srgbClr val="4DA8DA"/>
                </a:solidFill>
                <a:latin typeface="Calibri"/>
              </a:rPr>
              <a:t>Redis target  </a:t>
            </a:r>
            <a:r>
              <a:rPr b="0" sz="1200">
                <a:solidFill>
                  <a:srgbClr val="555555"/>
                </a:solidFill>
                <a:latin typeface="Calibri"/>
              </a:rPr>
              <a:t>&gt;80% hit ratio on hot learner &amp; content paths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4630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b="1" sz="1200">
                <a:solidFill>
                  <a:srgbClr val="4DA8DA"/>
                </a:solidFill>
                <a:latin typeface="Calibri"/>
              </a:rPr>
              <a:t>Availability target  </a:t>
            </a:r>
            <a:r>
              <a:rPr b="0" sz="1200">
                <a:solidFill>
                  <a:srgbClr val="555555"/>
                </a:solidFill>
                <a:latin typeface="Calibri"/>
              </a:rPr>
              <a:t>99.95% baseline, 99.99% for critical journeys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b="1" sz="1200">
                <a:solidFill>
                  <a:srgbClr val="4DA8DA"/>
                </a:solidFill>
                <a:latin typeface="Calibri"/>
              </a:rPr>
              <a:t>EU data residency  </a:t>
            </a:r>
            <a:r>
              <a:rPr b="0" sz="1200">
                <a:solidFill>
                  <a:srgbClr val="555555"/>
                </a:solidFill>
                <a:latin typeface="Calibri"/>
              </a:rPr>
              <a:t>EU-only with quarterly multi-region DR drills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b="1" sz="1200">
                <a:solidFill>
                  <a:srgbClr val="4DA8DA"/>
                </a:solidFill>
                <a:latin typeface="Calibri"/>
              </a:rPr>
              <a:t>FinOps north star  </a:t>
            </a:r>
            <a:r>
              <a:rPr b="0" sz="1200">
                <a:solidFill>
                  <a:srgbClr val="555555"/>
                </a:solidFill>
                <a:latin typeface="Calibri"/>
              </a:rPr>
              <a:t>cost per active learner per month, tracked bi-weekly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b="1" sz="1200">
                <a:solidFill>
                  <a:srgbClr val="4DA8DA"/>
                </a:solidFill>
                <a:latin typeface="Calibri"/>
              </a:rPr>
              <a:t>Capacity reserve  </a:t>
            </a:r>
            <a:r>
              <a:rPr b="0" sz="1200">
                <a:solidFill>
                  <a:srgbClr val="555555"/>
                </a:solidFill>
                <a:latin typeface="Calibri"/>
              </a:rPr>
              <a:t>+30% normal headroom, +100% exam headroom</a:t>
            </a:r>
            <a:endParaRPr lang="en-US" sz="1200" dirty="0"/>
          </a:p>
        </p:txBody>
      </p:sp>
      <p:pic>
        <p:nvPicPr>
          <p:cNvPr id="12" name="Picture 11" descr="File:Microsoft logo (2012).svg - Wikimedia Commons">
            <a:extLst>
              <a:ext uri="{FF2B5EF4-FFF2-40B4-BE49-F238E27FC236}">
                <a16:creationId xmlns:a16="http://schemas.microsoft.com/office/drawing/2014/main" id="{631A1046-7019-5124-C567-FDE6C3F3F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296" y="4854444"/>
            <a:ext cx="1001111" cy="213518"/>
          </a:xfrm>
          <a:prstGeom prst="rect">
            <a:avLst/>
          </a:prstGeom>
        </p:spPr>
      </p:pic>
      <p:pic>
        <p:nvPicPr>
          <p:cNvPr id="14" name="Graphic 13" descr="Leading Tech Education">
            <a:extLst>
              <a:ext uri="{FF2B5EF4-FFF2-40B4-BE49-F238E27FC236}">
                <a16:creationId xmlns:a16="http://schemas.microsoft.com/office/drawing/2014/main" id="{AC33CD75-5027-C2EC-7629-CCDC1176EA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" y="4753305"/>
            <a:ext cx="859220" cy="4296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3404</Words>
  <Application>Microsoft Office PowerPoint</Application>
  <PresentationFormat>On-screen Show (16:9)</PresentationFormat>
  <Paragraphs>505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Georgia</vt:lpstr>
      <vt:lpstr>Office Theme</vt:lpstr>
      <vt:lpstr>LearnEU  Every learner, every language, one Europe.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Etienne Sigwald</dc:creator>
  <cp:lastModifiedBy>Etienne SIGWALD</cp:lastModifiedBy>
  <cp:revision>4</cp:revision>
  <dcterms:created xsi:type="dcterms:W3CDTF">2026-05-27T12:18:35Z</dcterms:created>
  <dcterms:modified xsi:type="dcterms:W3CDTF">2026-06-04T15:08:12Z</dcterms:modified>
</cp:coreProperties>
</file>