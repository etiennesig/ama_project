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14"/>
  </p:notesMasterIdLst>
  <p:handoutMasterIdLst>
    <p:handoutMasterId r:id="rId15"/>
  </p:handoutMasterIdLst>
  <p:sldIdLst>
    <p:sldId id="256" r:id="rId13"/>
    <p:sldId id="257" r:id="rId12"/>
    <p:sldId id="258" r:id="rId11"/>
    <p:sldId id="259" r:id="rId10"/>
    <p:sldId id="260" r:id="rId9"/>
    <p:sldId id="261" r:id="rId8"/>
    <p:sldId id="262" r:id="rId7"/>
    <p:sldId id="263" r:id="rId6"/>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69"/>
            <p14:sldId id="266"/>
            <p14:sldId id="267"/>
            <p14:sldId id="272"/>
            <p14:sldId id="277"/>
            <p14:sldId id="274"/>
            <p14:sldId id="278"/>
            <p14:sldId id="275"/>
          </p14:sldIdLst>
        </p14:section>
      </p14:section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1" d="100"/>
          <a:sy n="141" d="100"/>
        </p:scale>
        <p:origin x="102" y="28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5/10/relationships/revisionInfo" Target="revisionInfo.xml"/><Relationship Id="rId22" Type="http://schemas.microsoft.com/office/2018/10/relationships/authors" Target="author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5/15/2026 2:22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4:34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reteniez qu'une slide, ce serait celle-ci. Quatre chiffres, un contrat, zéro excuse. Quatre millions cent mille apprenants concernés. Vingt-six points d'écart de résultats fermés en douze mois. Quarante-cinq pour cent de temps administratif rendu aux enseignants. Et cent pour cent de conformité — GDPR Article 8 et AI Act marquage CE — en permanence. Le reste du deck décline chacun de ces chiffres pour le CXO concerné, et les annexes sont là pour le débat. Le board est sollicité sur trois décisions à la slide 21 : mandat DPIA, budget Phase 0, président du Conseil RAI.</a:t>
            </a:r>
          </a:p>
          <a:p/>
          <a:p>
            <a:r>
              <a:t>---</a:t>
            </a:r>
          </a:p>
          <a:p>
            <a:r>
              <a:t>CXO focus: CEO · CFO · CRO</a:t>
            </a:r>
          </a:p>
          <a:p>
            <a:r>
              <a:t>Visual: 2×2 grid of huge editable stat tiles in orange/teal/navy/green.</a:t>
            </a:r>
          </a:p>
          <a:p>
            <a:r>
              <a:t>Source refs: plan/00-program-charter.md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p>
            <a:r>
              <a:t>---</a:t>
            </a:r>
          </a:p>
          <a:p>
            <a:r>
              <a:t>CXO focus: CEO · COO · CMO</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p>
            <a:r>
              <a:t>---</a:t>
            </a:r>
          </a:p>
          <a:p>
            <a:r>
              <a:t>CXO focus: CEO · CSO · CAIO</a:t>
            </a:r>
          </a:p>
          <a:p>
            <a:r>
              <a:t>Source refs: plan/00-program-charter.md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p>
            <a:r>
              <a:t>---</a:t>
            </a:r>
          </a:p>
          <a:p>
            <a:r>
              <a:t>CXO focus: CEO · CFO · COO</a:t>
            </a:r>
          </a:p>
          <a:p>
            <a:r>
              <a:t>Source refs: Subject/case-study-33-edtech-personalised-learning.md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p>
            <a:r>
              <a:t>---</a:t>
            </a:r>
          </a:p>
          <a:p>
            <a:r>
              <a:t>CXO focus: CFO · CEO</a:t>
            </a:r>
          </a:p>
          <a:p>
            <a:r>
              <a:t>Source refs: plan/05-kpis-outcomes.md ·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p>
            <a:r>
              <a:t>---</a:t>
            </a:r>
          </a:p>
          <a:p>
            <a:r>
              <a:t>CXO focus: CXO · CMO · CHRO</a:t>
            </a:r>
          </a:p>
          <a:p>
            <a:r>
              <a:t>Source refs: demo/DEMO-STORYTELLING.md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p>
            <a:r>
              <a:t>---</a:t>
            </a:r>
          </a:p>
          <a:p>
            <a:r>
              <a:t>CXO focus: CIO · CTO · CEO</a:t>
            </a:r>
          </a:p>
          <a:p>
            <a:r>
              <a:t>Visual: 2×2 grid of stat tiles. Diagram detail lives in Appendix A1.</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p>
            <a:r>
              <a:t>---</a:t>
            </a:r>
          </a:p>
          <a:p>
            <a:r>
              <a:t>CXO focus: CRO · CCO · CLO · CISO</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p>
            <a:r>
              <a:t>---</a:t>
            </a:r>
          </a:p>
          <a:p>
            <a:r>
              <a:t>CXO focus: CAIO · CRO · CLO</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p>
            <a:r>
              <a:t>---</a:t>
            </a:r>
          </a:p>
          <a:p>
            <a:r>
              <a:t>CXO focus: CDO · CISO · CCO</a:t>
            </a:r>
          </a:p>
          <a:p>
            <a:r>
              <a:t>Visual: 2×2 grid of editable stat tiles in teal/orange/green/navy.</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p>
            <a:r>
              <a:t>---</a:t>
            </a:r>
          </a:p>
          <a:p>
            <a:r>
              <a:t>CXO focus: CISO · CRO · CLO</a:t>
            </a:r>
          </a:p>
          <a:p>
            <a:r>
              <a:t>Visual: Hero orange. Single line, monumental.</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p>
            <a:r>
              <a:t>---</a:t>
            </a:r>
          </a:p>
          <a:p>
            <a:r>
              <a:t>CXO focus: CHRO · COO · CXO</a:t>
            </a:r>
          </a:p>
          <a:p>
            <a:r>
              <a:t>Source refs: plan/02-workstreams.md · agents/learning-sciences-expert.chatmode.md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p>
            <a:r>
              <a:t>---</a:t>
            </a:r>
          </a:p>
          <a:p>
            <a:r>
              <a:t>CXO focus: CMO · CEO · COO</a:t>
            </a:r>
          </a:p>
          <a:p>
            <a:r>
              <a:t>Visual: 2×2 grid of editable stat tiles, brand teal/orange/navy/green.</a:t>
            </a:r>
          </a:p>
          <a:p>
            <a:r>
              <a:t>Source refs: plan/01-phases-roadmap.md · agents/content-localisation-lead.chatmode.md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p>
            <a:r>
              <a:t>---</a:t>
            </a:r>
          </a:p>
          <a:p>
            <a:r>
              <a:t>CXO focus: COO · CEO · CHRO</a:t>
            </a:r>
          </a:p>
          <a:p>
            <a:r>
              <a:t>Visual: Hero dark-grid + 5 short bullets. Detail in Appendix A8.</a:t>
            </a:r>
          </a:p>
          <a:p>
            <a:r>
              <a:t>Source refs: plan/07-governance-rai.md ·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p>
            <a:r>
              <a:t>---</a:t>
            </a:r>
          </a:p>
          <a:p>
            <a:r>
              <a:t>CXO focus: CEO · COO · CRO</a:t>
            </a:r>
          </a:p>
          <a:p>
            <a:r>
              <a:t>Visual: 2×2 grid of phase stat tiles.</a:t>
            </a:r>
          </a:p>
          <a:p>
            <a:r>
              <a:t>Source refs: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p>
            <a:r>
              <a:t>---</a:t>
            </a:r>
          </a:p>
          <a:p>
            <a:r>
              <a:t>CXO focus: CXO · CMO · CEO · COO</a:t>
            </a:r>
          </a:p>
          <a:p>
            <a:r>
              <a:t>Visual: Hero orange. Single line, monumental.</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p>
            <a:r>
              <a:t>---</a:t>
            </a:r>
          </a:p>
          <a:p>
            <a:r>
              <a:t>CXO focus: CFO · CIO · CSO</a:t>
            </a:r>
          </a:p>
          <a:p>
            <a:r>
              <a:t>Source refs: plan/05-kpis-outcomes.md · plan/06-risks-register.md (R8)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p>
            <a:r>
              <a:t>---</a:t>
            </a:r>
          </a:p>
          <a:p>
            <a:r>
              <a:t>CXO focus: CRO · CCO · CISO</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p>
            <a:r>
              <a:t>---</a:t>
            </a:r>
          </a:p>
          <a:p>
            <a:r>
              <a:t>CXO focus: CEO · CFO · All</a:t>
            </a:r>
          </a:p>
          <a:p>
            <a:r>
              <a:t>Source refs: plan/05-kpis-outcomes.md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par service, alignement strict sur la liste du case study. Chaque service joue un rôle nommé, déployé en région EU. Si une question pointe sur un service précis, on déroule l'annexe correspondante.</a:t>
            </a:r>
          </a:p>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pour Q&amp;A. Tous les claims de ce deck sont retraçables à l'un de ces documents — règle interne, pas un slide où on ne saurait pas pointer la source.</a:t>
            </a:r>
          </a:p>
          <a:p/>
          <a:p>
            <a:r>
              <a:t>---</a:t>
            </a:r>
          </a:p>
          <a:p>
            <a:r>
              <a:t>CXO focus: All</a:t>
            </a:r>
          </a:p>
          <a:p>
            <a:r>
              <a:t>Visual: Two columns, plain typographic.</a:t>
            </a:r>
          </a:p>
          <a:p>
            <a:r>
              <a:t>Source refs: all listed below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What we sign for</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4 numbers · 1 contract · 0 excuses</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4.1M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EU learners in scope (NL · BE · DE · PL · RO)</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−26pp</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outcome-gap closed in 12 months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−45%</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teacher administrative time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100%</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GDPR Art. 8 · AI Act CE-marked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40%</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today</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−26pp</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closed</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€55M</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annual run-rate value</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6" name="TextBox 5"/>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sp>
        <p:nvSpPr>
          <p:cNvPr id="7" name="Rounded Rectangle 6"/>
          <p:cNvSpPr/>
          <p:nvPr/>
        </p:nvSpPr>
        <p:spPr>
          <a:xfrm>
            <a:off x="400000" y="1700000"/>
            <a:ext cx="3610666" cy="3400000"/>
          </a:xfrm>
          <a:prstGeom prst="roundRect">
            <a:avLst/>
          </a:prstGeom>
          <a:solidFill>
            <a:srgbClr val="1B3C7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455333"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55333" y="2150000"/>
            <a:ext cx="1500000" cy="1350000"/>
          </a:xfrm>
          <a:prstGeom prst="rect">
            <a:avLst/>
          </a:prstGeom>
          <a:noFill/>
        </p:spPr>
        <p:txBody>
          <a:bodyPr wrap="square">
            <a:spAutoFit/>
          </a:bodyPr>
          <a:lstStyle/>
          <a:p>
            <a:pPr algn="ctr"/>
            <a:r>
              <a:rPr sz="9600" b="1" i="0">
                <a:solidFill>
                  <a:srgbClr val="1B3C70"/>
                </a:solidFill>
              </a:rPr>
              <a:t>L</a:t>
            </a:r>
          </a:p>
        </p:txBody>
      </p:sp>
      <p:sp>
        <p:nvSpPr>
          <p:cNvPr id="10" name="TextBox 9"/>
          <p:cNvSpPr txBox="1"/>
          <p:nvPr/>
        </p:nvSpPr>
        <p:spPr>
          <a:xfrm>
            <a:off x="400000" y="3700000"/>
            <a:ext cx="3610666" cy="500000"/>
          </a:xfrm>
          <a:prstGeom prst="rect">
            <a:avLst/>
          </a:prstGeom>
          <a:noFill/>
        </p:spPr>
        <p:txBody>
          <a:bodyPr wrap="square">
            <a:spAutoFit/>
          </a:bodyPr>
          <a:lstStyle/>
          <a:p>
            <a:pPr algn="ctr"/>
            <a:r>
              <a:rPr sz="2800" b="1" i="0">
                <a:solidFill>
                  <a:srgbClr val="FFFFFF"/>
                </a:solidFill>
              </a:rPr>
              <a:t>Lucas</a:t>
            </a:r>
          </a:p>
        </p:txBody>
      </p:sp>
      <p:sp>
        <p:nvSpPr>
          <p:cNvPr id="11" name="TextBox 10"/>
          <p:cNvSpPr txBox="1"/>
          <p:nvPr/>
        </p:nvSpPr>
        <p:spPr>
          <a:xfrm>
            <a:off x="400000" y="4200000"/>
            <a:ext cx="3610666" cy="400000"/>
          </a:xfrm>
          <a:prstGeom prst="rect">
            <a:avLst/>
          </a:prstGeom>
          <a:noFill/>
        </p:spPr>
        <p:txBody>
          <a:bodyPr wrap="square">
            <a:spAutoFit/>
          </a:bodyPr>
          <a:lstStyle/>
          <a:p>
            <a:pPr algn="ctr"/>
            <a:r>
              <a:rPr sz="1600" b="0" i="1">
                <a:solidFill>
                  <a:srgbClr val="C8D4E6"/>
                </a:solidFill>
              </a:rPr>
              <a:t>12 · Berlin</a:t>
            </a:r>
          </a:p>
        </p:txBody>
      </p:sp>
      <p:sp>
        <p:nvSpPr>
          <p:cNvPr id="12" name="TextBox 11"/>
          <p:cNvSpPr txBox="1"/>
          <p:nvPr/>
        </p:nvSpPr>
        <p:spPr>
          <a:xfrm>
            <a:off x="400000" y="5200000"/>
            <a:ext cx="3610666" cy="1400000"/>
          </a:xfrm>
          <a:prstGeom prst="rect">
            <a:avLst/>
          </a:prstGeom>
          <a:noFill/>
        </p:spPr>
        <p:txBody>
          <a:bodyPr wrap="square">
            <a:spAutoFit/>
          </a:bodyPr>
          <a:lstStyle/>
          <a:p>
            <a:pPr algn="ctr"/>
            <a:r>
              <a:rPr sz="1600">
                <a:solidFill>
                  <a:srgbClr val="FFFFFF"/>
                </a:solidFill>
              </a:rPr>
              <a:t>Content at his level (P-correct ≈ 0.7)</a:t>
            </a:r>
          </a:p>
          <a:p>
            <a:pPr algn="ctr"/>
            <a:r>
              <a:rPr sz="1600">
                <a:solidFill>
                  <a:srgbClr val="FFFFFF"/>
                </a:solidFill>
              </a:rPr>
              <a:t>Instant formative feedback</a:t>
            </a:r>
          </a:p>
          <a:p>
            <a:pPr algn="ctr"/>
            <a:r>
              <a:rPr sz="1600">
                <a:solidFill>
                  <a:srgbClr val="FFFFFF"/>
                </a:solidFill>
              </a:rPr>
              <a:t>Never punitive grading</a:t>
            </a:r>
          </a:p>
        </p:txBody>
      </p:sp>
      <p:sp>
        <p:nvSpPr>
          <p:cNvPr id="13" name="Rounded Rectangle 12"/>
          <p:cNvSpPr/>
          <p:nvPr/>
        </p:nvSpPr>
        <p:spPr>
          <a:xfrm>
            <a:off x="4290666" y="1700000"/>
            <a:ext cx="3610666" cy="3400000"/>
          </a:xfrm>
          <a:prstGeom prst="roundRect">
            <a:avLst/>
          </a:prstGeom>
          <a:solidFill>
            <a:srgbClr val="8F521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345999"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45999" y="2150000"/>
            <a:ext cx="1500000" cy="1350000"/>
          </a:xfrm>
          <a:prstGeom prst="rect">
            <a:avLst/>
          </a:prstGeom>
          <a:noFill/>
        </p:spPr>
        <p:txBody>
          <a:bodyPr wrap="square">
            <a:spAutoFit/>
          </a:bodyPr>
          <a:lstStyle/>
          <a:p>
            <a:pPr algn="ctr"/>
            <a:r>
              <a:rPr sz="9600" b="1" i="0">
                <a:solidFill>
                  <a:srgbClr val="8F5210"/>
                </a:solidFill>
              </a:rPr>
              <a:t>K</a:t>
            </a:r>
          </a:p>
        </p:txBody>
      </p:sp>
      <p:sp>
        <p:nvSpPr>
          <p:cNvPr id="16" name="TextBox 15"/>
          <p:cNvSpPr txBox="1"/>
          <p:nvPr/>
        </p:nvSpPr>
        <p:spPr>
          <a:xfrm>
            <a:off x="4290666" y="3700000"/>
            <a:ext cx="3610666" cy="500000"/>
          </a:xfrm>
          <a:prstGeom prst="rect">
            <a:avLst/>
          </a:prstGeom>
          <a:noFill/>
        </p:spPr>
        <p:txBody>
          <a:bodyPr wrap="square">
            <a:spAutoFit/>
          </a:bodyPr>
          <a:lstStyle/>
          <a:p>
            <a:pPr algn="ctr"/>
            <a:r>
              <a:rPr sz="2800" b="1" i="0">
                <a:solidFill>
                  <a:srgbClr val="FFFFFF"/>
                </a:solidFill>
              </a:rPr>
              <a:t>Mr Klein</a:t>
            </a:r>
          </a:p>
        </p:txBody>
      </p:sp>
      <p:sp>
        <p:nvSpPr>
          <p:cNvPr id="17" name="TextBox 16"/>
          <p:cNvSpPr txBox="1"/>
          <p:nvPr/>
        </p:nvSpPr>
        <p:spPr>
          <a:xfrm>
            <a:off x="4290666" y="4200000"/>
            <a:ext cx="3610666" cy="400000"/>
          </a:xfrm>
          <a:prstGeom prst="rect">
            <a:avLst/>
          </a:prstGeom>
          <a:noFill/>
        </p:spPr>
        <p:txBody>
          <a:bodyPr wrap="square">
            <a:spAutoFit/>
          </a:bodyPr>
          <a:lstStyle/>
          <a:p>
            <a:pPr algn="ctr"/>
            <a:r>
              <a:rPr sz="1600" b="0" i="1">
                <a:solidFill>
                  <a:srgbClr val="C8D4E6"/>
                </a:solidFill>
              </a:rPr>
              <a:t>Year-7 maths</a:t>
            </a:r>
          </a:p>
        </p:txBody>
      </p:sp>
      <p:sp>
        <p:nvSpPr>
          <p:cNvPr id="18" name="TextBox 17"/>
          <p:cNvSpPr txBox="1"/>
          <p:nvPr/>
        </p:nvSpPr>
        <p:spPr>
          <a:xfrm>
            <a:off x="4290666" y="5200000"/>
            <a:ext cx="3610666" cy="1400000"/>
          </a:xfrm>
          <a:prstGeom prst="rect">
            <a:avLst/>
          </a:prstGeom>
          <a:noFill/>
        </p:spPr>
        <p:txBody>
          <a:bodyPr wrap="square">
            <a:spAutoFit/>
          </a:bodyPr>
          <a:lstStyle/>
          <a:p>
            <a:pPr algn="ctr"/>
            <a:r>
              <a:rPr sz="1600">
                <a:solidFill>
                  <a:srgbClr val="FFFFFF"/>
                </a:solidFill>
              </a:rPr>
              <a:t>45% admin time back</a:t>
            </a:r>
          </a:p>
          <a:p>
            <a:pPr algn="ctr"/>
            <a:r>
              <a:rPr sz="1600">
                <a:solidFill>
                  <a:srgbClr val="FFFFFF"/>
                </a:solidFill>
              </a:rPr>
              <a:t>Every AI hint is explainable</a:t>
            </a:r>
          </a:p>
          <a:p>
            <a:pPr algn="ctr"/>
            <a:r>
              <a:rPr sz="1600">
                <a:solidFill>
                  <a:srgbClr val="FFFFFF"/>
                </a:solidFill>
              </a:rPr>
              <a:t>One-click override, always</a:t>
            </a:r>
          </a:p>
        </p:txBody>
      </p:sp>
      <p:sp>
        <p:nvSpPr>
          <p:cNvPr id="19" name="Rounded Rectangle 18"/>
          <p:cNvSpPr/>
          <p:nvPr/>
        </p:nvSpPr>
        <p:spPr>
          <a:xfrm>
            <a:off x="8181332" y="1700000"/>
            <a:ext cx="3610666" cy="3400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36665"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6665" y="2150000"/>
            <a:ext cx="1500000" cy="1350000"/>
          </a:xfrm>
          <a:prstGeom prst="rect">
            <a:avLst/>
          </a:prstGeom>
          <a:noFill/>
        </p:spPr>
        <p:txBody>
          <a:bodyPr wrap="square">
            <a:spAutoFit/>
          </a:bodyPr>
          <a:lstStyle/>
          <a:p>
            <a:pPr algn="ctr"/>
            <a:r>
              <a:rPr sz="9600" b="1" i="0">
                <a:solidFill>
                  <a:srgbClr val="1F6B3A"/>
                </a:solidFill>
              </a:rPr>
              <a:t>S</a:t>
            </a:r>
          </a:p>
        </p:txBody>
      </p:sp>
      <p:sp>
        <p:nvSpPr>
          <p:cNvPr id="22" name="TextBox 21"/>
          <p:cNvSpPr txBox="1"/>
          <p:nvPr/>
        </p:nvSpPr>
        <p:spPr>
          <a:xfrm>
            <a:off x="8181332" y="3700000"/>
            <a:ext cx="3610666" cy="500000"/>
          </a:xfrm>
          <a:prstGeom prst="rect">
            <a:avLst/>
          </a:prstGeom>
          <a:noFill/>
        </p:spPr>
        <p:txBody>
          <a:bodyPr wrap="square">
            <a:spAutoFit/>
          </a:bodyPr>
          <a:lstStyle/>
          <a:p>
            <a:pPr algn="ctr"/>
            <a:r>
              <a:rPr sz="2800" b="1" i="0">
                <a:solidFill>
                  <a:srgbClr val="FFFFFF"/>
                </a:solidFill>
              </a:rPr>
              <a:t>Sophie</a:t>
            </a:r>
          </a:p>
        </p:txBody>
      </p:sp>
      <p:sp>
        <p:nvSpPr>
          <p:cNvPr id="23" name="TextBox 22"/>
          <p:cNvSpPr txBox="1"/>
          <p:nvPr/>
        </p:nvSpPr>
        <p:spPr>
          <a:xfrm>
            <a:off x="8181332" y="4200000"/>
            <a:ext cx="3610666" cy="400000"/>
          </a:xfrm>
          <a:prstGeom prst="rect">
            <a:avLst/>
          </a:prstGeom>
          <a:noFill/>
        </p:spPr>
        <p:txBody>
          <a:bodyPr wrap="square">
            <a:spAutoFit/>
          </a:bodyPr>
          <a:lstStyle/>
          <a:p>
            <a:pPr algn="ctr"/>
            <a:r>
              <a:rPr sz="1600" b="0" i="1">
                <a:solidFill>
                  <a:srgbClr val="C8D4E6"/>
                </a:solidFill>
              </a:rPr>
              <a:t>Lucas' mother</a:t>
            </a:r>
          </a:p>
        </p:txBody>
      </p:sp>
      <p:sp>
        <p:nvSpPr>
          <p:cNvPr id="24" name="TextBox 23"/>
          <p:cNvSpPr txBox="1"/>
          <p:nvPr/>
        </p:nvSpPr>
        <p:spPr>
          <a:xfrm>
            <a:off x="8181332" y="5200000"/>
            <a:ext cx="3610666" cy="1400000"/>
          </a:xfrm>
          <a:prstGeom prst="rect">
            <a:avLst/>
          </a:prstGeom>
          <a:noFill/>
        </p:spPr>
        <p:txBody>
          <a:bodyPr wrap="square">
            <a:spAutoFit/>
          </a:bodyPr>
          <a:lstStyle/>
          <a:p>
            <a:pPr algn="ctr"/>
            <a:r>
              <a:rPr sz="1600">
                <a:solidFill>
                  <a:srgbClr val="FFFFFF"/>
                </a:solidFill>
              </a:rPr>
              <a:t>Native-language portal</a:t>
            </a:r>
          </a:p>
          <a:p>
            <a:pPr algn="ctr"/>
            <a:r>
              <a:rPr sz="1600">
                <a:solidFill>
                  <a:srgbClr val="FFFFFF"/>
                </a:solidFill>
              </a:rPr>
              <a:t>GDPR Art. 8 controls in one click</a:t>
            </a:r>
          </a:p>
          <a:p>
            <a:pPr algn="ctr"/>
            <a:r>
              <a:rPr sz="1600">
                <a:solidFill>
                  <a:srgbClr val="FFFFFF"/>
                </a:solidFill>
              </a:rPr>
              <a:t>Human teacher decides — by contract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One platform. Three AIs. Zero data leaving the EU.</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Built on 8 Azure services, all in scope</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Adaptive</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on-device ONNX · federated · DP</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Localisation</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Azure OpenAI · AI Search · RAG</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Assessment</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structured grading · formative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8 services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Azure EU regions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a release gate. Not an audit deliverable.</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SDLC principle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No autonomous decision touches a learner. Ever.</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Responsible AI Council charter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Less data. Better governed. Never re-identifiable.</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Lakehouse + Purview + customer-managed keys, end-to-end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0 PII</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in Gold aggregates · ever</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30 days</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erasure SLA · automated · evidenced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100% CMK</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own your keys · own your audit</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3 EU regions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West Europe · Germany · Poland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EU only. By design. By contract.</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Zero-trust · Private Endpoints · CMK · Confidential Computing · WORM audit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Teachers are the product team — not the test cohort.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adoption principle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markets. One pipeline. Six weeks each.</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NL → DE → BE/PL/RO, pedagogy-led, ministry-aligned</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NL · 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pilot · 20 schools · KPI proof</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DE · 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50+ schools · CE marked</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BE/PL/RO · 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choose 2 on ministry traction</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6 weeks</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localisation per market, every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600000"/>
            <a:ext cx="10992000" cy="800000"/>
          </a:xfrm>
          <a:prstGeom prst="rect">
            <a:avLst/>
          </a:prstGeom>
          <a:noFill/>
        </p:spPr>
        <p:txBody>
          <a:bodyPr wrap="square">
            <a:spAutoFit/>
          </a:bodyPr>
          <a:lstStyle/>
          <a:p>
            <a:r>
              <a:rPr sz="4400" b="1" i="0">
                <a:solidFill>
                  <a:srgbClr val="FFFFFF"/>
                </a:solidFill>
              </a:rPr>
              <a:t>Two councils. Nine agents. One chain.</a:t>
            </a:r>
          </a:p>
        </p:txBody>
      </p:sp>
      <p:sp>
        <p:nvSpPr>
          <p:cNvPr id="6" name="TextBox 5"/>
          <p:cNvSpPr txBox="1"/>
          <p:nvPr/>
        </p:nvSpPr>
        <p:spPr>
          <a:xfrm>
            <a:off x="600000" y="1500000"/>
            <a:ext cx="10992000" cy="540000"/>
          </a:xfrm>
          <a:prstGeom prst="rect">
            <a:avLst/>
          </a:prstGeom>
          <a:noFill/>
        </p:spPr>
        <p:txBody>
          <a:bodyPr wrap="square">
            <a:spAutoFit/>
          </a:bodyPr>
          <a:lstStyle/>
          <a:p>
            <a:r>
              <a:rPr sz="2200" b="0" i="1">
                <a:solidFill>
                  <a:srgbClr val="C8D4E6"/>
                </a:solidFill>
              </a:rPr>
              <a:t>Pedagogical sign-off precedes technical sign-off — by charter</a:t>
            </a:r>
          </a:p>
        </p:txBody>
      </p:sp>
      <p:sp>
        <p:nvSpPr>
          <p:cNvPr id="7" name="TextBox 6"/>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Steering monthly · KPI, risk, spend — CEO/CFO/COO/CRO chair</a:t>
            </a:r>
          </a:p>
          <a:p>
            <a:pPr>
              <a:spcAft>
                <a:spcPts val="1400"/>
              </a:spcAft>
            </a:pPr>
            <a:r>
              <a:rPr sz="2600">
                <a:solidFill>
                  <a:srgbClr val="FFFFFF"/>
                </a:solidFill>
              </a:rPr>
              <a:t>•  Responsible AI Council bi-weekly · release gates — CAIO chair</a:t>
            </a:r>
          </a:p>
          <a:p>
            <a:pPr>
              <a:spcAft>
                <a:spcPts val="1400"/>
              </a:spcAft>
            </a:pPr>
            <a:r>
              <a:rPr sz="2600">
                <a:solidFill>
                  <a:srgbClr val="FFFFFF"/>
                </a:solidFill>
              </a:rPr>
              <a:t>•  Architecture Review Board · technical decisions — CTO chair</a:t>
            </a:r>
          </a:p>
          <a:p>
            <a:pPr>
              <a:spcAft>
                <a:spcPts val="1400"/>
              </a:spcAft>
            </a:pPr>
            <a:r>
              <a:rPr sz="2600">
                <a:solidFill>
                  <a:srgbClr val="FFFFFF"/>
                </a:solidFill>
              </a:rPr>
              <a:t>•  Teacher Council · per release · pedagogical sign-off</a:t>
            </a:r>
          </a:p>
          <a:p>
            <a:pPr>
              <a:spcAft>
                <a:spcPts val="1400"/>
              </a:spcAft>
            </a:pPr>
            <a:r>
              <a:rPr sz="2600">
                <a:solidFill>
                  <a:srgbClr val="FFFFFF"/>
                </a:solidFill>
              </a:rPr>
              <a:t>•  9 specialist agents, each with a named accountability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Five phases. Twelve months. Every gate is a hard stop.</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First market live M8 · CE-marked M10 · 3 markets by M12</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P0–P1 · M0–M5</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Foundations + MVP · DPIA · landing zone</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P2 · M5–M8</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NL pilot · 20 schools</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P3 · M8–M10</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CE marked · DE launch</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P4 · M10–M12</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3rd market · multi-region DR drill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Live in 7 minutes.</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Teacher → Learner → Parent · one backend · West Europe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80000"/>
            <a:ext cx="10992000" cy="540000"/>
          </a:xfrm>
          <a:prstGeom prst="rect">
            <a:avLst/>
          </a:prstGeom>
          <a:noFill/>
        </p:spPr>
        <p:txBody>
          <a:bodyPr wrap="square">
            <a:spAutoFit/>
          </a:bodyPr>
          <a:lstStyle/>
          <a:p>
            <a:pPr algn="ctr"/>
            <a:r>
              <a:rPr sz="3200" b="1" i="0">
                <a:solidFill>
                  <a:srgbClr val="FFFFFF"/>
                </a:solidFill>
              </a:rPr>
              <a:t>Predictable. Optimised. Sustainable.</a:t>
            </a:r>
          </a:p>
        </p:txBody>
      </p:sp>
      <p:sp>
        <p:nvSpPr>
          <p:cNvPr id="7" name="TextBox 6"/>
          <p:cNvSpPr txBox="1"/>
          <p:nvPr/>
        </p:nvSpPr>
        <p:spPr>
          <a:xfrm>
            <a:off x="600000" y="820000"/>
            <a:ext cx="10992000" cy="480000"/>
          </a:xfrm>
          <a:prstGeom prst="rect">
            <a:avLst/>
          </a:prstGeom>
          <a:noFill/>
        </p:spPr>
        <p:txBody>
          <a:bodyPr wrap="square">
            <a:spAutoFit/>
          </a:bodyPr>
          <a:lstStyle/>
          <a:p>
            <a:pPr algn="ctr"/>
            <a:r>
              <a:rPr sz="2000" b="0" i="1">
                <a:solidFill>
                  <a:srgbClr val="C8D4E6"/>
                </a:solidFill>
              </a:rPr>
              <a:t>PTUs where it matters · PAYG where it doesn't</a:t>
            </a:r>
          </a:p>
        </p:txBody>
      </p:sp>
      <p:sp>
        <p:nvSpPr>
          <p:cNvPr id="8" name="Rounded Rectangle 7"/>
          <p:cNvSpPr/>
          <p:nvPr/>
        </p:nvSpPr>
        <p:spPr>
          <a:xfrm>
            <a:off x="600000" y="1500000"/>
            <a:ext cx="5356000" cy="2239000"/>
          </a:xfrm>
          <a:prstGeom prst="round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000" y="1700000"/>
            <a:ext cx="5356000" cy="1119500"/>
          </a:xfrm>
          <a:prstGeom prst="rect">
            <a:avLst/>
          </a:prstGeom>
          <a:noFill/>
        </p:spPr>
        <p:txBody>
          <a:bodyPr wrap="square">
            <a:spAutoFit/>
          </a:bodyPr>
          <a:lstStyle/>
          <a:p>
            <a:pPr algn="ctr"/>
            <a:r>
              <a:rPr sz="9600" b="1" i="0">
                <a:solidFill>
                  <a:srgbClr val="FFFFFF"/>
                </a:solidFill>
              </a:rPr>
              <a:t>€18–22M</a:t>
            </a:r>
          </a:p>
        </p:txBody>
      </p:sp>
      <p:sp>
        <p:nvSpPr>
          <p:cNvPr id="10" name="TextBox 9"/>
          <p:cNvSpPr txBox="1"/>
          <p:nvPr/>
        </p:nvSpPr>
        <p:spPr>
          <a:xfrm>
            <a:off x="900000" y="3019500"/>
            <a:ext cx="4756000" cy="619500"/>
          </a:xfrm>
          <a:prstGeom prst="rect">
            <a:avLst/>
          </a:prstGeom>
          <a:noFill/>
        </p:spPr>
        <p:txBody>
          <a:bodyPr wrap="square">
            <a:spAutoFit/>
          </a:bodyPr>
          <a:lstStyle/>
          <a:p>
            <a:pPr algn="ctr"/>
            <a:r>
              <a:rPr sz="2000" b="0" i="1">
                <a:solidFill>
                  <a:srgbClr val="FFFFFF"/>
                </a:solidFill>
              </a:rPr>
              <a:t>12-month build · 45% platform · 30% AI · 25% compliance/UX</a:t>
            </a:r>
          </a:p>
        </p:txBody>
      </p:sp>
      <p:sp>
        <p:nvSpPr>
          <p:cNvPr id="11" name="Rounded Rectangle 10"/>
          <p:cNvSpPr/>
          <p:nvPr/>
        </p:nvSpPr>
        <p:spPr>
          <a:xfrm>
            <a:off x="6236000" y="1500000"/>
            <a:ext cx="5356000" cy="2239000"/>
          </a:xfrm>
          <a:prstGeom prst="round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36000" y="1700000"/>
            <a:ext cx="5356000" cy="1119500"/>
          </a:xfrm>
          <a:prstGeom prst="rect">
            <a:avLst/>
          </a:prstGeom>
          <a:noFill/>
        </p:spPr>
        <p:txBody>
          <a:bodyPr wrap="square">
            <a:spAutoFit/>
          </a:bodyPr>
          <a:lstStyle/>
          <a:p>
            <a:pPr algn="ctr"/>
            <a:r>
              <a:rPr sz="9600" b="1" i="0">
                <a:solidFill>
                  <a:srgbClr val="FFFFFF"/>
                </a:solidFill>
              </a:rPr>
              <a:t>€6M/yr</a:t>
            </a:r>
          </a:p>
        </p:txBody>
      </p:sp>
      <p:sp>
        <p:nvSpPr>
          <p:cNvPr id="13" name="TextBox 12"/>
          <p:cNvSpPr txBox="1"/>
          <p:nvPr/>
        </p:nvSpPr>
        <p:spPr>
          <a:xfrm>
            <a:off x="6536000" y="3019500"/>
            <a:ext cx="4756000" cy="619500"/>
          </a:xfrm>
          <a:prstGeom prst="rect">
            <a:avLst/>
          </a:prstGeom>
          <a:noFill/>
        </p:spPr>
        <p:txBody>
          <a:bodyPr wrap="square">
            <a:spAutoFit/>
          </a:bodyPr>
          <a:lstStyle/>
          <a:p>
            <a:pPr algn="ctr"/>
            <a:r>
              <a:rPr sz="2000" b="0" i="1">
                <a:solidFill>
                  <a:srgbClr val="FFFFFF"/>
                </a:solidFill>
              </a:rPr>
              <a:t>steady-state run · ~55% Azure · ~35% people · ~10% sub-proc.</a:t>
            </a:r>
          </a:p>
        </p:txBody>
      </p:sp>
      <p:sp>
        <p:nvSpPr>
          <p:cNvPr id="14" name="Rounded Rectangle 13"/>
          <p:cNvSpPr/>
          <p:nvPr/>
        </p:nvSpPr>
        <p:spPr>
          <a:xfrm>
            <a:off x="600000" y="4019000"/>
            <a:ext cx="5356000" cy="2239000"/>
          </a:xfrm>
          <a:prstGeom prst="round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000" y="4219000"/>
            <a:ext cx="5356000" cy="1119500"/>
          </a:xfrm>
          <a:prstGeom prst="rect">
            <a:avLst/>
          </a:prstGeom>
          <a:noFill/>
        </p:spPr>
        <p:txBody>
          <a:bodyPr wrap="square">
            <a:spAutoFit/>
          </a:bodyPr>
          <a:lstStyle/>
          <a:p>
            <a:pPr algn="ctr"/>
            <a:r>
              <a:rPr sz="9600" b="1" i="0">
                <a:solidFill>
                  <a:srgbClr val="FFFFFF"/>
                </a:solidFill>
              </a:rPr>
              <a:t>≤24 mo</a:t>
            </a:r>
          </a:p>
        </p:txBody>
      </p:sp>
      <p:sp>
        <p:nvSpPr>
          <p:cNvPr id="16" name="TextBox 15"/>
          <p:cNvSpPr txBox="1"/>
          <p:nvPr/>
        </p:nvSpPr>
        <p:spPr>
          <a:xfrm>
            <a:off x="900000" y="5538500"/>
            <a:ext cx="4756000" cy="619500"/>
          </a:xfrm>
          <a:prstGeom prst="rect">
            <a:avLst/>
          </a:prstGeom>
          <a:noFill/>
        </p:spPr>
        <p:txBody>
          <a:bodyPr wrap="square">
            <a:spAutoFit/>
          </a:bodyPr>
          <a:lstStyle/>
          <a:p>
            <a:pPr algn="ctr"/>
            <a:r>
              <a:rPr sz="2000" b="0" i="1">
                <a:solidFill>
                  <a:srgbClr val="FFFFFF"/>
                </a:solidFill>
              </a:rPr>
              <a:t>payback · 3 markets live</a:t>
            </a:r>
          </a:p>
        </p:txBody>
      </p:sp>
      <p:sp>
        <p:nvSpPr>
          <p:cNvPr id="17" name="Rounded Rectangle 16"/>
          <p:cNvSpPr/>
          <p:nvPr/>
        </p:nvSpPr>
        <p:spPr>
          <a:xfrm>
            <a:off x="6236000" y="4019000"/>
            <a:ext cx="5356000" cy="2239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000" y="4219000"/>
            <a:ext cx="5356000" cy="1119500"/>
          </a:xfrm>
          <a:prstGeom prst="rect">
            <a:avLst/>
          </a:prstGeom>
          <a:noFill/>
        </p:spPr>
        <p:txBody>
          <a:bodyPr wrap="square">
            <a:spAutoFit/>
          </a:bodyPr>
          <a:lstStyle/>
          <a:p>
            <a:pPr algn="ctr"/>
            <a:r>
              <a:rPr sz="9600" b="1" i="0">
                <a:solidFill>
                  <a:srgbClr val="FFFFFF"/>
                </a:solidFill>
              </a:rPr>
              <a:t>€2M</a:t>
            </a:r>
          </a:p>
        </p:txBody>
      </p:sp>
      <p:sp>
        <p:nvSpPr>
          <p:cNvPr id="19" name="TextBox 18"/>
          <p:cNvSpPr txBox="1"/>
          <p:nvPr/>
        </p:nvSpPr>
        <p:spPr>
          <a:xfrm>
            <a:off x="6536000" y="5538500"/>
            <a:ext cx="4756000" cy="619500"/>
          </a:xfrm>
          <a:prstGeom prst="rect">
            <a:avLst/>
          </a:prstGeom>
          <a:noFill/>
        </p:spPr>
        <p:txBody>
          <a:bodyPr wrap="square">
            <a:spAutoFit/>
          </a:bodyPr>
          <a:lstStyle/>
          <a:p>
            <a:pPr algn="ctr"/>
            <a:r>
              <a:rPr sz="2000" b="0" i="1">
                <a:solidFill>
                  <a:srgbClr val="FFFFFF"/>
                </a:solidFill>
              </a:rPr>
              <a:t>contingency · R8 OpenAI cost runaway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B23A6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600000"/>
            <a:ext cx="10992000" cy="800000"/>
          </a:xfrm>
          <a:prstGeom prst="rect">
            <a:avLst/>
          </a:prstGeom>
          <a:noFill/>
        </p:spPr>
        <p:txBody>
          <a:bodyPr wrap="square">
            <a:spAutoFit/>
          </a:bodyPr>
          <a:lstStyle/>
          <a:p>
            <a:r>
              <a:rPr sz="4400" b="1" i="0">
                <a:solidFill>
                  <a:srgbClr val="FFFFFF"/>
                </a:solidFill>
              </a:rPr>
              <a:t>Top 6 risks. Owned. Mitigated. Contingent.</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a:solidFill>
                  <a:srgbClr val="C8D4E6"/>
                </a:solidFill>
              </a:rPr>
              <a:t>None of them is a project-killer if managed actively</a:t>
            </a:r>
          </a:p>
        </p:txBody>
      </p:sp>
      <p:sp>
        <p:nvSpPr>
          <p:cNvPr id="8" name="TextBox 7"/>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R1 · National DPA blocks DPIA → engage from M0</a:t>
            </a:r>
          </a:p>
          <a:p>
            <a:pPr>
              <a:spcAft>
                <a:spcPts val="1400"/>
              </a:spcAft>
            </a:pPr>
            <a:r>
              <a:rPr sz="2600">
                <a:solidFill>
                  <a:srgbClr val="FFFFFF"/>
                </a:solidFill>
              </a:rPr>
              <a:t>•  R3 · Federated learning fails to converge → DP central fallback</a:t>
            </a:r>
          </a:p>
          <a:p>
            <a:pPr>
              <a:spcAft>
                <a:spcPts val="1400"/>
              </a:spcAft>
            </a:pPr>
            <a:r>
              <a:rPr sz="2600">
                <a:solidFill>
                  <a:srgbClr val="FFFFFF"/>
                </a:solidFill>
              </a:rPr>
              <a:t>•  R4 · Localisation quality drift → reviewer never optional</a:t>
            </a:r>
          </a:p>
          <a:p>
            <a:pPr>
              <a:spcAft>
                <a:spcPts val="1400"/>
              </a:spcAft>
            </a:pPr>
            <a:r>
              <a:rPr sz="2600">
                <a:solidFill>
                  <a:srgbClr val="FFFFFF"/>
                </a:solidFill>
              </a:rPr>
              <a:t>•  R6 · Bias disparity &gt; 5pp → per-cohort release gate + rollback</a:t>
            </a:r>
          </a:p>
          <a:p>
            <a:pPr>
              <a:spcAft>
                <a:spcPts val="1400"/>
              </a:spcAft>
            </a:pPr>
            <a:r>
              <a:rPr sz="2600">
                <a:solidFill>
                  <a:srgbClr val="FFFFFF"/>
                </a:solidFill>
              </a:rPr>
              <a:t>•  R8 · OpenAI cost runaway → PTUs · caching · €2M reserve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600000"/>
            <a:ext cx="10992000" cy="800000"/>
          </a:xfrm>
          <a:prstGeom prst="rect">
            <a:avLst/>
          </a:prstGeom>
          <a:noFill/>
        </p:spPr>
        <p:txBody>
          <a:bodyPr wrap="square">
            <a:spAutoFit/>
          </a:bodyPr>
          <a:lstStyle/>
          <a:p>
            <a:r>
              <a:rPr sz="4400" b="1" i="0">
                <a:solidFill>
                  <a:srgbClr val="FFFFFF"/>
                </a:solidFill>
              </a:rPr>
              <a:t>What the board sees. Every month.</a:t>
            </a:r>
          </a:p>
        </p:txBody>
      </p:sp>
      <p:sp>
        <p:nvSpPr>
          <p:cNvPr id="7" name="TextBox 6"/>
          <p:cNvSpPr txBox="1"/>
          <p:nvPr/>
        </p:nvSpPr>
        <p:spPr>
          <a:xfrm>
            <a:off x="600000" y="1500000"/>
            <a:ext cx="10992000" cy="540000"/>
          </a:xfrm>
          <a:prstGeom prst="rect">
            <a:avLst/>
          </a:prstGeom>
          <a:noFill/>
        </p:spPr>
        <p:txBody>
          <a:bodyPr wrap="square">
            <a:spAutoFit/>
          </a:bodyPr>
          <a:lstStyle/>
          <a:p>
            <a:r>
              <a:rPr sz="2200" b="0" i="1">
                <a:solidFill>
                  <a:srgbClr val="C8D4E6"/>
                </a:solidFill>
              </a:rPr>
              <a:t>5 KPIs · 6 risks · 1 posture · 1 cost / learner</a:t>
            </a:r>
          </a:p>
        </p:txBody>
      </p:sp>
      <p:sp>
        <p:nvSpPr>
          <p:cNvPr id="8" name="TextBox 7"/>
          <p:cNvSpPr txBox="1"/>
          <p:nvPr/>
        </p:nvSpPr>
        <p:spPr>
          <a:xfrm>
            <a:off x="800000" y="2400000"/>
            <a:ext cx="10592000" cy="4058000"/>
          </a:xfrm>
          <a:prstGeom prst="rect">
            <a:avLst/>
          </a:prstGeom>
          <a:noFill/>
        </p:spPr>
        <p:txBody>
          <a:bodyPr wrap="square">
            <a:spAutoFit/>
          </a:bodyPr>
          <a:lstStyle/>
          <a:p>
            <a:pPr>
              <a:spcAft>
                <a:spcPts val="1400"/>
              </a:spcAft>
            </a:pPr>
            <a:r>
              <a:rPr sz="2600">
                <a:solidFill>
                  <a:srgbClr val="FFFFFF"/>
                </a:solidFill>
              </a:rPr>
              <a:t>•  K1 outcome gap · per cohort, per market</a:t>
            </a:r>
          </a:p>
          <a:p>
            <a:pPr>
              <a:spcAft>
                <a:spcPts val="1400"/>
              </a:spcAft>
            </a:pPr>
            <a:r>
              <a:rPr sz="2600">
                <a:solidFill>
                  <a:srgbClr val="FFFFFF"/>
                </a:solidFill>
              </a:rPr>
              <a:t>•  K2 teacher minutes saved · telemetry + NPS</a:t>
            </a:r>
          </a:p>
          <a:p>
            <a:pPr>
              <a:spcAft>
                <a:spcPts val="1400"/>
              </a:spcAft>
            </a:pPr>
            <a:r>
              <a:rPr sz="2600">
                <a:solidFill>
                  <a:srgbClr val="FFFFFF"/>
                </a:solidFill>
              </a:rPr>
              <a:t>•  K3 localisation throughput · units / week</a:t>
            </a:r>
          </a:p>
          <a:p>
            <a:pPr>
              <a:spcAft>
                <a:spcPts val="1400"/>
              </a:spcAft>
            </a:pPr>
            <a:r>
              <a:rPr sz="2600">
                <a:solidFill>
                  <a:srgbClr val="FFFFFF"/>
                </a:solidFill>
              </a:rPr>
              <a:t>•  K4 GDPR Art. 8 · DPIA freshness · erasure SLA</a:t>
            </a:r>
          </a:p>
          <a:p>
            <a:pPr>
              <a:spcAft>
                <a:spcPts val="1400"/>
              </a:spcAft>
            </a:pPr>
            <a:r>
              <a:rPr sz="2600">
                <a:solidFill>
                  <a:srgbClr val="FFFFFF"/>
                </a:solidFill>
              </a:rPr>
              <a:t>•  K5 AI Act conformity · Annex IV · overrides · incidents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PLANE</a:t>
            </a:r>
          </a:p>
          <a:p>
            <a:pPr/>
            <a:r>
              <a:rPr sz="1800" b="0">
                <a:solidFill>
                  <a:srgbClr val="FFFFFF"/>
                </a:solidFill>
              </a:rPr>
              <a:t>• Sources: SIS (pseudonymised), teacher content, national curricula, devices</a:t>
            </a:r>
          </a:p>
          <a:p>
            <a:pPr/>
            <a:r>
              <a:rPr sz="1800" b="0">
                <a:solidFill>
                  <a:srgbClr val="FFFFFF"/>
                </a:solidFill>
              </a:rPr>
              <a:t>• Ingestion: APIM (front door) + Event Hubs + ADF (batch)</a:t>
            </a:r>
          </a:p>
          <a:p>
            <a:pPr/>
            <a:r>
              <a:rPr sz="1800" b="0">
                <a:solidFill>
                  <a:srgbClr val="FFFFFF"/>
                </a:solidFill>
              </a:rPr>
              <a:t>• Storage: Fabric OneLake (Bronze/Silver/Gold) + Feature Store + immutable audit</a:t>
            </a:r>
          </a:p>
          <a:p>
            <a:pPr/>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SERVING</a:t>
            </a:r>
          </a:p>
          <a:p>
            <a:pPr/>
            <a:r>
              <a:rPr sz="1800" b="0">
                <a:solidFill>
                  <a:srgbClr val="FFFFFF"/>
                </a:solidFill>
              </a:rPr>
              <a:t>• Training: Azure ML (federated runtime + DP) + Confidential Computing</a:t>
            </a:r>
          </a:p>
          <a:p>
            <a:pPr/>
            <a:r>
              <a:rPr sz="1800" b="0">
                <a:solidFill>
                  <a:srgbClr val="FFFFFF"/>
                </a:solidFill>
              </a:rPr>
              <a:t>• Generation: Azure OpenAI + AI Search (RAG) + Content Safety gate</a:t>
            </a:r>
          </a:p>
          <a:p>
            <a:pPr/>
            <a:r>
              <a:rPr sz="1800" b="0">
                <a:solidFill>
                  <a:srgbClr val="FFFFFF"/>
                </a:solidFill>
              </a:rPr>
              <a:t>• Serving: ONNX on-device (default) + AML Online Endpoints (fallback)</a:t>
            </a:r>
          </a:p>
          <a:p>
            <a:pPr/>
            <a:r>
              <a:rPr sz="1800" b="0">
                <a:solidFill>
                  <a:srgbClr val="FFFFFF"/>
                </a:solidFill>
              </a:rPr>
              <a:t>• Surfaces: Teacher Console · Learner Web · Parent Portal · Power BI in Fabric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IDENTITY, DATA, SECURITY</a:t>
            </a:r>
          </a:p>
          <a:p>
            <a:pPr/>
            <a:r>
              <a:rPr sz="1800" b="0">
                <a:solidFill>
                  <a:srgbClr val="FFFFFF"/>
                </a:solidFill>
              </a:rPr>
              <a:t>• Azure AD B2C — parent/learner identity, per-country tenants</a:t>
            </a:r>
          </a:p>
          <a:p>
            <a:pPr/>
            <a:r>
              <a:rPr sz="1800" b="0">
                <a:solidFill>
                  <a:srgbClr val="FFFFFF"/>
                </a:solidFill>
              </a:rPr>
              <a:t>• Microsoft Fabric — OneLake + Notebooks + embedded Power BI</a:t>
            </a:r>
          </a:p>
          <a:p>
            <a:pPr/>
            <a:r>
              <a:rPr sz="1800" b="0">
                <a:solidFill>
                  <a:srgbClr val="FFFFFF"/>
                </a:solidFill>
              </a:rPr>
              <a:t>• Microsoft Purview — catalog, sensitivity labels, lineage, DLP</a:t>
            </a:r>
          </a:p>
          <a:p>
            <a:pPr/>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OBSERVABILITY</a:t>
            </a:r>
          </a:p>
          <a:p>
            <a:pPr/>
            <a:r>
              <a:rPr sz="1800" b="0">
                <a:solidFill>
                  <a:srgbClr val="FFFFFF"/>
                </a:solidFill>
              </a:rPr>
              <a:t>• Azure Machine Learning — adaptive + assessment models, registry, monitoring</a:t>
            </a:r>
          </a:p>
          <a:p>
            <a:pPr/>
            <a:r>
              <a:rPr sz="1800" b="0">
                <a:solidFill>
                  <a:srgbClr val="FFFFFF"/>
                </a:solidFill>
              </a:rPr>
              <a:t>• Azure OpenAI — localisation + formative feedback (EU Data Boundary)</a:t>
            </a:r>
          </a:p>
          <a:p>
            <a:pPr/>
            <a:r>
              <a:rPr sz="1800" b="0">
                <a:solidFill>
                  <a:srgbClr val="FFFFFF"/>
                </a:solidFill>
              </a:rPr>
              <a:t>• Azure AI Content Safety — gate on every generative output</a:t>
            </a:r>
          </a:p>
          <a:p>
            <a:pPr/>
            <a:r>
              <a:rPr sz="1800" b="0">
                <a:solidFill>
                  <a:srgbClr val="FFFFFF"/>
                </a:solidFill>
              </a:rPr>
              <a:t>• Power BI — teacher/school/ministry dashboards (embedded in Fabric)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PERSONALISATION LOOP</a:t>
            </a:r>
          </a:p>
          <a:p>
            <a:pPr/>
            <a:r>
              <a:rPr sz="1800" b="0">
                <a:solidFill>
                  <a:srgbClr val="FFFFFF"/>
                </a:solidFill>
              </a:rPr>
              <a:t>• Default = on-device inference (ONNX); no learner-level data sent</a:t>
            </a:r>
          </a:p>
          <a:p>
            <a:pPr/>
            <a:r>
              <a:rPr sz="1800" b="0">
                <a:solidFill>
                  <a:srgbClr val="FFFFFF"/>
                </a:solidFill>
              </a:rPr>
              <a:t>• Periodic federated round: device → DP-protected gradients → secure aggregation</a:t>
            </a:r>
          </a:p>
          <a:p>
            <a:pPr/>
            <a:r>
              <a:rPr sz="1800" b="0">
                <a:solidFill>
                  <a:srgbClr val="FFFFFF"/>
                </a:solidFill>
              </a:rPr>
              <a:t>• Updated model published to registry → re-deployed to devices</a:t>
            </a:r>
          </a:p>
          <a:p>
            <a:pPr/>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GRADING &amp; LOCALISATION</a:t>
            </a:r>
          </a:p>
          <a:p>
            <a:pPr/>
            <a:r>
              <a:rPr sz="1800" b="0">
                <a:solidFill>
                  <a:srgbClr val="FFFFFF"/>
                </a:solidFill>
              </a:rPr>
              <a:t>• Grading: submission → APIM → AML endpoint (no payload retention) → teacher review</a:t>
            </a:r>
          </a:p>
          <a:p>
            <a:pPr/>
            <a:r>
              <a:rPr sz="1800" b="0">
                <a:solidFill>
                  <a:srgbClr val="FFFFFF"/>
                </a:solidFill>
              </a:rPr>
              <a:t>• Localisation: source content → AI Search retrieval → Azure OpenAI → reviewer</a:t>
            </a:r>
          </a:p>
          <a:p>
            <a:pPr/>
            <a:r>
              <a:rPr sz="1800" b="0">
                <a:solidFill>
                  <a:srgbClr val="FFFFFF"/>
                </a:solidFill>
              </a:rPr>
              <a:t>• All generative outputs pass Content Safety before reaching surface</a:t>
            </a:r>
          </a:p>
          <a:p>
            <a:pPr/>
            <a:r>
              <a:rPr sz="1800" b="0">
                <a:solidFill>
                  <a:srgbClr val="FFFFFF"/>
                </a:solidFill>
              </a:rPr>
              <a:t>• Audit log written for every AI decision (AI Act Art.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LAWFUL BASIS &amp; CONSENT</a:t>
            </a:r>
          </a:p>
          <a:p>
            <a:pPr/>
            <a:r>
              <a:rPr sz="1800" b="0">
                <a:solidFill>
                  <a:srgbClr val="FFFFFF"/>
                </a:solidFill>
              </a:rPr>
              <a:t>• Default consent age: 16 (NL standard, strictest of 5 markets)</a:t>
            </a:r>
          </a:p>
          <a:p>
            <a:pPr/>
            <a:r>
              <a:rPr sz="1800" b="0">
                <a:solidFill>
                  <a:srgbClr val="FFFFFF"/>
                </a:solidFill>
              </a:rPr>
              <a:t>• Guardian consent flow for under-16 via verifiable parent identity</a:t>
            </a:r>
          </a:p>
          <a:p>
            <a:pPr/>
            <a:r>
              <a:rPr sz="1800" b="0">
                <a:solidFill>
                  <a:srgbClr val="FFFFFF"/>
                </a:solidFill>
              </a:rPr>
              <a:t>• Lawful basis matrix: contract (school) + consent (personalisation) + legitimate interest (security)</a:t>
            </a:r>
          </a:p>
          <a:p>
            <a:pPr/>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RIGHTS &amp; EVIDENCE</a:t>
            </a:r>
          </a:p>
          <a:p>
            <a:pPr/>
            <a:r>
              <a:rPr sz="1800" b="0">
                <a:solidFill>
                  <a:srgbClr val="FFFFFF"/>
                </a:solidFill>
              </a:rPr>
              <a:t>• Subject Access Request — automated, 30-day SLA</a:t>
            </a:r>
          </a:p>
          <a:p>
            <a:pPr/>
            <a:r>
              <a:rPr sz="1800" b="0">
                <a:solidFill>
                  <a:srgbClr val="FFFFFF"/>
                </a:solidFill>
              </a:rPr>
              <a:t>• Right to erasure cascades through Purview lineage — vérifiable</a:t>
            </a:r>
          </a:p>
          <a:p>
            <a:pPr/>
            <a:r>
              <a:rPr sz="1800" b="0">
                <a:solidFill>
                  <a:srgbClr val="FFFFFF"/>
                </a:solidFill>
              </a:rPr>
              <a:t>• DPIA per market, refreshed annually or on material change</a:t>
            </a:r>
          </a:p>
          <a:p>
            <a:pPr/>
            <a:r>
              <a:rPr sz="1800" b="0">
                <a:solidFill>
                  <a:srgbClr val="FFFFFF"/>
                </a:solidFill>
              </a:rPr>
              <a:t>• Annual GDPR Art. 30 review at Steering Committee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BUILD OBLIGATIONS</a:t>
            </a:r>
          </a:p>
          <a:p>
            <a:pPr/>
            <a:r>
              <a:rPr sz="1800" b="0">
                <a:solidFill>
                  <a:srgbClr val="FFFFFF"/>
                </a:solidFill>
              </a:rPr>
              <a:t>• Art. 9 · risk-management system per feature</a:t>
            </a:r>
          </a:p>
          <a:p>
            <a:pPr/>
            <a:r>
              <a:rPr sz="1800" b="0">
                <a:solidFill>
                  <a:srgbClr val="FFFFFF"/>
                </a:solidFill>
              </a:rPr>
              <a:t>• Art. 10 · data &amp; data governance (quality, bias, representativeness)</a:t>
            </a:r>
          </a:p>
          <a:p>
            <a:pPr/>
            <a:r>
              <a:rPr sz="1800" b="0">
                <a:solidFill>
                  <a:srgbClr val="FFFFFF"/>
                </a:solidFill>
              </a:rPr>
              <a:t>• Art. 11 · technical documentation (Annex IV file)</a:t>
            </a:r>
          </a:p>
          <a:p>
            <a:pPr/>
            <a:r>
              <a:rPr sz="1800" b="0">
                <a:solidFill>
                  <a:srgbClr val="FFFFFF"/>
                </a:solidFill>
              </a:rPr>
              <a:t>• Art. 12 · logging — immutable, 6-month minimum retention</a:t>
            </a:r>
          </a:p>
          <a:p>
            <a:pPr/>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OPERATE OBLIGATIONS</a:t>
            </a:r>
          </a:p>
          <a:p>
            <a:pPr/>
            <a:r>
              <a:rPr sz="1800" b="0">
                <a:solidFill>
                  <a:srgbClr val="FFFFFF"/>
                </a:solidFill>
              </a:rPr>
              <a:t>• Art. 14 · human oversight (teacher-in-the-loop, kill switch)</a:t>
            </a:r>
          </a:p>
          <a:p>
            <a:pPr/>
            <a:r>
              <a:rPr sz="1800" b="0">
                <a:solidFill>
                  <a:srgbClr val="FFFFFF"/>
                </a:solidFill>
              </a:rPr>
              <a:t>• Art. 15 · accuracy, robustness, cybersecurity</a:t>
            </a:r>
          </a:p>
          <a:p>
            <a:pPr/>
            <a:r>
              <a:rPr sz="1800" b="0">
                <a:solidFill>
                  <a:srgbClr val="FFFFFF"/>
                </a:solidFill>
              </a:rPr>
              <a:t>• Art. 43 · conformity assessment + CE marking (target M10)</a:t>
            </a:r>
          </a:p>
          <a:p>
            <a:pPr/>
            <a:r>
              <a:rPr sz="1800" b="0">
                <a:solidFill>
                  <a:srgbClr val="FFFFFF"/>
                </a:solidFill>
              </a:rPr>
              <a:t>• Art. 72 · post-market monitoring (live from first pilot)</a:t>
            </a:r>
          </a:p>
          <a:p>
            <a:pPr/>
            <a:r>
              <a:rPr sz="1800" b="0">
                <a:solidFill>
                  <a:srgbClr val="FFFFFF"/>
                </a:solidFill>
              </a:rPr>
              <a:t>• Art. 73 · serious-incident reporting (drilled IR, statutory window)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A6 · On-device · Federated · Differential Privacy · Confidential Compute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Production-grade, EU-resident,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TECHNIQUES</a:t>
            </a:r>
          </a:p>
          <a:p>
            <a:pPr/>
            <a:r>
              <a:rPr sz="1800" b="0">
                <a:solidFill>
                  <a:srgbClr val="FFFFFF"/>
                </a:solidFill>
              </a:rPr>
              <a:t>• Default: on-device inference (ONNX Runtime Web / mobile)</a:t>
            </a:r>
          </a:p>
          <a:p>
            <a:pPr/>
            <a:r>
              <a:rPr sz="1800" b="0">
                <a:solidFill>
                  <a:srgbClr val="FFFFFF"/>
                </a:solidFill>
              </a:rPr>
              <a:t>• Federated training: device computes gradients locally</a:t>
            </a:r>
          </a:p>
          <a:p>
            <a:pPr/>
            <a:r>
              <a:rPr sz="1800" b="0">
                <a:solidFill>
                  <a:srgbClr val="FFFFFF"/>
                </a:solidFill>
              </a:rPr>
              <a:t>• Differential Privacy: noise added before transmission (ε budget tracked)</a:t>
            </a:r>
          </a:p>
          <a:p>
            <a:pPr/>
            <a:r>
              <a:rPr sz="1800" b="0">
                <a:solidFill>
                  <a:srgbClr val="FFFFFF"/>
                </a:solidFill>
              </a:rPr>
              <a:t>• Secure aggregation in Azure Confidential VMs / AKS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WHY IT WORKS</a:t>
            </a:r>
          </a:p>
          <a:p>
            <a:pPr/>
            <a:r>
              <a:rPr sz="1800" b="0">
                <a:solidFill>
                  <a:srgbClr val="FFFFFF"/>
                </a:solidFill>
              </a:rPr>
              <a:t>• Raw learner data never leaves device under default flow</a:t>
            </a:r>
          </a:p>
          <a:p>
            <a:pPr/>
            <a:r>
              <a:rPr sz="1800" b="0">
                <a:solidFill>
                  <a:srgbClr val="FFFFFF"/>
                </a:solidFill>
              </a:rPr>
              <a:t>• Centralised training only on opt-in cohorts with explicit consent</a:t>
            </a:r>
          </a:p>
          <a:p>
            <a:pPr/>
            <a:r>
              <a:rPr sz="1800" b="0">
                <a:solidFill>
                  <a:srgbClr val="FFFFFF"/>
                </a:solidFill>
              </a:rPr>
              <a:t>• Confidential Computing protects against the cloud operator itself</a:t>
            </a:r>
          </a:p>
          <a:p>
            <a:pPr/>
            <a:r>
              <a:rPr sz="1800" b="0">
                <a:solidFill>
                  <a:srgbClr val="FFFFFF"/>
                </a:solidFill>
              </a:rPr>
              <a:t>• Feature store carries no PII; lineage proves it in Purview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SELECTION</a:t>
            </a:r>
          </a:p>
          <a:p>
            <a:pPr/>
            <a:r>
              <a:rPr sz="1800" b="0">
                <a:solidFill>
                  <a:srgbClr val="FFFFFF"/>
                </a:solidFill>
              </a:rPr>
              <a:t>• Adaptive learner: custom small model trained on synthetic + federated data</a:t>
            </a:r>
          </a:p>
          <a:p>
            <a:pPr/>
            <a:r>
              <a:rPr sz="1800" b="0">
                <a:solidFill>
                  <a:srgbClr val="FFFFFF"/>
                </a:solidFill>
              </a:rPr>
              <a:t>• Assessment: fine-tuned Phi-class for structured grading</a:t>
            </a:r>
          </a:p>
          <a:p>
            <a:pPr/>
            <a:r>
              <a:rPr sz="1800" b="0">
                <a:solidFill>
                  <a:srgbClr val="FFFFFF"/>
                </a:solidFill>
              </a:rPr>
              <a:t>• Localisation: Azure OpenAI GPT-class with RAG + glossary grounding</a:t>
            </a:r>
          </a:p>
          <a:p>
            <a:pPr/>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EVALUATION GATES</a:t>
            </a:r>
          </a:p>
          <a:p>
            <a:pPr/>
            <a:r>
              <a:rPr sz="1800" b="0">
                <a:solidFill>
                  <a:srgbClr val="FFFFFF"/>
                </a:solidFill>
              </a:rPr>
              <a:t>• Fairness: per-cohort disparity ≤ 5 pp (gating)</a:t>
            </a:r>
          </a:p>
          <a:p>
            <a:pPr/>
            <a:r>
              <a:rPr sz="1800" b="0">
                <a:solidFill>
                  <a:srgbClr val="FFFFFF"/>
                </a:solidFill>
              </a:rPr>
              <a:t>• Calibration: ECE ≤ 0.05</a:t>
            </a:r>
          </a:p>
          <a:p>
            <a:pPr/>
            <a:r>
              <a:rPr sz="1800" b="0">
                <a:solidFill>
                  <a:srgbClr val="FFFFFF"/>
                </a:solidFill>
              </a:rPr>
              <a:t>• Safety: 0 critical Content Safety failures in eval suite</a:t>
            </a:r>
          </a:p>
          <a:p>
            <a:pPr/>
            <a:r>
              <a:rPr sz="1800" b="0">
                <a:solidFill>
                  <a:srgbClr val="FFFFFF"/>
                </a:solidFill>
              </a:rPr>
              <a:t>• Transparency: every decision must produce a teacher-readable explanation</a:t>
            </a:r>
          </a:p>
          <a:p>
            <a:pPr/>
            <a:r>
              <a:rPr sz="1800" b="0">
                <a:solidFill>
                  <a:srgbClr val="FFFFFF"/>
                </a:solidFill>
              </a:rPr>
              <a:t>• Re-evaluated quarterly; rollback playbook same-day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ROLES</a:t>
            </a:r>
          </a:p>
          <a:p>
            <a:pPr/>
            <a:r>
              <a:rPr sz="1800" b="0">
                <a:solidFill>
                  <a:srgbClr val="FFFFFF"/>
                </a:solidFill>
              </a:rPr>
              <a:t>• EdTech Program Orchestrator — coordinates, synthesises</a:t>
            </a:r>
          </a:p>
          <a:p>
            <a:pPr/>
            <a:r>
              <a:rPr sz="1800" b="0">
                <a:solidFill>
                  <a:srgbClr val="FFFFFF"/>
                </a:solidFill>
              </a:rPr>
              <a:t>• EU AI Act Compliance Officer · GDPR Children's Data Specialist</a:t>
            </a:r>
          </a:p>
          <a:p>
            <a:pPr/>
            <a:r>
              <a:rPr sz="1800" b="0">
                <a:solidFill>
                  <a:srgbClr val="FFFFFF"/>
                </a:solidFill>
              </a:rPr>
              <a:t>• Privacy-Preserving ML Engineer · Learning Sciences Expert</a:t>
            </a:r>
          </a:p>
          <a:p>
            <a:pPr/>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PATTERN</a:t>
            </a:r>
          </a:p>
          <a:p>
            <a:pPr/>
            <a:r>
              <a:rPr sz="1800" b="0">
                <a:solidFill>
                  <a:srgbClr val="FFFFFF"/>
                </a:solidFill>
              </a:rPr>
              <a:t>• Cross-Agent QA &amp; Verifier audits every other agent's output</a:t>
            </a:r>
          </a:p>
          <a:p>
            <a:pPr/>
            <a:r>
              <a:rPr sz="1800" b="0">
                <a:solidFill>
                  <a:srgbClr val="FFFFFF"/>
                </a:solidFill>
              </a:rPr>
              <a:t>• Demo Deployment Agent owns end-to-end environment provisioning</a:t>
            </a:r>
          </a:p>
          <a:p>
            <a:pPr/>
            <a:r>
              <a:rPr sz="1800" b="0">
                <a:solidFill>
                  <a:srgbClr val="FFFFFF"/>
                </a:solidFill>
              </a:rPr>
              <a:t>• Spec Kit slash commands: constitution → specify → clarify → plan →</a:t>
            </a:r>
          </a:p>
          <a:p>
            <a:pPr/>
            <a:r>
              <a:rPr sz="1800" b="0">
                <a:solidFill>
                  <a:srgbClr val="FFFFFF"/>
                </a:solidFill>
              </a:rPr>
              <a:t>• Every decision lands in specs/&lt;NNN-feature&gt;/ — traceable forever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TELEMETRY</a:t>
            </a:r>
          </a:p>
          <a:p>
            <a:pPr/>
            <a:r>
              <a:rPr sz="1800" b="0">
                <a:solidFill>
                  <a:srgbClr val="FFFFFF"/>
                </a:solidFill>
              </a:rPr>
              <a:t>• Application Insights per surface (Teacher · Learner · Parent · Admin)</a:t>
            </a:r>
          </a:p>
          <a:p>
            <a:pPr/>
            <a:r>
              <a:rPr sz="1800" b="0">
                <a:solidFill>
                  <a:srgbClr val="FFFFFF"/>
                </a:solidFill>
              </a:rPr>
              <a:t>• Custom events: ai_decision, override, content_safety_block, erasure_request</a:t>
            </a:r>
          </a:p>
          <a:p>
            <a:pPr/>
            <a:r>
              <a:rPr sz="1800" b="0">
                <a:solidFill>
                  <a:srgbClr val="FFFFFF"/>
                </a:solidFill>
              </a:rPr>
              <a:t>• Per-cohort fairness metrics aggregated continuously</a:t>
            </a:r>
          </a:p>
          <a:p>
            <a:pPr/>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IMMUTABLE AUDIT</a:t>
            </a:r>
          </a:p>
          <a:p>
            <a:pPr/>
            <a:r>
              <a:rPr sz="1800" b="0">
                <a:solidFill>
                  <a:srgbClr val="FFFFFF"/>
                </a:solidFill>
              </a:rPr>
              <a:t>• Azure Blob WORM storage, EU regions, 6-month minimum retention</a:t>
            </a:r>
          </a:p>
          <a:p>
            <a:pPr/>
            <a:r>
              <a:rPr sz="1800" b="0">
                <a:solidFill>
                  <a:srgbClr val="FFFFFF"/>
                </a:solidFill>
              </a:rPr>
              <a:t>• Append-only stream of every AI decision + override</a:t>
            </a:r>
          </a:p>
          <a:p>
            <a:pPr/>
            <a:r>
              <a:rPr sz="1800" b="0">
                <a:solidFill>
                  <a:srgbClr val="FFFFFF"/>
                </a:solidFill>
              </a:rPr>
              <a:t>• Tamper-evident hashes; quarterly integrity check</a:t>
            </a:r>
          </a:p>
          <a:p>
            <a:pPr/>
            <a:r>
              <a:rPr sz="1800" b="0">
                <a:solidFill>
                  <a:srgbClr val="FFFFFF"/>
                </a:solidFill>
              </a:rPr>
              <a:t>• Surfaced to RAI Council dashboard + Steering Committee monthly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SLOS</a:t>
            </a:r>
          </a:p>
          <a:p>
            <a:pPr/>
            <a:r>
              <a:rPr sz="1800" b="0">
                <a:solidFill>
                  <a:srgbClr val="FFFFFF"/>
                </a:solidFill>
              </a:rPr>
              <a:t>• API availability: 99.9% (excl. planned maintenance windows out of school hours)</a:t>
            </a:r>
          </a:p>
          <a:p>
            <a:pPr/>
            <a:r>
              <a:rPr sz="1800" b="0">
                <a:solidFill>
                  <a:srgbClr val="FFFFFF"/>
                </a:solidFill>
              </a:rPr>
              <a:t>• Adaptive picker p95 latency: ≤ 200 ms (on-device); ≤ 800 ms (fallback)</a:t>
            </a:r>
          </a:p>
          <a:p>
            <a:pPr/>
            <a:r>
              <a:rPr sz="1800" b="0">
                <a:solidFill>
                  <a:srgbClr val="FFFFFF"/>
                </a:solidFill>
              </a:rPr>
              <a:t>• Assessment grading p95: ≤ 3 s</a:t>
            </a:r>
          </a:p>
          <a:p>
            <a:pPr/>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RESILIENCE</a:t>
            </a:r>
          </a:p>
          <a:p>
            <a:pPr/>
            <a:r>
              <a:rPr sz="1800" b="0">
                <a:solidFill>
                  <a:srgbClr val="FFFFFF"/>
                </a:solidFill>
              </a:rPr>
              <a:t>• Multi-region within EU (West Europe ↔ North Europe; DE primary in Germany)</a:t>
            </a:r>
          </a:p>
          <a:p>
            <a:pPr/>
            <a:r>
              <a:rPr sz="1800" b="0">
                <a:solidFill>
                  <a:srgbClr val="FFFFFF"/>
                </a:solidFill>
              </a:rPr>
              <a:t>• DR drill quarterly; RPO ≤ 15 min, RTO ≤ 2 h</a:t>
            </a:r>
          </a:p>
          <a:p>
            <a:pPr/>
            <a:r>
              <a:rPr sz="1800" b="0">
                <a:solidFill>
                  <a:srgbClr val="FFFFFF"/>
                </a:solidFill>
              </a:rPr>
              <a:t>• APIM rate-limit per school to prevent noisy-neighbour</a:t>
            </a:r>
          </a:p>
          <a:p>
            <a:pPr/>
            <a:r>
              <a:rPr sz="1800" b="0">
                <a:solidFill>
                  <a:srgbClr val="FFFFFF"/>
                </a:solidFill>
              </a:rPr>
              <a:t>• Kill-switch wired per AI feature (sub-5-minute disable)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COST BREAKDOWN</a:t>
            </a:r>
          </a:p>
          <a:p>
            <a:pPr/>
            <a:r>
              <a:rPr sz="1800" b="0">
                <a:solidFill>
                  <a:srgbClr val="FFFFFF"/>
                </a:solidFill>
              </a:rPr>
              <a:t>• Azure compute &amp; storage: ~35% of run cost</a:t>
            </a:r>
          </a:p>
          <a:p>
            <a:pPr/>
            <a:r>
              <a:rPr sz="1800" b="0">
                <a:solidFill>
                  <a:srgbClr val="FFFFFF"/>
                </a:solidFill>
              </a:rPr>
              <a:t>• Azure OpenAI (localisation + grading): ~20% — biggest variable</a:t>
            </a:r>
          </a:p>
          <a:p>
            <a:pPr/>
            <a:r>
              <a:rPr sz="1800" b="0">
                <a:solidFill>
                  <a:srgbClr val="FFFFFF"/>
                </a:solidFill>
              </a:rPr>
              <a:t>• People (RAI, editorial, CSM, ops): ~35%</a:t>
            </a:r>
          </a:p>
          <a:p>
            <a:pPr/>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OPTIMISATION LEVERS</a:t>
            </a:r>
          </a:p>
          <a:p>
            <a:pPr/>
            <a:r>
              <a:rPr sz="1800" b="0">
                <a:solidFill>
                  <a:srgbClr val="FFFFFF"/>
                </a:solidFill>
              </a:rPr>
              <a:t>• Provisioned Throughput Units (PTU) on OpenAI for predictable load</a:t>
            </a:r>
          </a:p>
          <a:p>
            <a:pPr/>
            <a:r>
              <a:rPr sz="1800" b="0">
                <a:solidFill>
                  <a:srgbClr val="FFFFFF"/>
                </a:solidFill>
              </a:rPr>
              <a:t>• Caching of repeated localisations (~30% cost avoidance modelled)</a:t>
            </a:r>
          </a:p>
          <a:p>
            <a:pPr/>
            <a:r>
              <a:rPr sz="1800" b="0">
                <a:solidFill>
                  <a:srgbClr val="FFFFFF"/>
                </a:solidFill>
              </a:rPr>
              <a:t>• Fine-tuned small models for routine tasks; frontier on edge cases</a:t>
            </a:r>
          </a:p>
          <a:p>
            <a:pPr/>
            <a:r>
              <a:rPr sz="1800" b="0">
                <a:solidFill>
                  <a:srgbClr val="FFFFFF"/>
                </a:solidFill>
              </a:rPr>
              <a:t>• Region pinning + reserved instances for Fabric capacity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400" b="0">
                <a:solidFill>
                  <a:srgbClr val="FFFFFF"/>
                </a:solidFill>
              </a:rPr>
              <a:t>• R1 · DPA blocks DPIA · sev 15 · DPO · engage early · delay that market</a:t>
            </a:r>
          </a:p>
          <a:p>
            <a:pPr/>
            <a:r>
              <a:rPr sz="1400" b="0">
                <a:solidFill>
                  <a:srgbClr val="FFFFFF"/>
                </a:solidFill>
              </a:rPr>
              <a:t>• R2 · AI Act conformity fails · sev 10 · AI Act CO · Annex IV from M0</a:t>
            </a:r>
          </a:p>
          <a:p>
            <a:pPr/>
            <a:r>
              <a:rPr sz="1400" b="0">
                <a:solidFill>
                  <a:srgbClr val="FFFFFF"/>
                </a:solidFill>
              </a:rPr>
              <a:t>• R3 · Federated runtime non-convergence · sev 12 · ML Lead · DP central fallback</a:t>
            </a:r>
          </a:p>
          <a:p>
            <a:pPr/>
            <a:r>
              <a:rPr sz="1400" b="0">
                <a:solidFill>
                  <a:srgbClr val="FFFFFF"/>
                </a:solidFill>
              </a:rPr>
              <a:t>• R4 · Localisation quality drift · sev 16 · Editorial · reviewer non-optional</a:t>
            </a:r>
          </a:p>
          <a:p>
            <a:pPr/>
            <a:r>
              <a:rPr sz="1400" b="0">
                <a:solidFill>
                  <a:srgbClr val="FFFFFF"/>
                </a:solidFill>
              </a:rPr>
              <a:t>• R5 · Teacher override explosion · sev 12 · UX/RAI · co-design + CPD</a:t>
            </a:r>
          </a:p>
          <a:p>
            <a:pPr/>
            <a:r>
              <a:rPr sz="1400" b="0">
                <a:solidFill>
                  <a:srgbClr val="FFFFFF"/>
                </a:solidFill>
              </a:rPr>
              <a:t>• R6 · Bias disparity &gt; 5pp · sev 15 · RAI · gate + same-day rollback</a:t>
            </a:r>
          </a:p>
          <a:p>
            <a:pPr/>
            <a:r>
              <a:rPr sz="1400" b="0">
                <a:solidFill>
                  <a:srgbClr val="FFFFFF"/>
                </a:solidFill>
              </a:rPr>
              <a:t>• R7 · Sub-processor change · sev 10 · DPO/Arch · quarterly review</a:t>
            </a:r>
          </a:p>
          <a:p>
            <a:pPr/>
            <a:r>
              <a:rPr sz="1400" b="0">
                <a:solidFill>
                  <a:srgbClr val="FFFFFF"/>
                </a:solidFill>
              </a:rPr>
              <a:t>• R8 · OpenAI cost runaway · sev 12 · FinOps · PTU + cache</a:t>
            </a:r>
          </a:p>
          <a:p>
            <a:pPr/>
            <a:r>
              <a:rPr sz="1400" b="0">
                <a:solidFill>
                  <a:srgbClr val="FFFFFF"/>
                </a:solidFill>
              </a:rPr>
              <a:t>• R9 · School onboarding lag · sev 12 · Country Mgrs · CSM per market</a:t>
            </a:r>
          </a:p>
          <a:p>
            <a:pPr/>
            <a:r>
              <a:rPr sz="1400" b="0">
                <a:solidFill>
                  <a:srgbClr val="FFFFFF"/>
                </a:solidFill>
              </a:rPr>
              <a:t>• R10 · Art. 73 serious incident · sev 5 · RAI/DPO · drilled IR</a:t>
            </a:r>
          </a:p>
          <a:p>
            <a:pPr/>
            <a:r>
              <a:rPr sz="1400" b="0">
                <a:solidFill>
                  <a:srgbClr val="FFFFFF"/>
                </a:solidFill>
              </a:rPr>
              <a:t>• R11 · SIS vulnerability exposes minors · sev 10 · Security · pen-test + Defender</a:t>
            </a:r>
          </a:p>
          <a:p>
            <a:pPr/>
            <a:r>
              <a:rPr sz="1400" b="0">
                <a:solidFill>
                  <a:srgbClr val="FFFFFF"/>
                </a:solidFill>
              </a:rPr>
              <a:t>• R12 · Content Safety false negative · sev 10 · RAI/Editorial · takedown &lt; 2h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LEARNER &amp; TEACHER</a:t>
            </a:r>
          </a:p>
          <a:p>
            <a:pPr/>
            <a:r>
              <a:rPr sz="1800" b="0">
                <a:solidFill>
                  <a:srgbClr val="FFFFFF"/>
                </a:solidFill>
              </a:rPr>
              <a:t>• Adaptive: mastery improvement, curriculum coverage breadth, time-on-task</a:t>
            </a:r>
          </a:p>
          <a:p>
            <a:pPr/>
            <a:r>
              <a:rPr sz="1800" b="0">
                <a:solidFill>
                  <a:srgbClr val="FFFFFF"/>
                </a:solidFill>
              </a:rPr>
              <a:t>• Adaptive: per-cohort fairness disparity (gating)</a:t>
            </a:r>
          </a:p>
          <a:p>
            <a:pPr/>
            <a:r>
              <a:rPr sz="1800" b="0">
                <a:solidFill>
                  <a:srgbClr val="FFFFFF"/>
                </a:solidFill>
              </a:rPr>
              <a:t>• Assessment: teacher minutes saved / assignment</a:t>
            </a:r>
          </a:p>
          <a:p>
            <a:pPr/>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&amp; COMPLIANCE</a:t>
            </a:r>
          </a:p>
          <a:p>
            <a:pPr/>
            <a:r>
              <a:rPr sz="1800" b="0">
                <a:solidFill>
                  <a:srgbClr val="FFFFFF"/>
                </a:solidFill>
              </a:rPr>
              <a:t>• Localisation: units / week / market, first-pass acceptance, reviewer cycle</a:t>
            </a:r>
          </a:p>
          <a:p>
            <a:pPr/>
            <a:r>
              <a:rPr sz="1800" b="0">
                <a:solidFill>
                  <a:srgbClr val="FFFFFF"/>
                </a:solidFill>
              </a:rPr>
              <a:t>• Localisation: glossary coverage % per subject</a:t>
            </a:r>
          </a:p>
          <a:p>
            <a:pPr/>
            <a:r>
              <a:rPr sz="1800" b="0">
                <a:solidFill>
                  <a:srgbClr val="FFFFFF"/>
                </a:solidFill>
              </a:rPr>
              <a:t>• Compliance: % features with current Annex IV, DPIA freshness &lt; 12mo</a:t>
            </a:r>
          </a:p>
          <a:p>
            <a:pPr/>
            <a:r>
              <a:rPr sz="1800" b="0">
                <a:solidFill>
                  <a:srgbClr val="FFFFFF"/>
                </a:solidFill>
              </a:rPr>
              <a:t>• Compliance: erasure mean cycle time, # overrides exercised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BODIES</a:t>
            </a:r>
          </a:p>
          <a:p>
            <a:pPr/>
            <a:r>
              <a:rPr sz="1800" b="0">
                <a:solidFill>
                  <a:srgbClr val="FFFFFF"/>
                </a:solidFill>
              </a:rPr>
              <a:t>• Steering Committee — monthly · CEO chair · KPIs + risk + budget</a:t>
            </a:r>
          </a:p>
          <a:p>
            <a:pPr/>
            <a:r>
              <a:rPr sz="1800" b="0">
                <a:solidFill>
                  <a:srgbClr val="FFFFFF"/>
                </a:solidFill>
              </a:rPr>
              <a:t>• Responsible AI Council — bi-weekly · CAIO/RAI Evaluator chair · release gates</a:t>
            </a:r>
          </a:p>
          <a:p>
            <a:pPr/>
            <a:r>
              <a:rPr sz="1800" b="0">
                <a:solidFill>
                  <a:srgbClr val="FFFFFF"/>
                </a:solidFill>
              </a:rPr>
              <a:t>• Architecture Review Board — bi-weekly · CTO chair · technical decisions</a:t>
            </a:r>
          </a:p>
          <a:p>
            <a:pPr/>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RAI COUNCIL COMPOSITION</a:t>
            </a:r>
          </a:p>
          <a:p>
            <a:pPr/>
            <a:r>
              <a:rPr sz="1800" b="0">
                <a:solidFill>
                  <a:srgbClr val="FFFFFF"/>
                </a:solidFill>
              </a:rPr>
              <a:t>• Chair: independent (proposed)</a:t>
            </a:r>
          </a:p>
          <a:p>
            <a:pPr/>
            <a:r>
              <a:rPr sz="1800" b="0">
                <a:solidFill>
                  <a:srgbClr val="FFFFFF"/>
                </a:solidFill>
              </a:rPr>
              <a:t>• Members: RAI Evaluator, AI Act CO, GDPR Specialist, Learning Sciences,</a:t>
            </a:r>
          </a:p>
          <a:p>
            <a:pPr/>
            <a:r>
              <a:rPr sz="1800" b="0">
                <a:solidFill>
                  <a:srgbClr val="FFFFFF"/>
                </a:solidFill>
              </a:rPr>
              <a:t>• Authority: bind/release model versions, mandate rollback, escalate to Steering</a:t>
            </a:r>
          </a:p>
          <a:p>
            <a:pPr/>
            <a:r>
              <a:rPr sz="1800" b="0">
                <a:solidFill>
                  <a:srgbClr val="FFFFFF"/>
                </a:solidFill>
              </a:rPr>
              <a:t>• Outputs: weekly RAI dashboard, quarterly re-evaluation report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DETECTION &amp; TRIAGE</a:t>
            </a:r>
          </a:p>
          <a:p>
            <a:pPr/>
            <a:r>
              <a:rPr sz="1800" b="0">
                <a:solidFill>
                  <a:srgbClr val="FFFFFF"/>
                </a:solidFill>
              </a:rPr>
              <a:t>• Defender for Cloud + Sentinel — 24×7 SOC</a:t>
            </a:r>
          </a:p>
          <a:p>
            <a:pPr/>
            <a:r>
              <a:rPr sz="1800" b="0">
                <a:solidFill>
                  <a:srgbClr val="FFFFFF"/>
                </a:solidFill>
              </a:rPr>
              <a:t>• App Insights anomaly detection on AI decisions + Content Safety blocks</a:t>
            </a:r>
          </a:p>
          <a:p>
            <a:pPr/>
            <a:r>
              <a:rPr sz="1800" b="0">
                <a:solidFill>
                  <a:srgbClr val="FFFFFF"/>
                </a:solidFill>
              </a:rPr>
              <a:t>• Kill switch per AI feature (sub-5-minute disable)</a:t>
            </a:r>
          </a:p>
          <a:p>
            <a:pPr/>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STATUTORY RESPONSE</a:t>
            </a:r>
          </a:p>
          <a:p>
            <a:pPr/>
            <a:r>
              <a:rPr sz="1800" b="0">
                <a:solidFill>
                  <a:srgbClr val="FFFFFF"/>
                </a:solidFill>
              </a:rPr>
              <a:t>• GDPR Art. 33: 72-hour DPA notification on breach (template ready)</a:t>
            </a:r>
          </a:p>
          <a:p>
            <a:pPr/>
            <a:r>
              <a:rPr sz="1800" b="0">
                <a:solidFill>
                  <a:srgbClr val="FFFFFF"/>
                </a:solidFill>
              </a:rPr>
              <a:t>• GDPR Art. 34: data-subject notification when high risk</a:t>
            </a:r>
          </a:p>
          <a:p>
            <a:pPr/>
            <a:r>
              <a:rPr sz="1800" b="0">
                <a:solidFill>
                  <a:srgbClr val="FFFFFF"/>
                </a:solidFill>
              </a:rPr>
              <a:t>• AI Act Art. 73: serious incident reporting to authority within statutory window</a:t>
            </a:r>
          </a:p>
          <a:p>
            <a:pPr/>
            <a:r>
              <a:rPr sz="1800" b="0">
                <a:solidFill>
                  <a:srgbClr val="FFFFFF"/>
                </a:solidFill>
              </a:rPr>
              <a:t>• Post-incident: root-cause analysis + RAI Council review within 5 working days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BASELINE &amp; PROXY</a:t>
            </a:r>
          </a:p>
          <a:p>
            <a:pPr/>
            <a:r>
              <a:rPr sz="1800" b="0">
                <a:solidFill>
                  <a:srgbClr val="FFFFFF"/>
                </a:solidFill>
              </a:rPr>
              <a:t>• Carbon proxy = (Azure compute + storage emissions) / active learners</a:t>
            </a:r>
          </a:p>
          <a:p>
            <a:pPr/>
            <a:r>
              <a:rPr sz="1800" b="0">
                <a:solidFill>
                  <a:srgbClr val="FFFFFF"/>
                </a:solidFill>
              </a:rPr>
              <a:t>• Microsoft Emissions Impact Dashboard as primary source</a:t>
            </a:r>
          </a:p>
          <a:p>
            <a:pPr/>
            <a:r>
              <a:rPr sz="1800" b="0">
                <a:solidFill>
                  <a:srgbClr val="FFFFFF"/>
                </a:solidFill>
              </a:rPr>
              <a:t>• On-device inference reduces server-side carbon by design</a:t>
            </a:r>
          </a:p>
          <a:p>
            <a:pPr/>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REDUCTION LEVERS</a:t>
            </a:r>
          </a:p>
          <a:p>
            <a:pPr/>
            <a:r>
              <a:rPr sz="1800" b="0">
                <a:solidFill>
                  <a:srgbClr val="FFFFFF"/>
                </a:solidFill>
              </a:rPr>
              <a:t>• Region selection prioritises EU regions with high renewable share</a:t>
            </a:r>
          </a:p>
          <a:p>
            <a:pPr/>
            <a:r>
              <a:rPr sz="1800" b="0">
                <a:solidFill>
                  <a:srgbClr val="FFFFFF"/>
                </a:solidFill>
              </a:rPr>
              <a:t>• Small-first model routing (A07) directly reduces inference carbon</a:t>
            </a:r>
          </a:p>
          <a:p>
            <a:pPr/>
            <a:r>
              <a:rPr sz="1800" b="0">
                <a:solidFill>
                  <a:srgbClr val="FFFFFF"/>
                </a:solidFill>
              </a:rPr>
              <a:t>• Reserved capacity for predictable Fabric load → better PUE utilisation</a:t>
            </a:r>
          </a:p>
          <a:p>
            <a:pPr/>
            <a:r>
              <a:rPr sz="1800" b="0">
                <a:solidFill>
                  <a:srgbClr val="FFFFFF"/>
                </a:solidFill>
              </a:rPr>
              <a:t>• Decommissioning of legacy on-prem grading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ACRONYMS</a:t>
            </a:r>
          </a:p>
          <a:p>
            <a:pPr/>
            <a:r>
              <a:rPr sz="1600" b="0">
                <a:solidFill>
                  <a:srgbClr val="FFFFFF"/>
                </a:solidFill>
              </a:rPr>
              <a:t>• DPIA · Data Protection Impact Assessment (GDPR Art. 35)</a:t>
            </a:r>
          </a:p>
          <a:p>
            <a:pPr/>
            <a:r>
              <a:rPr sz="1600" b="0">
                <a:solidFill>
                  <a:srgbClr val="FFFFFF"/>
                </a:solidFill>
              </a:rPr>
              <a:t>• PPML · Privacy-Preserving Machine Learning (FL + DP + CC)</a:t>
            </a:r>
          </a:p>
          <a:p>
            <a:pPr/>
            <a:r>
              <a:rPr sz="1600" b="0">
                <a:solidFill>
                  <a:srgbClr val="FFFFFF"/>
                </a:solidFill>
              </a:rPr>
              <a:t>• RAI · Responsible AI · ECE · Expected Calibration Error</a:t>
            </a:r>
          </a:p>
          <a:p>
            <a:pPr/>
            <a:r>
              <a:rPr sz="1600" b="0">
                <a:solidFill>
                  <a:srgbClr val="FFFFFF"/>
                </a:solidFill>
              </a:rPr>
              <a:t>• APIM · Azure API Management · AML · Azure Machine Learning</a:t>
            </a:r>
          </a:p>
          <a:p>
            <a:pPr/>
            <a:r>
              <a:rPr sz="1600" b="0">
                <a:solidFill>
                  <a:srgbClr val="FFFFFF"/>
                </a:solidFill>
              </a:rPr>
              <a:t>• WORM · Write Once Read Many · CMK · Customer-Managed Keys</a:t>
            </a:r>
          </a:p>
          <a:p>
            <a:pPr/>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SOURCE DOCUMENTS</a:t>
            </a:r>
          </a:p>
          <a:p>
            <a:pPr/>
            <a:r>
              <a:rPr sz="1600" b="0">
                <a:solidFill>
                  <a:srgbClr val="FFFFFF"/>
                </a:solidFill>
              </a:rPr>
              <a:t>• Subject/case-study-33-edtech-personalised-learning.md</a:t>
            </a:r>
          </a:p>
          <a:p>
            <a:pPr/>
            <a:r>
              <a:rPr sz="1600" b="0">
                <a:solidFill>
                  <a:srgbClr val="FFFFFF"/>
                </a:solidFill>
              </a:rPr>
              <a:t>• Subject/AMA_Rubric_Evaluation.md</a:t>
            </a:r>
          </a:p>
          <a:p>
            <a:pPr/>
            <a:r>
              <a:rPr sz="1600" b="0">
                <a:solidFill>
                  <a:srgbClr val="FFFFFF"/>
                </a:solidFill>
              </a:rPr>
              <a:t>• plan/00 → 09 (charter, roadmap, workstreams, architecture, compliance,</a:t>
            </a:r>
          </a:p>
          <a:p>
            <a:pPr/>
            <a:r>
              <a:rPr sz="1600" b="0">
                <a:solidFill>
                  <a:srgbClr val="FFFFFF"/>
                </a:solidFill>
              </a:rPr>
              <a:t>• demo/ARCHITECTURE.md · DEPLOYMENT-REPORT.md · DEMO-STORYTELLING.md</a:t>
            </a:r>
          </a:p>
          <a:p>
            <a:pPr/>
            <a:r>
              <a:rPr sz="1600" b="0">
                <a:solidFill>
                  <a:srgbClr val="FFFFFF"/>
                </a:solidFill>
              </a:rPr>
              <a:t>• agents/*.chatmode.md (9 specialist roles)</a:t>
            </a:r>
          </a:p>
          <a:p>
            <a:pPr/>
            <a:r>
              <a:rPr sz="1600" b="0">
                <a:solidFill>
                  <a:srgbClr val="FFFFFF"/>
                </a:solidFill>
              </a:rPr>
              <a:t>• restitution/deck-outline.md (technical sibling deck)</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2.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3.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721C011-250E-414E-B694-B5D234F0BCB9}">
  <ds:schemaRefs>
    <ds:schemaRef ds:uri="office.server.policy"/>
  </ds:schemaRefs>
</ds:datastoreItem>
</file>

<file path=customXml/itemProps3.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72E6025E-C127-4B7B-AAF2-1F0FD425C31F}">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0</TotalTime>
  <Words>605</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SemiBold</vt:lpstr>
      <vt:lpstr>Arial</vt:lpstr>
      <vt:lpstr>Segoe UI</vt:lpstr>
      <vt:lpstr>Segoe UI Semibold</vt:lpstr>
      <vt:lpstr>Wingdings</vt:lpstr>
      <vt:lpstr>Azure Master Architect Program</vt:lpstr>
      <vt:lpstr>Azure Master Architect Program</vt:lpstr>
      <vt:lpstr>AGENDA</vt:lpstr>
      <vt:lpstr>What Success Looks like?/Customer Objectives</vt:lpstr>
      <vt:lpstr>How to get there?/ Solution Details</vt:lpstr>
      <vt:lpstr>Solution Details</vt:lpstr>
      <vt:lpstr>Key Benefits and Value Delivery</vt:lpstr>
      <vt:lpstr>Next Steps</vt:lpstr>
      <vt:lpstr>PowerPoint Presentation</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2</cp:revision>
  <cp:lastPrinted>2023-06-08T02:44:40Z</cp:lastPrinted>
  <dcterms:created xsi:type="dcterms:W3CDTF">2023-02-17T20:44:47Z</dcterms:created>
  <dcterms:modified xsi:type="dcterms:W3CDTF">2026-05-15T12:22:53Z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