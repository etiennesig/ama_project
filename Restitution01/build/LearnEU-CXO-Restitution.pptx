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14"/>
  </p:notesMasterIdLst>
  <p:handoutMasterIdLst>
    <p:handoutMasterId r:id="rId15"/>
  </p:handoutMasterIdLst>
  <p:sldIdLst>
    <p:sldId id="256" r:id="rId13"/>
    <p:sldId id="257" r:id="rId12"/>
    <p:sldId id="258" r:id="rId11"/>
    <p:sldId id="259" r:id="rId10"/>
    <p:sldId id="260" r:id="rId9"/>
    <p:sldId id="261" r:id="rId8"/>
    <p:sldId id="262" r:id="rId7"/>
    <p:sldId id="263" r:id="rId6"/>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69"/>
            <p14:sldId id="266"/>
            <p14:sldId id="267"/>
            <p14:sldId id="272"/>
            <p14:sldId id="277"/>
            <p14:sldId id="274"/>
            <p14:sldId id="278"/>
            <p14:sldId id="275"/>
          </p14:sldIdLst>
        </p14:section>
      </p14:section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1" d="100"/>
          <a:sy n="141" d="100"/>
        </p:scale>
        <p:origin x="102" y="28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5/10/relationships/revisionInfo" Target="revisionInfo.xml"/><Relationship Id="rId22" Type="http://schemas.microsoft.com/office/2018/10/relationships/authors" Target="author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5/15/2026 2:22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4:34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reteniez qu'une slide, ce serait celle-ci. Quatre chiffres, un contrat, zéro excuse. Quatre millions cent mille apprenants concernés. Vingt-six points d'écart de résultats fermés en douze mois. Quarante-cinq pour cent de temps administratif rendu aux enseignants. Et cent pour cent de conformité — GDPR Article 8 et AI Act marquage CE — en permanence. Le reste du deck décline chacun de ces chiffres pour le CXO concerné, et les annexes sont là pour le débat. Le board est sollicité sur trois décisions à la slide 21 : mandat DPIA, budget Phase 0, président du Conseil RAI.</a:t>
            </a:r>
          </a:p>
          <a:p/>
          <a:p>
            <a:r>
              <a:t>---</a:t>
            </a:r>
          </a:p>
          <a:p>
            <a:r>
              <a:t>CXO focus: CEO · CFO · CRO</a:t>
            </a:r>
          </a:p>
          <a:p>
            <a:r>
              <a:t>Visual: 2×2 grid of huge editable stat tiles in orange/teal/navy/green.</a:t>
            </a:r>
          </a:p>
          <a:p>
            <a:r>
              <a:t>Source refs: plan/00-program-charter.md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p>
            <a:r>
              <a:t>---</a:t>
            </a:r>
          </a:p>
          <a:p>
            <a:r>
              <a:t>CXO focus: CEO · COO · CMO</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p>
            <a:r>
              <a:t>---</a:t>
            </a:r>
          </a:p>
          <a:p>
            <a:r>
              <a:t>CXO focus: CEO · CSO · CAIO</a:t>
            </a:r>
          </a:p>
          <a:p>
            <a:r>
              <a:t>Source refs: plan/00-program-charter.md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p>
            <a:r>
              <a:t>---</a:t>
            </a:r>
          </a:p>
          <a:p>
            <a:r>
              <a:t>CXO focus: CEO · CFO · COO</a:t>
            </a:r>
          </a:p>
          <a:p>
            <a:r>
              <a:t>Source refs: Subject/case-study-33-edtech-personalised-learning.md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p>
            <a:r>
              <a:t>---</a:t>
            </a:r>
          </a:p>
          <a:p>
            <a:r>
              <a:t>CXO focus: CFO · CEO</a:t>
            </a:r>
          </a:p>
          <a:p>
            <a:r>
              <a:t>Source refs: plan/05-kpis-outcomes.md ·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p>
            <a:r>
              <a:t>---</a:t>
            </a:r>
          </a:p>
          <a:p>
            <a:r>
              <a:t>CXO focus: CXO · CMO · CHRO</a:t>
            </a:r>
          </a:p>
          <a:p>
            <a:r>
              <a:t>Source refs: demo/DEMO-STORYTELLING.md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p>
            <a:r>
              <a:t>---</a:t>
            </a:r>
          </a:p>
          <a:p>
            <a:r>
              <a:t>CXO focus: CIO · CTO · CEO</a:t>
            </a:r>
          </a:p>
          <a:p>
            <a:r>
              <a:t>Visual: Single horizontal swimlane: Devices → APIM → Fabric / Azure ML / OpenAI → ONNX &amp; Web apps. EU flag stamp on the lane. "Full diagram → Appendix A1".</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p>
            <a:r>
              <a:t>---</a:t>
            </a:r>
          </a:p>
          <a:p>
            <a:r>
              <a:t>CXO focus: CRO · CCO · CLO · CISO</a:t>
            </a:r>
          </a:p>
          <a:p>
            <a:r>
              <a:t>Visual: Two columns of green check-boxes, each labelled with the article number it satisfies. CE-marking badge bottom-right.</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p>
            <a:r>
              <a:t>---</a:t>
            </a:r>
          </a:p>
          <a:p>
            <a:r>
              <a:t>CXO focus: CAIO · CRO · CLO</a:t>
            </a:r>
          </a:p>
          <a:p>
            <a:r>
              <a:t>Visual: "Decision flow" diagram: AI suggestion → explanation → teacher review → action. Override icon highlighted; kill-switch icon in bottom-right.</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p>
            <a:r>
              <a:t>---</a:t>
            </a:r>
          </a:p>
          <a:p>
            <a:r>
              <a:t>CXO focus: CDO · CISO · CCO</a:t>
            </a:r>
          </a:p>
          <a:p>
            <a:r>
              <a:t>Visual: Lakehouse pyramid (Bronze → Silver → Gold), each layer tagged with retention + label. EU flag at base.</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p>
            <a:r>
              <a:t>---</a:t>
            </a:r>
          </a:p>
          <a:p>
            <a:r>
              <a:t>CXO focus: CISO · CRO · CLO</a:t>
            </a:r>
          </a:p>
          <a:p>
            <a:r>
              <a:t>Visual: Map of EU regions with LearnEU footprint highlighted; padlock icons over each region.</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p>
            <a:r>
              <a:t>---</a:t>
            </a:r>
          </a:p>
          <a:p>
            <a:r>
              <a:t>CXO focus: CHRO · COO · CXO</a:t>
            </a:r>
          </a:p>
          <a:p>
            <a:r>
              <a:t>Visual: "Voice → product" loop diagram: Teacher Council → Release gate → Production → Override telemetry → back to Council.</a:t>
            </a:r>
          </a:p>
          <a:p>
            <a:r>
              <a:t>Source refs: plan/02-workstreams.md · agents/learning-sciences-expert.chatmode.md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p>
            <a:r>
              <a:t>---</a:t>
            </a:r>
          </a:p>
          <a:p>
            <a:r>
              <a:t>CXO focus: CMO · CEO · COO</a:t>
            </a:r>
          </a:p>
          <a:p>
            <a:r>
              <a:t>Visual: Map of EU with phased market entry; per-country localisation throughput bar (target ≥ 6 weeks).</a:t>
            </a:r>
          </a:p>
          <a:p>
            <a:r>
              <a:t>Source refs: plan/01-phases-roadmap.md · agents/content-localisation-lead.chatmode.md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p>
            <a:r>
              <a:t>---</a:t>
            </a:r>
          </a:p>
          <a:p>
            <a:r>
              <a:t>CXO focus: COO · CEO · CHRO</a:t>
            </a:r>
          </a:p>
          <a:p>
            <a:r>
              <a:t>Visual: Two columns: left = 4-body governance grid; right = 9-agent ring with accountabilities.</a:t>
            </a:r>
          </a:p>
          <a:p>
            <a:r>
              <a:t>Source refs: plan/07-governance-rai.md ·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p>
            <a:r>
              <a:t>---</a:t>
            </a:r>
          </a:p>
          <a:p>
            <a:r>
              <a:t>CXO focus: CEO · COO · CRO</a:t>
            </a:r>
          </a:p>
          <a:p>
            <a:r>
              <a:t>Visual: Horizontal Gantt of 5 phases with gate diamonds; each diamond labeled with the gating KPI.</a:t>
            </a:r>
          </a:p>
          <a:p>
            <a:r>
              <a:t>Source refs: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p>
            <a:r>
              <a:t>---</a:t>
            </a:r>
          </a:p>
          <a:p>
            <a:r>
              <a:t>CXO focus: CXO · CMO · CEO · COO</a:t>
            </a:r>
          </a:p>
          <a:p>
            <a:r>
              <a:t>Visual: 4 persona thumbnails on a stopwatch ribbon; live URLs in 14 pt monospace beneath each.</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p>
            <a:r>
              <a:t>---</a:t>
            </a:r>
          </a:p>
          <a:p>
            <a:r>
              <a:t>CXO focus: CFO · CIO · CSO</a:t>
            </a:r>
          </a:p>
          <a:p>
            <a:r>
              <a:t>Visual: Stacked bar: build vs run vs contingency. Sparkline showing cost/learner trajectory month-over-month.</a:t>
            </a:r>
          </a:p>
          <a:p>
            <a:r>
              <a:t>Source refs: plan/05-kpis-outcomes.md · plan/06-risks-register.md (R8)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p>
            <a:r>
              <a:t>---</a:t>
            </a:r>
          </a:p>
          <a:p>
            <a:r>
              <a:t>CXO focus: CRO · CCO · CISO</a:t>
            </a:r>
          </a:p>
          <a:p>
            <a:r>
              <a:t>Visual: 6 risk tiles colour-coded by severity, each with owner + mitigation icon.</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p>
            <a:r>
              <a:t>---</a:t>
            </a:r>
          </a:p>
          <a:p>
            <a:r>
              <a:t>CXO focus: CEO · CFO · All</a:t>
            </a:r>
          </a:p>
          <a:p>
            <a:r>
              <a:t>Visual: Two stacked dashboard mock-ups: left = outcomes/adoption tiles; right = trust/risk/cost tiles. Same look as Power BI exec view.</a:t>
            </a:r>
          </a:p>
          <a:p>
            <a:r>
              <a:t>Source refs: plan/05-kpis-outcomes.md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par service, alignement strict sur la liste du case study. Chaque service joue un rôle nommé, déployé en région EU. Si une question pointe sur un service précis, on déroule l'annexe correspondante.</a:t>
            </a:r>
          </a:p>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pour Q&amp;A. Tous les claims de ce deck sont retraçables à l'un de ces documents — règle interne, pas un slide où on ne saurait pas pointer la source.</a:t>
            </a:r>
          </a:p>
          <a:p/>
          <a:p>
            <a:r>
              <a:t>---</a:t>
            </a:r>
          </a:p>
          <a:p>
            <a:r>
              <a:t>CXO focus: All</a:t>
            </a:r>
          </a:p>
          <a:p>
            <a:r>
              <a:t>Visual: Two columns, plain typographic.</a:t>
            </a:r>
          </a:p>
          <a:p>
            <a:r>
              <a:t>Source refs: all listed below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What we sign for</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4 numbers · 1 contract · 0 excuses</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4.1M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EU learners in scope (NL · BE · DE · PL · RO)</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−26pp</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outcome-gap closed in 12 months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−45%</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teacher administrative time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100%</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GDPR Art. 8 · AI Act CE-marked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40%</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today</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−26pp</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closed</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€55M</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annual run-rate value</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6" name="TextBox 5"/>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sp>
        <p:nvSpPr>
          <p:cNvPr id="7" name="Rounded Rectangle 6"/>
          <p:cNvSpPr/>
          <p:nvPr/>
        </p:nvSpPr>
        <p:spPr>
          <a:xfrm>
            <a:off x="400000" y="1700000"/>
            <a:ext cx="3610666" cy="3400000"/>
          </a:xfrm>
          <a:prstGeom prst="roundRect">
            <a:avLst/>
          </a:prstGeom>
          <a:solidFill>
            <a:srgbClr val="1B3C7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455333"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55333" y="2150000"/>
            <a:ext cx="1500000" cy="1350000"/>
          </a:xfrm>
          <a:prstGeom prst="rect">
            <a:avLst/>
          </a:prstGeom>
          <a:noFill/>
        </p:spPr>
        <p:txBody>
          <a:bodyPr wrap="square">
            <a:spAutoFit/>
          </a:bodyPr>
          <a:lstStyle/>
          <a:p>
            <a:pPr algn="ctr"/>
            <a:r>
              <a:rPr sz="9600" b="1" i="0">
                <a:solidFill>
                  <a:srgbClr val="1B3C70"/>
                </a:solidFill>
              </a:rPr>
              <a:t>L</a:t>
            </a:r>
          </a:p>
        </p:txBody>
      </p:sp>
      <p:sp>
        <p:nvSpPr>
          <p:cNvPr id="10" name="TextBox 9"/>
          <p:cNvSpPr txBox="1"/>
          <p:nvPr/>
        </p:nvSpPr>
        <p:spPr>
          <a:xfrm>
            <a:off x="400000" y="3700000"/>
            <a:ext cx="3610666" cy="500000"/>
          </a:xfrm>
          <a:prstGeom prst="rect">
            <a:avLst/>
          </a:prstGeom>
          <a:noFill/>
        </p:spPr>
        <p:txBody>
          <a:bodyPr wrap="square">
            <a:spAutoFit/>
          </a:bodyPr>
          <a:lstStyle/>
          <a:p>
            <a:pPr algn="ctr"/>
            <a:r>
              <a:rPr sz="2800" b="1" i="0">
                <a:solidFill>
                  <a:srgbClr val="FFFFFF"/>
                </a:solidFill>
              </a:rPr>
              <a:t>Lucas</a:t>
            </a:r>
          </a:p>
        </p:txBody>
      </p:sp>
      <p:sp>
        <p:nvSpPr>
          <p:cNvPr id="11" name="TextBox 10"/>
          <p:cNvSpPr txBox="1"/>
          <p:nvPr/>
        </p:nvSpPr>
        <p:spPr>
          <a:xfrm>
            <a:off x="400000" y="4200000"/>
            <a:ext cx="3610666" cy="400000"/>
          </a:xfrm>
          <a:prstGeom prst="rect">
            <a:avLst/>
          </a:prstGeom>
          <a:noFill/>
        </p:spPr>
        <p:txBody>
          <a:bodyPr wrap="square">
            <a:spAutoFit/>
          </a:bodyPr>
          <a:lstStyle/>
          <a:p>
            <a:pPr algn="ctr"/>
            <a:r>
              <a:rPr sz="1600" b="0" i="1">
                <a:solidFill>
                  <a:srgbClr val="C8D4E6"/>
                </a:solidFill>
              </a:rPr>
              <a:t>12 · Berlin</a:t>
            </a:r>
          </a:p>
        </p:txBody>
      </p:sp>
      <p:sp>
        <p:nvSpPr>
          <p:cNvPr id="12" name="TextBox 11"/>
          <p:cNvSpPr txBox="1"/>
          <p:nvPr/>
        </p:nvSpPr>
        <p:spPr>
          <a:xfrm>
            <a:off x="400000" y="5200000"/>
            <a:ext cx="3610666" cy="1400000"/>
          </a:xfrm>
          <a:prstGeom prst="rect">
            <a:avLst/>
          </a:prstGeom>
          <a:noFill/>
        </p:spPr>
        <p:txBody>
          <a:bodyPr wrap="square">
            <a:spAutoFit/>
          </a:bodyPr>
          <a:lstStyle/>
          <a:p>
            <a:pPr algn="ctr"/>
            <a:r>
              <a:rPr sz="1600">
                <a:solidFill>
                  <a:srgbClr val="FFFFFF"/>
                </a:solidFill>
              </a:rPr>
              <a:t>Content at his level (P-correct ≈ 0.7)</a:t>
            </a:r>
          </a:p>
          <a:p>
            <a:pPr algn="ctr"/>
            <a:r>
              <a:rPr sz="1600">
                <a:solidFill>
                  <a:srgbClr val="FFFFFF"/>
                </a:solidFill>
              </a:rPr>
              <a:t>Instant formative feedback</a:t>
            </a:r>
          </a:p>
          <a:p>
            <a:pPr algn="ctr"/>
            <a:r>
              <a:rPr sz="1600">
                <a:solidFill>
                  <a:srgbClr val="FFFFFF"/>
                </a:solidFill>
              </a:rPr>
              <a:t>Never punitive grading</a:t>
            </a:r>
          </a:p>
        </p:txBody>
      </p:sp>
      <p:sp>
        <p:nvSpPr>
          <p:cNvPr id="13" name="Rounded Rectangle 12"/>
          <p:cNvSpPr/>
          <p:nvPr/>
        </p:nvSpPr>
        <p:spPr>
          <a:xfrm>
            <a:off x="4290666" y="1700000"/>
            <a:ext cx="3610666" cy="3400000"/>
          </a:xfrm>
          <a:prstGeom prst="roundRect">
            <a:avLst/>
          </a:prstGeom>
          <a:solidFill>
            <a:srgbClr val="8F521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345999"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45999" y="2150000"/>
            <a:ext cx="1500000" cy="1350000"/>
          </a:xfrm>
          <a:prstGeom prst="rect">
            <a:avLst/>
          </a:prstGeom>
          <a:noFill/>
        </p:spPr>
        <p:txBody>
          <a:bodyPr wrap="square">
            <a:spAutoFit/>
          </a:bodyPr>
          <a:lstStyle/>
          <a:p>
            <a:pPr algn="ctr"/>
            <a:r>
              <a:rPr sz="9600" b="1" i="0">
                <a:solidFill>
                  <a:srgbClr val="8F5210"/>
                </a:solidFill>
              </a:rPr>
              <a:t>K</a:t>
            </a:r>
          </a:p>
        </p:txBody>
      </p:sp>
      <p:sp>
        <p:nvSpPr>
          <p:cNvPr id="16" name="TextBox 15"/>
          <p:cNvSpPr txBox="1"/>
          <p:nvPr/>
        </p:nvSpPr>
        <p:spPr>
          <a:xfrm>
            <a:off x="4290666" y="3700000"/>
            <a:ext cx="3610666" cy="500000"/>
          </a:xfrm>
          <a:prstGeom prst="rect">
            <a:avLst/>
          </a:prstGeom>
          <a:noFill/>
        </p:spPr>
        <p:txBody>
          <a:bodyPr wrap="square">
            <a:spAutoFit/>
          </a:bodyPr>
          <a:lstStyle/>
          <a:p>
            <a:pPr algn="ctr"/>
            <a:r>
              <a:rPr sz="2800" b="1" i="0">
                <a:solidFill>
                  <a:srgbClr val="FFFFFF"/>
                </a:solidFill>
              </a:rPr>
              <a:t>Mr Klein</a:t>
            </a:r>
          </a:p>
        </p:txBody>
      </p:sp>
      <p:sp>
        <p:nvSpPr>
          <p:cNvPr id="17" name="TextBox 16"/>
          <p:cNvSpPr txBox="1"/>
          <p:nvPr/>
        </p:nvSpPr>
        <p:spPr>
          <a:xfrm>
            <a:off x="4290666" y="4200000"/>
            <a:ext cx="3610666" cy="400000"/>
          </a:xfrm>
          <a:prstGeom prst="rect">
            <a:avLst/>
          </a:prstGeom>
          <a:noFill/>
        </p:spPr>
        <p:txBody>
          <a:bodyPr wrap="square">
            <a:spAutoFit/>
          </a:bodyPr>
          <a:lstStyle/>
          <a:p>
            <a:pPr algn="ctr"/>
            <a:r>
              <a:rPr sz="1600" b="0" i="1">
                <a:solidFill>
                  <a:srgbClr val="C8D4E6"/>
                </a:solidFill>
              </a:rPr>
              <a:t>Year-7 maths</a:t>
            </a:r>
          </a:p>
        </p:txBody>
      </p:sp>
      <p:sp>
        <p:nvSpPr>
          <p:cNvPr id="18" name="TextBox 17"/>
          <p:cNvSpPr txBox="1"/>
          <p:nvPr/>
        </p:nvSpPr>
        <p:spPr>
          <a:xfrm>
            <a:off x="4290666" y="5200000"/>
            <a:ext cx="3610666" cy="1400000"/>
          </a:xfrm>
          <a:prstGeom prst="rect">
            <a:avLst/>
          </a:prstGeom>
          <a:noFill/>
        </p:spPr>
        <p:txBody>
          <a:bodyPr wrap="square">
            <a:spAutoFit/>
          </a:bodyPr>
          <a:lstStyle/>
          <a:p>
            <a:pPr algn="ctr"/>
            <a:r>
              <a:rPr sz="1600">
                <a:solidFill>
                  <a:srgbClr val="FFFFFF"/>
                </a:solidFill>
              </a:rPr>
              <a:t>45% admin time back</a:t>
            </a:r>
          </a:p>
          <a:p>
            <a:pPr algn="ctr"/>
            <a:r>
              <a:rPr sz="1600">
                <a:solidFill>
                  <a:srgbClr val="FFFFFF"/>
                </a:solidFill>
              </a:rPr>
              <a:t>Every AI hint is explainable</a:t>
            </a:r>
          </a:p>
          <a:p>
            <a:pPr algn="ctr"/>
            <a:r>
              <a:rPr sz="1600">
                <a:solidFill>
                  <a:srgbClr val="FFFFFF"/>
                </a:solidFill>
              </a:rPr>
              <a:t>One-click override, always</a:t>
            </a:r>
          </a:p>
        </p:txBody>
      </p:sp>
      <p:sp>
        <p:nvSpPr>
          <p:cNvPr id="19" name="Rounded Rectangle 18"/>
          <p:cNvSpPr/>
          <p:nvPr/>
        </p:nvSpPr>
        <p:spPr>
          <a:xfrm>
            <a:off x="8181332" y="1700000"/>
            <a:ext cx="3610666" cy="3400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36665"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6665" y="2150000"/>
            <a:ext cx="1500000" cy="1350000"/>
          </a:xfrm>
          <a:prstGeom prst="rect">
            <a:avLst/>
          </a:prstGeom>
          <a:noFill/>
        </p:spPr>
        <p:txBody>
          <a:bodyPr wrap="square">
            <a:spAutoFit/>
          </a:bodyPr>
          <a:lstStyle/>
          <a:p>
            <a:pPr algn="ctr"/>
            <a:r>
              <a:rPr sz="9600" b="1" i="0">
                <a:solidFill>
                  <a:srgbClr val="1F6B3A"/>
                </a:solidFill>
              </a:rPr>
              <a:t>S</a:t>
            </a:r>
          </a:p>
        </p:txBody>
      </p:sp>
      <p:sp>
        <p:nvSpPr>
          <p:cNvPr id="22" name="TextBox 21"/>
          <p:cNvSpPr txBox="1"/>
          <p:nvPr/>
        </p:nvSpPr>
        <p:spPr>
          <a:xfrm>
            <a:off x="8181332" y="3700000"/>
            <a:ext cx="3610666" cy="500000"/>
          </a:xfrm>
          <a:prstGeom prst="rect">
            <a:avLst/>
          </a:prstGeom>
          <a:noFill/>
        </p:spPr>
        <p:txBody>
          <a:bodyPr wrap="square">
            <a:spAutoFit/>
          </a:bodyPr>
          <a:lstStyle/>
          <a:p>
            <a:pPr algn="ctr"/>
            <a:r>
              <a:rPr sz="2800" b="1" i="0">
                <a:solidFill>
                  <a:srgbClr val="FFFFFF"/>
                </a:solidFill>
              </a:rPr>
              <a:t>Sophie</a:t>
            </a:r>
          </a:p>
        </p:txBody>
      </p:sp>
      <p:sp>
        <p:nvSpPr>
          <p:cNvPr id="23" name="TextBox 22"/>
          <p:cNvSpPr txBox="1"/>
          <p:nvPr/>
        </p:nvSpPr>
        <p:spPr>
          <a:xfrm>
            <a:off x="8181332" y="4200000"/>
            <a:ext cx="3610666" cy="400000"/>
          </a:xfrm>
          <a:prstGeom prst="rect">
            <a:avLst/>
          </a:prstGeom>
          <a:noFill/>
        </p:spPr>
        <p:txBody>
          <a:bodyPr wrap="square">
            <a:spAutoFit/>
          </a:bodyPr>
          <a:lstStyle/>
          <a:p>
            <a:pPr algn="ctr"/>
            <a:r>
              <a:rPr sz="1600" b="0" i="1">
                <a:solidFill>
                  <a:srgbClr val="C8D4E6"/>
                </a:solidFill>
              </a:rPr>
              <a:t>Lucas' mother</a:t>
            </a:r>
          </a:p>
        </p:txBody>
      </p:sp>
      <p:sp>
        <p:nvSpPr>
          <p:cNvPr id="24" name="TextBox 23"/>
          <p:cNvSpPr txBox="1"/>
          <p:nvPr/>
        </p:nvSpPr>
        <p:spPr>
          <a:xfrm>
            <a:off x="8181332" y="5200000"/>
            <a:ext cx="3610666" cy="1400000"/>
          </a:xfrm>
          <a:prstGeom prst="rect">
            <a:avLst/>
          </a:prstGeom>
          <a:noFill/>
        </p:spPr>
        <p:txBody>
          <a:bodyPr wrap="square">
            <a:spAutoFit/>
          </a:bodyPr>
          <a:lstStyle/>
          <a:p>
            <a:pPr algn="ctr"/>
            <a:r>
              <a:rPr sz="1600">
                <a:solidFill>
                  <a:srgbClr val="FFFFFF"/>
                </a:solidFill>
              </a:rPr>
              <a:t>Native-language portal</a:t>
            </a:r>
          </a:p>
          <a:p>
            <a:pPr algn="ctr"/>
            <a:r>
              <a:rPr sz="1600">
                <a:solidFill>
                  <a:srgbClr val="FFFFFF"/>
                </a:solidFill>
              </a:rPr>
              <a:t>GDPR Art. 8 controls in one click</a:t>
            </a:r>
          </a:p>
          <a:p>
            <a:pPr algn="ctr"/>
            <a:r>
              <a:rPr sz="1600">
                <a:solidFill>
                  <a:srgbClr val="FFFFFF"/>
                </a:solidFill>
              </a:rPr>
              <a:t>Human teacher decides — by contract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One platform, three AI capabilities, zero data leaving the EU</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on Azure EU regions — 8 services, all in scope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THREE AI CAPABILITIES</a:t>
            </a:r>
          </a:p>
          <a:p>
            <a:pPr/>
            <a:r>
              <a:rPr sz="1800" b="0">
                <a:solidFill>
                  <a:srgbClr val="FFFFFF"/>
                </a:solidFill>
              </a:rPr>
              <a:t>• Adaptive learner model — on-device ONNX, federated training, DP</a:t>
            </a:r>
          </a:p>
          <a:p>
            <a:pPr/>
            <a:r>
              <a:rPr sz="1800" b="0">
                <a:solidFill>
                  <a:srgbClr val="FFFFFF"/>
                </a:solidFill>
              </a:rPr>
              <a:t>• Curriculum localisation AI — Azure OpenAI + AI Search + glossaries</a:t>
            </a:r>
          </a:p>
          <a:p>
            <a:pPr/>
            <a:r>
              <a:rPr sz="1800" b="0">
                <a:solidFill>
                  <a:srgbClr val="FFFFFF"/>
                </a:solidFill>
              </a:rPr>
              <a:t>• Automated assessment AI — structured grading + formative feedback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EIGHT AZURE SERVICES, EU-ONLY</a:t>
            </a:r>
          </a:p>
          <a:p>
            <a:pPr/>
            <a:r>
              <a:rPr sz="1800" b="0">
                <a:solidFill>
                  <a:srgbClr val="FFFFFF"/>
                </a:solidFill>
              </a:rPr>
              <a:t>• Identity: Azure AD B2C (per country) + Entra ID (staff)</a:t>
            </a:r>
          </a:p>
          <a:p>
            <a:pPr/>
            <a:r>
              <a:rPr sz="1800" b="0">
                <a:solidFill>
                  <a:srgbClr val="FFFFFF"/>
                </a:solidFill>
              </a:rPr>
              <a:t>• Data: Microsoft Fabric (OneLake) + Purview + Key Vault HSM</a:t>
            </a:r>
          </a:p>
          <a:p>
            <a:pPr/>
            <a:r>
              <a:rPr sz="1800" b="0">
                <a:solidFill>
                  <a:srgbClr val="FFFFFF"/>
                </a:solidFill>
              </a:rPr>
              <a:t>• AI: Azure ML + Azure OpenAI + AI Content Safety</a:t>
            </a:r>
          </a:p>
          <a:p>
            <a:pPr/>
            <a:r>
              <a:rPr sz="1800" b="0">
                <a:solidFill>
                  <a:srgbClr val="FFFFFF"/>
                </a:solidFill>
              </a:rPr>
              <a:t>• Edge: API Management (front door) + ONNX Runtime (on-device)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GDPR Art. 8 + EU AI Act high-risk: addressed from day zero</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into the SDLC, not bolted on at audit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GDPR POSTURE</a:t>
            </a:r>
          </a:p>
          <a:p>
            <a:pPr/>
            <a:r>
              <a:rPr sz="1800" b="0">
                <a:solidFill>
                  <a:srgbClr val="FFFFFF"/>
                </a:solidFill>
              </a:rPr>
              <a:t>• Article 8 — default consent age 16 (strictest of 5 markets)</a:t>
            </a:r>
          </a:p>
          <a:p>
            <a:pPr/>
            <a:r>
              <a:rPr sz="1800" b="0">
                <a:solidFill>
                  <a:srgbClr val="FFFFFF"/>
                </a:solidFill>
              </a:rPr>
              <a:t>• DPIA per market in Phase 0, refreshed annually</a:t>
            </a:r>
          </a:p>
          <a:p>
            <a:pPr/>
            <a:r>
              <a:rPr sz="1800" b="0">
                <a:solidFill>
                  <a:srgbClr val="FFFFFF"/>
                </a:solidFill>
              </a:rPr>
              <a:t>• Data minimisation: on-device first, federated second, central last</a:t>
            </a:r>
          </a:p>
          <a:p>
            <a:pPr/>
            <a:r>
              <a:rPr sz="1800" b="0">
                <a:solidFill>
                  <a:srgbClr val="FFFFFF"/>
                </a:solidFill>
              </a:rPr>
              <a:t>• Erasure SLA: 30 days, automated via Purview lineage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EU AI ACT POSTURE</a:t>
            </a:r>
          </a:p>
          <a:p>
            <a:pPr/>
            <a:r>
              <a:rPr sz="1800" b="0">
                <a:solidFill>
                  <a:srgbClr val="FFFFFF"/>
                </a:solidFill>
              </a:rPr>
              <a:t>• Every feature classified high-risk by default (Annex III §3)</a:t>
            </a:r>
          </a:p>
          <a:p>
            <a:pPr/>
            <a:r>
              <a:rPr sz="1800" b="0">
                <a:solidFill>
                  <a:srgbClr val="FFFFFF"/>
                </a:solidFill>
              </a:rPr>
              <a:t>• Annex IV technical file built feature-by-feature from M0</a:t>
            </a:r>
          </a:p>
          <a:p>
            <a:pPr/>
            <a:r>
              <a:rPr sz="1800" b="0">
                <a:solidFill>
                  <a:srgbClr val="FFFFFF"/>
                </a:solidFill>
              </a:rPr>
              <a:t>• Conformity assessment (Art. 43) — CE marking before phase-3 exit</a:t>
            </a:r>
          </a:p>
          <a:p>
            <a:pPr/>
            <a:r>
              <a:rPr sz="1800" b="0">
                <a:solidFill>
                  <a:srgbClr val="FFFFFF"/>
                </a:solidFill>
              </a:rPr>
              <a:t>• Post-market monitoring (Art. 72) live from first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No autonomous decision touches a learner — ever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Human-in-the-loop is the product, not the policy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DESIGN PRINCIPLES</a:t>
            </a:r>
          </a:p>
          <a:p>
            <a:pPr/>
            <a:r>
              <a:rPr sz="1800" b="0">
                <a:solidFill>
                  <a:srgbClr val="FFFFFF"/>
                </a:solidFill>
              </a:rPr>
              <a:t>• Teacher-in-the-loop on every grading or content-difficulty change</a:t>
            </a:r>
          </a:p>
          <a:p>
            <a:pPr/>
            <a:r>
              <a:rPr sz="1800" b="0">
                <a:solidFill>
                  <a:srgbClr val="FFFFFF"/>
                </a:solidFill>
              </a:rPr>
              <a:t>• Explainability surfaced in the Teacher Console for every suggestion</a:t>
            </a:r>
          </a:p>
          <a:p>
            <a:pPr/>
            <a:r>
              <a:rPr sz="1800" b="0">
                <a:solidFill>
                  <a:srgbClr val="FFFFFF"/>
                </a:solidFill>
              </a:rPr>
              <a:t>• One-click override at pupil / class / assignment level</a:t>
            </a:r>
          </a:p>
          <a:p>
            <a:pPr/>
            <a:r>
              <a:rPr sz="1800" b="0">
                <a:solidFill>
                  <a:srgbClr val="FFFFFF"/>
                </a:solidFill>
              </a:rPr>
              <a:t>• Content Safety on every generative output — gate, not log</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RELEASE GATES</a:t>
            </a:r>
          </a:p>
          <a:p>
            <a:pPr/>
            <a:r>
              <a:rPr sz="1800" b="0">
                <a:solidFill>
                  <a:srgbClr val="FFFFFF"/>
                </a:solidFill>
              </a:rPr>
              <a:t>• RAI release gate v1 — fairness, calibration, safety, transparency</a:t>
            </a:r>
          </a:p>
          <a:p>
            <a:pPr/>
            <a:r>
              <a:rPr sz="1800" b="0">
                <a:solidFill>
                  <a:srgbClr val="FFFFFF"/>
                </a:solidFill>
              </a:rPr>
              <a:t>• Per-cohort fairness disparity ≤ 5 pp (gating, not advisory)</a:t>
            </a:r>
          </a:p>
          <a:p>
            <a:pPr/>
            <a:r>
              <a:rPr sz="1800" b="0">
                <a:solidFill>
                  <a:srgbClr val="FFFFFF"/>
                </a:solidFill>
              </a:rPr>
              <a:t>• Calibration error (ECE) ≤ 0.05</a:t>
            </a:r>
          </a:p>
          <a:p>
            <a:pPr/>
            <a:r>
              <a:rPr sz="1800" b="0">
                <a:solidFill>
                  <a:srgbClr val="FFFFFF"/>
                </a:solidFill>
              </a:rPr>
              <a:t>• Quarterly RAI re-evaluation — model can be rolled back same-day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Less data, better governed, never re-identifiable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Lakehouse + Purview + customer-managed keys, end-to-end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ARCHITECTURE</a:t>
            </a:r>
          </a:p>
          <a:p>
            <a:pPr/>
            <a:r>
              <a:rPr sz="1800" b="0">
                <a:solidFill>
                  <a:srgbClr val="FFFFFF"/>
                </a:solidFill>
              </a:rPr>
              <a:t>• Microsoft Fabric OneLake — Bronze / Silver / Gold, EU regions only</a:t>
            </a:r>
          </a:p>
          <a:p>
            <a:pPr/>
            <a:r>
              <a:rPr sz="1800" b="0">
                <a:solidFill>
                  <a:srgbClr val="FFFFFF"/>
                </a:solidFill>
              </a:rPr>
              <a:t>• Pseudonymisation at ingest; keys in Azure Key Vault Managed HSM</a:t>
            </a:r>
          </a:p>
          <a:p>
            <a:pPr/>
            <a:r>
              <a:rPr sz="1800" b="0">
                <a:solidFill>
                  <a:srgbClr val="FFFFFF"/>
                </a:solidFill>
              </a:rPr>
              <a:t>• Gold layer holds *no* learner-level data — only aggregates</a:t>
            </a:r>
          </a:p>
          <a:p>
            <a:pPr/>
            <a:r>
              <a:rPr sz="1800" b="0">
                <a:solidFill>
                  <a:srgbClr val="FFFFFF"/>
                </a:solidFill>
              </a:rPr>
              <a:t>• Feature store with row-level lineage in Purview</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CONTROLS</a:t>
            </a:r>
          </a:p>
          <a:p>
            <a:pPr/>
            <a:r>
              <a:rPr sz="1800" b="0">
                <a:solidFill>
                  <a:srgbClr val="FFFFFF"/>
                </a:solidFill>
              </a:rPr>
              <a:t>• Sensitivity label "Child Personal Data — Restricted" enforced via DLP</a:t>
            </a:r>
          </a:p>
          <a:p>
            <a:pPr/>
            <a:r>
              <a:rPr sz="1800" b="0">
                <a:solidFill>
                  <a:srgbClr val="FFFFFF"/>
                </a:solidFill>
              </a:rPr>
              <a:t>• Azure Policy: region pinning, CMK enforcement, no-PII-to-PaaS guardrail</a:t>
            </a:r>
          </a:p>
          <a:p>
            <a:pPr/>
            <a:r>
              <a:rPr sz="1800" b="0">
                <a:solidFill>
                  <a:srgbClr val="FFFFFF"/>
                </a:solidFill>
              </a:rPr>
              <a:t>• Erasure cascades through lineage — 30-day SLA, evidence in audit log</a:t>
            </a:r>
          </a:p>
          <a:p>
            <a:pPr/>
            <a:r>
              <a:rPr sz="1800" b="0">
                <a:solidFill>
                  <a:srgbClr val="FFFFFF"/>
                </a:solidFill>
              </a:rPr>
              <a:t>• Quarterly Microsoft sub-processor review — automatic alerting on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Zero-trust, EU-resident, defensible under audit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Private Endpoints, CMK, immutable audit, EU Data Boundary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SECURITY BASELINE</a:t>
            </a:r>
          </a:p>
          <a:p>
            <a:pPr/>
            <a:r>
              <a:rPr sz="1800" b="0">
                <a:solidFill>
                  <a:srgbClr val="FFFFFF"/>
                </a:solidFill>
              </a:rPr>
              <a:t>• All PaaS behind Private Endpoints; only APIM + web apps public</a:t>
            </a:r>
          </a:p>
          <a:p>
            <a:pPr/>
            <a:r>
              <a:rPr sz="1800" b="0">
                <a:solidFill>
                  <a:srgbClr val="FFFFFF"/>
                </a:solidFill>
              </a:rPr>
              <a:t>• Front Door + WAF in front; Azure Firewall on egress</a:t>
            </a:r>
          </a:p>
          <a:p>
            <a:pPr/>
            <a:r>
              <a:rPr sz="1800" b="0">
                <a:solidFill>
                  <a:srgbClr val="FFFFFF"/>
                </a:solidFill>
              </a:rPr>
              <a:t>• Customer-managed keys for every storage and AI service</a:t>
            </a:r>
          </a:p>
          <a:p>
            <a:pPr/>
            <a:r>
              <a:rPr sz="1800" b="0">
                <a:solidFill>
                  <a:srgbClr val="FFFFFF"/>
                </a:solidFill>
              </a:rPr>
              <a:t>• Confidential Computing for any centralised re-identifiable workload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RESIDENCY &amp; AUDIT</a:t>
            </a:r>
          </a:p>
          <a:p>
            <a:pPr/>
            <a:r>
              <a:rPr sz="1800" b="0">
                <a:solidFill>
                  <a:srgbClr val="FFFFFF"/>
                </a:solidFill>
              </a:rPr>
              <a:t>• West Europe + Germany West Central + Poland Central — DR within EU</a:t>
            </a:r>
          </a:p>
          <a:p>
            <a:pPr/>
            <a:r>
              <a:rPr sz="1800" b="0">
                <a:solidFill>
                  <a:srgbClr val="FFFFFF"/>
                </a:solidFill>
              </a:rPr>
              <a:t>• EU Data Boundary for Azure OpenAI / Foundry, verified per sub-processor</a:t>
            </a:r>
          </a:p>
          <a:p>
            <a:pPr/>
            <a:r>
              <a:rPr sz="1800" b="0">
                <a:solidFill>
                  <a:srgbClr val="FFFFFF"/>
                </a:solidFill>
              </a:rPr>
              <a:t>• Immutable audit logs (Azure Blob WORM) — AI Act Art. 12 evidence</a:t>
            </a:r>
          </a:p>
          <a:p>
            <a:pPr/>
            <a:r>
              <a:rPr sz="1800" b="0">
                <a:solidFill>
                  <a:srgbClr val="FFFFFF"/>
                </a:solidFill>
              </a:rPr>
              <a:t>• Defender for Cloud + Sentinel — 24×7 SOC, IR drilled quarterly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Teachers are the product team, not the test cohort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Co-design, training, override — in that order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CO-DESIGN</a:t>
            </a:r>
          </a:p>
          <a:p>
            <a:pPr/>
            <a:r>
              <a:rPr sz="1800" b="0">
                <a:solidFill>
                  <a:srgbClr val="FFFFFF"/>
                </a:solidFill>
              </a:rPr>
              <a:t>• 20 NL pilot schools onboarded with co-design workshops in P0–P1</a:t>
            </a:r>
          </a:p>
          <a:p>
            <a:pPr/>
            <a:r>
              <a:rPr sz="1800" b="0">
                <a:solidFill>
                  <a:srgbClr val="FFFFFF"/>
                </a:solidFill>
              </a:rPr>
              <a:t>• Teacher Council reviews every release before pedagogical sign-off</a:t>
            </a:r>
          </a:p>
          <a:p>
            <a:pPr/>
            <a:r>
              <a:rPr sz="1800" b="0">
                <a:solidFill>
                  <a:srgbClr val="FFFFFF"/>
                </a:solidFill>
              </a:rPr>
              <a:t>• Override telemetry feeds back into the model — visible, not anonymous</a:t>
            </a:r>
          </a:p>
          <a:p>
            <a:pPr/>
            <a:r>
              <a:rPr sz="1800" b="0">
                <a:solidFill>
                  <a:srgbClr val="FFFFFF"/>
                </a:solidFill>
              </a:rPr>
              <a:t>• Continuous Professional Development (CPD) credits for participating teachers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ADOPTION METRICS</a:t>
            </a:r>
          </a:p>
          <a:p>
            <a:pPr/>
            <a:r>
              <a:rPr sz="1800" b="0">
                <a:solidFill>
                  <a:srgbClr val="FFFFFF"/>
                </a:solidFill>
              </a:rPr>
              <a:t>• Teacher trust survey (NPS) per quarter — gating for market expansion</a:t>
            </a:r>
          </a:p>
          <a:p>
            <a:pPr/>
            <a:r>
              <a:rPr sz="1800" b="0">
                <a:solidFill>
                  <a:srgbClr val="FFFFFF"/>
                </a:solidFill>
              </a:rPr>
              <a:t>• Override rate targeted ≤ 10% steady-state (signal of trust, not friction)</a:t>
            </a:r>
          </a:p>
          <a:p>
            <a:pPr/>
            <a:r>
              <a:rPr sz="1800" b="0">
                <a:solidFill>
                  <a:srgbClr val="FFFFFF"/>
                </a:solidFill>
              </a:rPr>
              <a:t>• 90-minute onboarding per teacher; 100% pass rate gates classroom go-live</a:t>
            </a:r>
          </a:p>
          <a:p>
            <a:pPr/>
            <a:r>
              <a:rPr sz="1800" b="0">
                <a:solidFill>
                  <a:srgbClr val="FFFFFF"/>
                </a:solidFill>
              </a:rPr>
              <a:t>• Country Customer Success Manager per market (CHRO + Country Mgr accountability)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From 12 months to 6 weeks per market — same quality bar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NL → DE → BE / PL / RO, pedagogy-led, ministry-aligned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ROLL-OUT</a:t>
            </a:r>
          </a:p>
          <a:p>
            <a:pPr/>
            <a:r>
              <a:rPr sz="1800" b="0">
                <a:solidFill>
                  <a:srgbClr val="FFFFFF"/>
                </a:solidFill>
              </a:rPr>
              <a:t>• M5–M8: NL pilot (20 schools), prove KPI trajectory</a:t>
            </a:r>
          </a:p>
          <a:p>
            <a:pPr/>
            <a:r>
              <a:rPr sz="1800" b="0">
                <a:solidFill>
                  <a:srgbClr val="FFFFFF"/>
                </a:solidFill>
              </a:rPr>
              <a:t>• M8–M10: DE launch (50+ schools), CE marking obtained</a:t>
            </a:r>
          </a:p>
          <a:p>
            <a:pPr/>
            <a:r>
              <a:rPr sz="1800" b="0">
                <a:solidFill>
                  <a:srgbClr val="FFFFFF"/>
                </a:solidFill>
              </a:rPr>
              <a:t>• M10–M12: pick BE/PL/RO based on ministry traction</a:t>
            </a:r>
          </a:p>
          <a:p>
            <a:pPr/>
            <a:r>
              <a:rPr sz="1800" b="0">
                <a:solidFill>
                  <a:srgbClr val="FFFFFF"/>
                </a:solidFill>
              </a:rPr>
              <a:t>• M12+: continuous content velocity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AS A PIPELINE</a:t>
            </a:r>
          </a:p>
          <a:p>
            <a:pPr/>
            <a:r>
              <a:rPr sz="1800" b="0">
                <a:solidFill>
                  <a:srgbClr val="FFFFFF"/>
                </a:solidFill>
              </a:rPr>
              <a:t>• Glossaries v0 per subject × country shipped in Phase 0</a:t>
            </a:r>
          </a:p>
          <a:p>
            <a:pPr/>
            <a:r>
              <a:rPr sz="1800" b="0">
                <a:solidFill>
                  <a:srgbClr val="FFFFFF"/>
                </a:solidFill>
              </a:rPr>
              <a:t>• Azure OpenAI + AI Search retrieval-augmented translation</a:t>
            </a:r>
          </a:p>
          <a:p>
            <a:pPr/>
            <a:r>
              <a:rPr sz="1800" b="0">
                <a:solidFill>
                  <a:srgbClr val="FFFFFF"/>
                </a:solidFill>
              </a:rPr>
              <a:t>• Reviewer-in-the-loop *never* optional — first-pass acceptance ≥ 80% target</a:t>
            </a:r>
          </a:p>
          <a:p>
            <a:pPr/>
            <a:r>
              <a:rPr sz="1800" b="0">
                <a:solidFill>
                  <a:srgbClr val="FFFFFF"/>
                </a:solidFill>
              </a:rPr>
              <a:t>• Throughput tracked weekly: units / week /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Two councils, nine specialist agents, one accountable chain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Pedagogical sign-off before technical sign-off — non-negotiable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BODIES</a:t>
            </a:r>
          </a:p>
          <a:p>
            <a:pPr/>
            <a:r>
              <a:rPr sz="1800" b="0">
                <a:solidFill>
                  <a:srgbClr val="FFFFFF"/>
                </a:solidFill>
              </a:rPr>
              <a:t>• Steering Committee — monthly · KPI + risk + spend · CEO/CFO/COO/CRO chair</a:t>
            </a:r>
          </a:p>
          <a:p>
            <a:pPr/>
            <a:r>
              <a:rPr sz="1800" b="0">
                <a:solidFill>
                  <a:srgbClr val="FFFFFF"/>
                </a:solidFill>
              </a:rPr>
              <a:t>• Responsible AI Council — bi-weekly · release gates · CAIO/RAI Evaluator chair</a:t>
            </a:r>
          </a:p>
          <a:p>
            <a:pPr/>
            <a:r>
              <a:rPr sz="1800" b="0">
                <a:solidFill>
                  <a:srgbClr val="FFFFFF"/>
                </a:solidFill>
              </a:rPr>
              <a:t>• Architecture Review Board — bi-weekly · technical decisions · CTO chair</a:t>
            </a:r>
          </a:p>
          <a:p>
            <a:pPr/>
            <a:r>
              <a:rPr sz="1800" b="0">
                <a:solidFill>
                  <a:srgbClr val="FFFFFF"/>
                </a:solidFill>
              </a:rPr>
              <a:t>• Teacher Council — per release · pedagogical sign-off · Learning Sciences chair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SPECIALIST AGENTS</a:t>
            </a:r>
          </a:p>
          <a:p>
            <a:pPr/>
            <a:r>
              <a:rPr sz="1800" b="0">
                <a:solidFill>
                  <a:srgbClr val="FFFFFF"/>
                </a:solidFill>
              </a:rPr>
              <a:t>• 9 named accountable roles: Orchestrator, AI Act CO, GDPR specialist,</a:t>
            </a:r>
          </a:p>
          <a:p>
            <a:pPr/>
            <a:r>
              <a:rPr sz="1800" b="0">
                <a:solidFill>
                  <a:srgbClr val="FFFFFF"/>
                </a:solidFill>
              </a:rPr>
              <a:t>• Each feature is delivered by a *named* agent, not a generic team</a:t>
            </a:r>
          </a:p>
          <a:p>
            <a:pPr/>
            <a:r>
              <a:rPr sz="1800" b="0">
                <a:solidFill>
                  <a:srgbClr val="FFFFFF"/>
                </a:solidFill>
              </a:rPr>
              <a:t>• Cross-Agent QA audits every deliverable before phase gate</a:t>
            </a:r>
          </a:p>
          <a:p>
            <a:pPr/>
            <a:r>
              <a:rPr sz="1800" b="0">
                <a:solidFill>
                  <a:srgbClr val="FFFFFF"/>
                </a:solidFill>
              </a:rPr>
              <a:t>• Decisions logged in specs/&lt;NNN-feature&gt;/ (spec-driven, traceable)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5 phases, 12 months, every gate is a hard stop</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First market live month 8 · CE-marked month 10 · 3 markets by month 12</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PHASES</a:t>
            </a:r>
          </a:p>
          <a:p>
            <a:pPr/>
            <a:r>
              <a:rPr sz="1800" b="0">
                <a:solidFill>
                  <a:srgbClr val="FFFFFF"/>
                </a:solidFill>
              </a:rPr>
              <a:t>• P0 · M0–M2 · Foundations: DPIA + AI Act file + landing zone</a:t>
            </a:r>
          </a:p>
          <a:p>
            <a:pPr/>
            <a:r>
              <a:rPr sz="1800" b="0">
                <a:solidFill>
                  <a:srgbClr val="FFFFFF"/>
                </a:solidFill>
              </a:rPr>
              <a:t>• P1 · M2–M5 · MVP: 3 AI features behind flags, NL only</a:t>
            </a:r>
          </a:p>
          <a:p>
            <a:pPr/>
            <a:r>
              <a:rPr sz="1800" b="0">
                <a:solidFill>
                  <a:srgbClr val="FFFFFF"/>
                </a:solidFill>
              </a:rPr>
              <a:t>• P2 · M5–M8 · NL pilot: 20 schools, KPI trends confirmed</a:t>
            </a:r>
          </a:p>
          <a:p>
            <a:pPr/>
            <a:r>
              <a:rPr sz="1800" b="0">
                <a:solidFill>
                  <a:srgbClr val="FFFFFF"/>
                </a:solidFill>
              </a:rPr>
              <a:t>• P3 · M8–M10 · CE marking + DE launch (≥ 50 schools)</a:t>
            </a:r>
          </a:p>
          <a:p>
            <a:pPr/>
            <a:r>
              <a:rPr sz="1800" b="0">
                <a:solidFill>
                  <a:srgbClr val="FFFFFF"/>
                </a:solidFill>
              </a:rPr>
              <a:t>• P4 · M10–M12 · Scale-out: 3rd market, multi-region drill</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GATE CONDITIONS</a:t>
            </a:r>
          </a:p>
          <a:p>
            <a:pPr/>
            <a:r>
              <a:rPr sz="1800" b="0">
                <a:solidFill>
                  <a:srgbClr val="FFFFFF"/>
                </a:solidFill>
              </a:rPr>
              <a:t>• P0 → P1: DPIA approved 5/5 DPAs · AI Act Annex IV skeleton complete</a:t>
            </a:r>
          </a:p>
          <a:p>
            <a:pPr/>
            <a:r>
              <a:rPr sz="1800" b="0">
                <a:solidFill>
                  <a:srgbClr val="FFFFFF"/>
                </a:solidFill>
              </a:rPr>
              <a:t>• P1 → P2: RAI gate v1 passed · alpha 50 testers · 0 critical incidents</a:t>
            </a:r>
          </a:p>
          <a:p>
            <a:pPr/>
            <a:r>
              <a:rPr sz="1800" b="0">
                <a:solidFill>
                  <a:srgbClr val="FFFFFF"/>
                </a:solidFill>
              </a:rPr>
              <a:t>• P2 → P3: outcome gap trending ≥ −10pp · 0 reportable incidents</a:t>
            </a:r>
          </a:p>
          <a:p>
            <a:pPr/>
            <a:r>
              <a:rPr sz="1800" b="0">
                <a:solidFill>
                  <a:srgbClr val="FFFFFF"/>
                </a:solidFill>
              </a:rPr>
              <a:t>• P3 → P4: CE marking in hand · DE KPIs ≥ NL trajectory</a:t>
            </a:r>
          </a:p>
          <a:p>
            <a:pPr/>
            <a:r>
              <a:rPr sz="1800" b="0">
                <a:solidFill>
                  <a:srgbClr val="FFFFFF"/>
                </a:solidFill>
              </a:rPr>
              <a:t>• P4 → P5: 3 markets live · all 5 KPIs on plan · cost/learner in budget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7 minutes · 3 personas · 1 live backend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Teacher → Learner → Parent · rg-learneu-demo · West Europe</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0">
                <a:solidFill>
                  <a:srgbClr val="FFFFFF"/>
                </a:solidFill>
              </a:rPr>
              <a:t>• 00:00 · Pre-flight: 3 green pills, browser zoom 110 %</a:t>
            </a:r>
          </a:p>
          <a:p>
            <a:pPr/>
            <a:r>
              <a:rPr sz="1600" b="0">
                <a:solidFill>
                  <a:srgbClr val="FFFFFF"/>
                </a:solidFill>
              </a:rPr>
              <a:t>• 00:30 · Teacher Console — Lucas (DE Year-7) remediation plan, explainable</a:t>
            </a:r>
          </a:p>
          <a:p>
            <a:pPr/>
            <a:r>
              <a:rPr sz="1600" b="0">
                <a:solidFill>
                  <a:srgbClr val="FFFFFF"/>
                </a:solidFill>
              </a:rPr>
              <a:t>• 02:30 · Learner Web — adaptive ONNX picker (P-correct target ≈ 0.7)</a:t>
            </a:r>
          </a:p>
          <a:p>
            <a:pPr/>
            <a:r>
              <a:rPr sz="1600" b="0">
                <a:solidFill>
                  <a:srgbClr val="FFFFFF"/>
                </a:solidFill>
              </a:rPr>
              <a:t>• 04:30 · Parent Portal — GDPR Art. 8 question, native-language reply</a:t>
            </a:r>
          </a:p>
          <a:p>
            <a:pPr/>
            <a:r>
              <a:rPr sz="1600" b="0">
                <a:solidFill>
                  <a:srgbClr val="FFFFFF"/>
                </a:solidFill>
              </a:rPr>
              <a:t>• 06:00 · Admin Console — Activity + Safety panels, live audit trail</a:t>
            </a:r>
          </a:p>
          <a:p>
            <a:pPr/>
            <a:r>
              <a:rPr sz="1600" b="0">
                <a:solidFill>
                  <a:srgbClr val="FFFFFF"/>
                </a:solidFill>
              </a:rPr>
              <a:t>• 07:00 · Back to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€18–22M build, ~€6M/yr run — predictable, optimised, sustainable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Provisioned throughput where it matters, PAYG where it doesn't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INVESTMENT SHAPE</a:t>
            </a:r>
          </a:p>
          <a:p>
            <a:pPr/>
            <a:r>
              <a:rPr sz="1800" b="0">
                <a:solidFill>
                  <a:srgbClr val="FFFFFF"/>
                </a:solidFill>
              </a:rPr>
              <a:t>• Build (12 months): €18–22M total — split 45% platform, 30% AI, 25% compliance/UX</a:t>
            </a:r>
          </a:p>
          <a:p>
            <a:pPr/>
            <a:r>
              <a:rPr sz="1800" b="0">
                <a:solidFill>
                  <a:srgbClr val="FFFFFF"/>
                </a:solidFill>
              </a:rPr>
              <a:t>• Run (steady-state): ~€6M/yr — Azure ~55%, people ~35%, sub-processors ~10%</a:t>
            </a:r>
          </a:p>
          <a:p>
            <a:pPr/>
            <a:r>
              <a:rPr sz="1800" b="0">
                <a:solidFill>
                  <a:srgbClr val="FFFFFF"/>
                </a:solidFill>
              </a:rPr>
              <a:t>• ~€2M contingency held against R8 (OpenAI cost runaway)</a:t>
            </a:r>
          </a:p>
          <a:p>
            <a:pPr/>
            <a:r>
              <a:rPr sz="1800" b="0">
                <a:solidFill>
                  <a:srgbClr val="FFFFFF"/>
                </a:solidFill>
              </a:rPr>
              <a:t>• Compliance cost = same whether done now or later — sunk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FINOPS LEVERS</a:t>
            </a:r>
          </a:p>
          <a:p>
            <a:pPr/>
            <a:r>
              <a:rPr sz="1800" b="0">
                <a:solidFill>
                  <a:srgbClr val="FFFFFF"/>
                </a:solidFill>
              </a:rPr>
              <a:t>• Provisioned Throughput Units (PTU) on OpenAI for predictable localisation load</a:t>
            </a:r>
          </a:p>
          <a:p>
            <a:pPr/>
            <a:r>
              <a:rPr sz="1800" b="0">
                <a:solidFill>
                  <a:srgbClr val="FFFFFF"/>
                </a:solidFill>
              </a:rPr>
              <a:t>• Caching of repeated localisations — ≈ 30% cost avoidance modelled</a:t>
            </a:r>
          </a:p>
          <a:p>
            <a:pPr/>
            <a:r>
              <a:rPr sz="1800" b="0">
                <a:solidFill>
                  <a:srgbClr val="FFFFFF"/>
                </a:solidFill>
              </a:rPr>
              <a:t>• Fine-tuned smaller models for routine grading — vs frontier for edge cases</a:t>
            </a:r>
          </a:p>
          <a:p>
            <a:pPr/>
            <a:r>
              <a:rPr sz="1800" b="0">
                <a:solidFill>
                  <a:srgbClr val="FFFFFF"/>
                </a:solidFill>
              </a:rPr>
              <a:t>• Cost / learner / month is a board-reported KPI (with carbon proxy in A16)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Top 6 risks — owned, mitigated, contingent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None of them is a project-killer if managed actively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TOP RISKS</a:t>
            </a:r>
          </a:p>
          <a:p>
            <a:pPr/>
            <a:r>
              <a:rPr sz="1800" b="0">
                <a:solidFill>
                  <a:srgbClr val="FFFFFF"/>
                </a:solidFill>
              </a:rPr>
              <a:t>• R1 · National DPA blocks DPIA (sev 15) — owner DPO</a:t>
            </a:r>
          </a:p>
          <a:p>
            <a:pPr/>
            <a:r>
              <a:rPr sz="1800" b="0">
                <a:solidFill>
                  <a:srgbClr val="FFFFFF"/>
                </a:solidFill>
              </a:rPr>
              <a:t>• R3 · Federated learning doesn't converge (sev 12) — owner ML Lead</a:t>
            </a:r>
          </a:p>
          <a:p>
            <a:pPr/>
            <a:r>
              <a:rPr sz="1800" b="0">
                <a:solidFill>
                  <a:srgbClr val="FFFFFF"/>
                </a:solidFill>
              </a:rPr>
              <a:t>• R4 · Localisation quality drift (sev 16) — owner Editorial Director</a:t>
            </a:r>
          </a:p>
          <a:p>
            <a:pPr/>
            <a:r>
              <a:rPr sz="1800" b="0">
                <a:solidFill>
                  <a:srgbClr val="FFFFFF"/>
                </a:solidFill>
              </a:rPr>
              <a:t>• R6 · Bias disparity &gt; 5pp on launched cohort (sev 15) — owner RAI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MITIGATIONS &amp; CONTINGENCIES</a:t>
            </a:r>
          </a:p>
          <a:p>
            <a:pPr/>
            <a:r>
              <a:rPr sz="1600" b="0">
                <a:solidFill>
                  <a:srgbClr val="FFFFFF"/>
                </a:solidFill>
              </a:rPr>
              <a:t>• R1 → engage DPAs from M0 · contingency: delay that market only</a:t>
            </a:r>
          </a:p>
          <a:p>
            <a:pPr/>
            <a:r>
              <a:rPr sz="1600" b="0">
                <a:solidFill>
                  <a:srgbClr val="FFFFFF"/>
                </a:solidFill>
              </a:rPr>
              <a:t>• R3 → DP central-training fallback on opt-in cohort</a:t>
            </a:r>
          </a:p>
          <a:p>
            <a:pPr/>
            <a:r>
              <a:rPr sz="1600" b="0">
                <a:solidFill>
                  <a:srgbClr val="FFFFFF"/>
                </a:solidFill>
              </a:rPr>
              <a:t>• R4 → reviewer never optional · staff up if first-pass &lt; 80%</a:t>
            </a:r>
          </a:p>
          <a:p>
            <a:pPr/>
            <a:r>
              <a:rPr sz="1600" b="0">
                <a:solidFill>
                  <a:srgbClr val="FFFFFF"/>
                </a:solidFill>
              </a:rPr>
              <a:t>• R6 → per-cohort gates in release · same-day rollback ready</a:t>
            </a:r>
          </a:p>
          <a:p>
            <a:pPr/>
            <a:r>
              <a:rPr sz="1600" b="0">
                <a:solidFill>
                  <a:srgbClr val="FFFFFF"/>
                </a:solidFill>
              </a:rPr>
              <a:t>• R8 · OpenAI cost runaway → PTU + caching · contingency € reserved</a:t>
            </a:r>
          </a:p>
          <a:p>
            <a:pPr/>
            <a:r>
              <a:rPr sz="1600" b="0">
                <a:solidFill>
                  <a:srgbClr val="FFFFFF"/>
                </a:solidFill>
              </a:rPr>
              <a:t>• R10 · Art. 73 serious incident → kill switch + drilled 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What the board will see every month</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5 KPIs · 6 risks · 1 compliance posture · 1 cost / learner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OUTCOMES &amp; ADOPTION</a:t>
            </a:r>
          </a:p>
          <a:p>
            <a:pPr/>
            <a:r>
              <a:rPr sz="1800" b="0">
                <a:solidFill>
                  <a:srgbClr val="FFFFFF"/>
                </a:solidFill>
              </a:rPr>
              <a:t>• K1 outcome gap trajectory (per cohort, per market)</a:t>
            </a:r>
          </a:p>
          <a:p>
            <a:pPr/>
            <a:r>
              <a:rPr sz="1800" b="0">
                <a:solidFill>
                  <a:srgbClr val="FFFFFF"/>
                </a:solidFill>
              </a:rPr>
              <a:t>• K2 teacher minutes saved (telemetry + quarterly NPS)</a:t>
            </a:r>
          </a:p>
          <a:p>
            <a:pPr/>
            <a:r>
              <a:rPr sz="1800" b="0">
                <a:solidFill>
                  <a:srgbClr val="FFFFFF"/>
                </a:solidFill>
              </a:rPr>
              <a:t>• K3 localisation throughput (units / week / market)</a:t>
            </a:r>
          </a:p>
          <a:p>
            <a:pPr/>
            <a:r>
              <a:rPr sz="1800" b="0">
                <a:solidFill>
                  <a:srgbClr val="FFFFFF"/>
                </a:solidFill>
              </a:rPr>
              <a:t>• Adoption: schools onboarded · teacher trust NPS · parent active usage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TRUST, RISK, COST</a:t>
            </a:r>
          </a:p>
          <a:p>
            <a:pPr/>
            <a:r>
              <a:rPr sz="1800" b="0">
                <a:solidFill>
                  <a:srgbClr val="FFFFFF"/>
                </a:solidFill>
              </a:rPr>
              <a:t>• K4 GDPR Art. 8 status (DPIA freshness, erasure SLA)</a:t>
            </a:r>
          </a:p>
          <a:p>
            <a:pPr/>
            <a:r>
              <a:rPr sz="1800" b="0">
                <a:solidFill>
                  <a:srgbClr val="FFFFFF"/>
                </a:solidFill>
              </a:rPr>
              <a:t>• K5 EU AI Act conformity (Annex IV coverage, override rate, incidents)</a:t>
            </a:r>
          </a:p>
          <a:p>
            <a:pPr/>
            <a:r>
              <a:rPr sz="1800" b="0">
                <a:solidFill>
                  <a:srgbClr val="FFFFFF"/>
                </a:solidFill>
              </a:rPr>
              <a:t>• Top 6 risks heat-map with owner + RAG status</a:t>
            </a:r>
          </a:p>
          <a:p>
            <a:pPr/>
            <a:r>
              <a:rPr sz="1800" b="0">
                <a:solidFill>
                  <a:srgbClr val="FFFFFF"/>
                </a:solidFill>
              </a:rPr>
              <a:t>• Cost / learner / month + carbon proxy (A16)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PLANE</a:t>
            </a:r>
          </a:p>
          <a:p>
            <a:pPr/>
            <a:r>
              <a:rPr sz="1800" b="0">
                <a:solidFill>
                  <a:srgbClr val="FFFFFF"/>
                </a:solidFill>
              </a:rPr>
              <a:t>• Sources: SIS (pseudonymised), teacher content, national curricula, devices</a:t>
            </a:r>
          </a:p>
          <a:p>
            <a:pPr/>
            <a:r>
              <a:rPr sz="1800" b="0">
                <a:solidFill>
                  <a:srgbClr val="FFFFFF"/>
                </a:solidFill>
              </a:rPr>
              <a:t>• Ingestion: APIM (front door) + Event Hubs + ADF (batch)</a:t>
            </a:r>
          </a:p>
          <a:p>
            <a:pPr/>
            <a:r>
              <a:rPr sz="1800" b="0">
                <a:solidFill>
                  <a:srgbClr val="FFFFFF"/>
                </a:solidFill>
              </a:rPr>
              <a:t>• Storage: Fabric OneLake (Bronze/Silver/Gold) + Feature Store + immutable audit</a:t>
            </a:r>
          </a:p>
          <a:p>
            <a:pPr/>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SERVING</a:t>
            </a:r>
          </a:p>
          <a:p>
            <a:pPr/>
            <a:r>
              <a:rPr sz="1800" b="0">
                <a:solidFill>
                  <a:srgbClr val="FFFFFF"/>
                </a:solidFill>
              </a:rPr>
              <a:t>• Training: Azure ML (federated runtime + DP) + Confidential Computing</a:t>
            </a:r>
          </a:p>
          <a:p>
            <a:pPr/>
            <a:r>
              <a:rPr sz="1800" b="0">
                <a:solidFill>
                  <a:srgbClr val="FFFFFF"/>
                </a:solidFill>
              </a:rPr>
              <a:t>• Generation: Azure OpenAI + AI Search (RAG) + Content Safety gate</a:t>
            </a:r>
          </a:p>
          <a:p>
            <a:pPr/>
            <a:r>
              <a:rPr sz="1800" b="0">
                <a:solidFill>
                  <a:srgbClr val="FFFFFF"/>
                </a:solidFill>
              </a:rPr>
              <a:t>• Serving: ONNX on-device (default) + AML Online Endpoints (fallback)</a:t>
            </a:r>
          </a:p>
          <a:p>
            <a:pPr/>
            <a:r>
              <a:rPr sz="1800" b="0">
                <a:solidFill>
                  <a:srgbClr val="FFFFFF"/>
                </a:solidFill>
              </a:rPr>
              <a:t>• Surfaces: Teacher Console · Learner Web · Parent Portal · Power BI in Fabric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IDENTITY, DATA, SECURITY</a:t>
            </a:r>
          </a:p>
          <a:p>
            <a:pPr/>
            <a:r>
              <a:rPr sz="1800" b="0">
                <a:solidFill>
                  <a:srgbClr val="FFFFFF"/>
                </a:solidFill>
              </a:rPr>
              <a:t>• Azure AD B2C — parent/learner identity, per-country tenants</a:t>
            </a:r>
          </a:p>
          <a:p>
            <a:pPr/>
            <a:r>
              <a:rPr sz="1800" b="0">
                <a:solidFill>
                  <a:srgbClr val="FFFFFF"/>
                </a:solidFill>
              </a:rPr>
              <a:t>• Microsoft Fabric — OneLake + Notebooks + embedded Power BI</a:t>
            </a:r>
          </a:p>
          <a:p>
            <a:pPr/>
            <a:r>
              <a:rPr sz="1800" b="0">
                <a:solidFill>
                  <a:srgbClr val="FFFFFF"/>
                </a:solidFill>
              </a:rPr>
              <a:t>• Microsoft Purview — catalog, sensitivity labels, lineage, DLP</a:t>
            </a:r>
          </a:p>
          <a:p>
            <a:pPr/>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OBSERVABILITY</a:t>
            </a:r>
          </a:p>
          <a:p>
            <a:pPr/>
            <a:r>
              <a:rPr sz="1800" b="0">
                <a:solidFill>
                  <a:srgbClr val="FFFFFF"/>
                </a:solidFill>
              </a:rPr>
              <a:t>• Azure Machine Learning — adaptive + assessment models, registry, monitoring</a:t>
            </a:r>
          </a:p>
          <a:p>
            <a:pPr/>
            <a:r>
              <a:rPr sz="1800" b="0">
                <a:solidFill>
                  <a:srgbClr val="FFFFFF"/>
                </a:solidFill>
              </a:rPr>
              <a:t>• Azure OpenAI — localisation + formative feedback (EU Data Boundary)</a:t>
            </a:r>
          </a:p>
          <a:p>
            <a:pPr/>
            <a:r>
              <a:rPr sz="1800" b="0">
                <a:solidFill>
                  <a:srgbClr val="FFFFFF"/>
                </a:solidFill>
              </a:rPr>
              <a:t>• Azure AI Content Safety — gate on every generative output</a:t>
            </a:r>
          </a:p>
          <a:p>
            <a:pPr/>
            <a:r>
              <a:rPr sz="1800" b="0">
                <a:solidFill>
                  <a:srgbClr val="FFFFFF"/>
                </a:solidFill>
              </a:rPr>
              <a:t>• Power BI — teacher/school/ministry dashboards (embedded in Fabric)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PERSONALISATION LOOP</a:t>
            </a:r>
          </a:p>
          <a:p>
            <a:pPr/>
            <a:r>
              <a:rPr sz="1800" b="0">
                <a:solidFill>
                  <a:srgbClr val="FFFFFF"/>
                </a:solidFill>
              </a:rPr>
              <a:t>• Default = on-device inference (ONNX); no learner-level data sent</a:t>
            </a:r>
          </a:p>
          <a:p>
            <a:pPr/>
            <a:r>
              <a:rPr sz="1800" b="0">
                <a:solidFill>
                  <a:srgbClr val="FFFFFF"/>
                </a:solidFill>
              </a:rPr>
              <a:t>• Periodic federated round: device → DP-protected gradients → secure aggregation</a:t>
            </a:r>
          </a:p>
          <a:p>
            <a:pPr/>
            <a:r>
              <a:rPr sz="1800" b="0">
                <a:solidFill>
                  <a:srgbClr val="FFFFFF"/>
                </a:solidFill>
              </a:rPr>
              <a:t>• Updated model published to registry → re-deployed to devices</a:t>
            </a:r>
          </a:p>
          <a:p>
            <a:pPr/>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GRADING &amp; LOCALISATION</a:t>
            </a:r>
          </a:p>
          <a:p>
            <a:pPr/>
            <a:r>
              <a:rPr sz="1800" b="0">
                <a:solidFill>
                  <a:srgbClr val="FFFFFF"/>
                </a:solidFill>
              </a:rPr>
              <a:t>• Grading: submission → APIM → AML endpoint (no payload retention) → teacher review</a:t>
            </a:r>
          </a:p>
          <a:p>
            <a:pPr/>
            <a:r>
              <a:rPr sz="1800" b="0">
                <a:solidFill>
                  <a:srgbClr val="FFFFFF"/>
                </a:solidFill>
              </a:rPr>
              <a:t>• Localisation: source content → AI Search retrieval → Azure OpenAI → reviewer</a:t>
            </a:r>
          </a:p>
          <a:p>
            <a:pPr/>
            <a:r>
              <a:rPr sz="1800" b="0">
                <a:solidFill>
                  <a:srgbClr val="FFFFFF"/>
                </a:solidFill>
              </a:rPr>
              <a:t>• All generative outputs pass Content Safety before reaching surface</a:t>
            </a:r>
          </a:p>
          <a:p>
            <a:pPr/>
            <a:r>
              <a:rPr sz="1800" b="0">
                <a:solidFill>
                  <a:srgbClr val="FFFFFF"/>
                </a:solidFill>
              </a:rPr>
              <a:t>• Audit log written for every AI decision (AI Act Art.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LAWFUL BASIS &amp; CONSENT</a:t>
            </a:r>
          </a:p>
          <a:p>
            <a:pPr/>
            <a:r>
              <a:rPr sz="1800" b="0">
                <a:solidFill>
                  <a:srgbClr val="FFFFFF"/>
                </a:solidFill>
              </a:rPr>
              <a:t>• Default consent age: 16 (NL standard, strictest of 5 markets)</a:t>
            </a:r>
          </a:p>
          <a:p>
            <a:pPr/>
            <a:r>
              <a:rPr sz="1800" b="0">
                <a:solidFill>
                  <a:srgbClr val="FFFFFF"/>
                </a:solidFill>
              </a:rPr>
              <a:t>• Guardian consent flow for under-16 via verifiable parent identity</a:t>
            </a:r>
          </a:p>
          <a:p>
            <a:pPr/>
            <a:r>
              <a:rPr sz="1800" b="0">
                <a:solidFill>
                  <a:srgbClr val="FFFFFF"/>
                </a:solidFill>
              </a:rPr>
              <a:t>• Lawful basis matrix: contract (school) + consent (personalisation) + legitimate interest (security)</a:t>
            </a:r>
          </a:p>
          <a:p>
            <a:pPr/>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RIGHTS &amp; EVIDENCE</a:t>
            </a:r>
          </a:p>
          <a:p>
            <a:pPr/>
            <a:r>
              <a:rPr sz="1800" b="0">
                <a:solidFill>
                  <a:srgbClr val="FFFFFF"/>
                </a:solidFill>
              </a:rPr>
              <a:t>• Subject Access Request — automated, 30-day SLA</a:t>
            </a:r>
          </a:p>
          <a:p>
            <a:pPr/>
            <a:r>
              <a:rPr sz="1800" b="0">
                <a:solidFill>
                  <a:srgbClr val="FFFFFF"/>
                </a:solidFill>
              </a:rPr>
              <a:t>• Right to erasure cascades through Purview lineage — vérifiable</a:t>
            </a:r>
          </a:p>
          <a:p>
            <a:pPr/>
            <a:r>
              <a:rPr sz="1800" b="0">
                <a:solidFill>
                  <a:srgbClr val="FFFFFF"/>
                </a:solidFill>
              </a:rPr>
              <a:t>• DPIA per market, refreshed annually or on material change</a:t>
            </a:r>
          </a:p>
          <a:p>
            <a:pPr/>
            <a:r>
              <a:rPr sz="1800" b="0">
                <a:solidFill>
                  <a:srgbClr val="FFFFFF"/>
                </a:solidFill>
              </a:rPr>
              <a:t>• Annual GDPR Art. 30 review at Steering Committee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BUILD OBLIGATIONS</a:t>
            </a:r>
          </a:p>
          <a:p>
            <a:pPr/>
            <a:r>
              <a:rPr sz="1800" b="0">
                <a:solidFill>
                  <a:srgbClr val="FFFFFF"/>
                </a:solidFill>
              </a:rPr>
              <a:t>• Art. 9 · risk-management system per feature</a:t>
            </a:r>
          </a:p>
          <a:p>
            <a:pPr/>
            <a:r>
              <a:rPr sz="1800" b="0">
                <a:solidFill>
                  <a:srgbClr val="FFFFFF"/>
                </a:solidFill>
              </a:rPr>
              <a:t>• Art. 10 · data &amp; data governance (quality, bias, representativeness)</a:t>
            </a:r>
          </a:p>
          <a:p>
            <a:pPr/>
            <a:r>
              <a:rPr sz="1800" b="0">
                <a:solidFill>
                  <a:srgbClr val="FFFFFF"/>
                </a:solidFill>
              </a:rPr>
              <a:t>• Art. 11 · technical documentation (Annex IV file)</a:t>
            </a:r>
          </a:p>
          <a:p>
            <a:pPr/>
            <a:r>
              <a:rPr sz="1800" b="0">
                <a:solidFill>
                  <a:srgbClr val="FFFFFF"/>
                </a:solidFill>
              </a:rPr>
              <a:t>• Art. 12 · logging — immutable, 6-month minimum retention</a:t>
            </a:r>
          </a:p>
          <a:p>
            <a:pPr/>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OPERATE OBLIGATIONS</a:t>
            </a:r>
          </a:p>
          <a:p>
            <a:pPr/>
            <a:r>
              <a:rPr sz="1800" b="0">
                <a:solidFill>
                  <a:srgbClr val="FFFFFF"/>
                </a:solidFill>
              </a:rPr>
              <a:t>• Art. 14 · human oversight (teacher-in-the-loop, kill switch)</a:t>
            </a:r>
          </a:p>
          <a:p>
            <a:pPr/>
            <a:r>
              <a:rPr sz="1800" b="0">
                <a:solidFill>
                  <a:srgbClr val="FFFFFF"/>
                </a:solidFill>
              </a:rPr>
              <a:t>• Art. 15 · accuracy, robustness, cybersecurity</a:t>
            </a:r>
          </a:p>
          <a:p>
            <a:pPr/>
            <a:r>
              <a:rPr sz="1800" b="0">
                <a:solidFill>
                  <a:srgbClr val="FFFFFF"/>
                </a:solidFill>
              </a:rPr>
              <a:t>• Art. 43 · conformity assessment + CE marking (target M10)</a:t>
            </a:r>
          </a:p>
          <a:p>
            <a:pPr/>
            <a:r>
              <a:rPr sz="1800" b="0">
                <a:solidFill>
                  <a:srgbClr val="FFFFFF"/>
                </a:solidFill>
              </a:rPr>
              <a:t>• Art. 72 · post-market monitoring (live from first pilot)</a:t>
            </a:r>
          </a:p>
          <a:p>
            <a:pPr/>
            <a:r>
              <a:rPr sz="1800" b="0">
                <a:solidFill>
                  <a:srgbClr val="FFFFFF"/>
                </a:solidFill>
              </a:rPr>
              <a:t>• Art. 73 · serious-incident reporting (drilled IR, statutory window)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A6 · On-device · Federated · Differential Privacy · Confidential Compute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Production-grade, EU-resident,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TECHNIQUES</a:t>
            </a:r>
          </a:p>
          <a:p>
            <a:pPr/>
            <a:r>
              <a:rPr sz="1800" b="0">
                <a:solidFill>
                  <a:srgbClr val="FFFFFF"/>
                </a:solidFill>
              </a:rPr>
              <a:t>• Default: on-device inference (ONNX Runtime Web / mobile)</a:t>
            </a:r>
          </a:p>
          <a:p>
            <a:pPr/>
            <a:r>
              <a:rPr sz="1800" b="0">
                <a:solidFill>
                  <a:srgbClr val="FFFFFF"/>
                </a:solidFill>
              </a:rPr>
              <a:t>• Federated training: device computes gradients locally</a:t>
            </a:r>
          </a:p>
          <a:p>
            <a:pPr/>
            <a:r>
              <a:rPr sz="1800" b="0">
                <a:solidFill>
                  <a:srgbClr val="FFFFFF"/>
                </a:solidFill>
              </a:rPr>
              <a:t>• Differential Privacy: noise added before transmission (ε budget tracked)</a:t>
            </a:r>
          </a:p>
          <a:p>
            <a:pPr/>
            <a:r>
              <a:rPr sz="1800" b="0">
                <a:solidFill>
                  <a:srgbClr val="FFFFFF"/>
                </a:solidFill>
              </a:rPr>
              <a:t>• Secure aggregation in Azure Confidential VMs / AKS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WHY IT WORKS</a:t>
            </a:r>
          </a:p>
          <a:p>
            <a:pPr/>
            <a:r>
              <a:rPr sz="1800" b="0">
                <a:solidFill>
                  <a:srgbClr val="FFFFFF"/>
                </a:solidFill>
              </a:rPr>
              <a:t>• Raw learner data never leaves device under default flow</a:t>
            </a:r>
          </a:p>
          <a:p>
            <a:pPr/>
            <a:r>
              <a:rPr sz="1800" b="0">
                <a:solidFill>
                  <a:srgbClr val="FFFFFF"/>
                </a:solidFill>
              </a:rPr>
              <a:t>• Centralised training only on opt-in cohorts with explicit consent</a:t>
            </a:r>
          </a:p>
          <a:p>
            <a:pPr/>
            <a:r>
              <a:rPr sz="1800" b="0">
                <a:solidFill>
                  <a:srgbClr val="FFFFFF"/>
                </a:solidFill>
              </a:rPr>
              <a:t>• Confidential Computing protects against the cloud operator itself</a:t>
            </a:r>
          </a:p>
          <a:p>
            <a:pPr/>
            <a:r>
              <a:rPr sz="1800" b="0">
                <a:solidFill>
                  <a:srgbClr val="FFFFFF"/>
                </a:solidFill>
              </a:rPr>
              <a:t>• Feature store carries no PII; lineage proves it in Purview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SELECTION</a:t>
            </a:r>
          </a:p>
          <a:p>
            <a:pPr/>
            <a:r>
              <a:rPr sz="1800" b="0">
                <a:solidFill>
                  <a:srgbClr val="FFFFFF"/>
                </a:solidFill>
              </a:rPr>
              <a:t>• Adaptive learner: custom small model trained on synthetic + federated data</a:t>
            </a:r>
          </a:p>
          <a:p>
            <a:pPr/>
            <a:r>
              <a:rPr sz="1800" b="0">
                <a:solidFill>
                  <a:srgbClr val="FFFFFF"/>
                </a:solidFill>
              </a:rPr>
              <a:t>• Assessment: fine-tuned Phi-class for structured grading</a:t>
            </a:r>
          </a:p>
          <a:p>
            <a:pPr/>
            <a:r>
              <a:rPr sz="1800" b="0">
                <a:solidFill>
                  <a:srgbClr val="FFFFFF"/>
                </a:solidFill>
              </a:rPr>
              <a:t>• Localisation: Azure OpenAI GPT-class with RAG + glossary grounding</a:t>
            </a:r>
          </a:p>
          <a:p>
            <a:pPr/>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EVALUATION GATES</a:t>
            </a:r>
          </a:p>
          <a:p>
            <a:pPr/>
            <a:r>
              <a:rPr sz="1800" b="0">
                <a:solidFill>
                  <a:srgbClr val="FFFFFF"/>
                </a:solidFill>
              </a:rPr>
              <a:t>• Fairness: per-cohort disparity ≤ 5 pp (gating)</a:t>
            </a:r>
          </a:p>
          <a:p>
            <a:pPr/>
            <a:r>
              <a:rPr sz="1800" b="0">
                <a:solidFill>
                  <a:srgbClr val="FFFFFF"/>
                </a:solidFill>
              </a:rPr>
              <a:t>• Calibration: ECE ≤ 0.05</a:t>
            </a:r>
          </a:p>
          <a:p>
            <a:pPr/>
            <a:r>
              <a:rPr sz="1800" b="0">
                <a:solidFill>
                  <a:srgbClr val="FFFFFF"/>
                </a:solidFill>
              </a:rPr>
              <a:t>• Safety: 0 critical Content Safety failures in eval suite</a:t>
            </a:r>
          </a:p>
          <a:p>
            <a:pPr/>
            <a:r>
              <a:rPr sz="1800" b="0">
                <a:solidFill>
                  <a:srgbClr val="FFFFFF"/>
                </a:solidFill>
              </a:rPr>
              <a:t>• Transparency: every decision must produce a teacher-readable explanation</a:t>
            </a:r>
          </a:p>
          <a:p>
            <a:pPr/>
            <a:r>
              <a:rPr sz="1800" b="0">
                <a:solidFill>
                  <a:srgbClr val="FFFFFF"/>
                </a:solidFill>
              </a:rPr>
              <a:t>• Re-evaluated quarterly; rollback playbook same-day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ROLES</a:t>
            </a:r>
          </a:p>
          <a:p>
            <a:pPr/>
            <a:r>
              <a:rPr sz="1800" b="0">
                <a:solidFill>
                  <a:srgbClr val="FFFFFF"/>
                </a:solidFill>
              </a:rPr>
              <a:t>• EdTech Program Orchestrator — coordinates, synthesises</a:t>
            </a:r>
          </a:p>
          <a:p>
            <a:pPr/>
            <a:r>
              <a:rPr sz="1800" b="0">
                <a:solidFill>
                  <a:srgbClr val="FFFFFF"/>
                </a:solidFill>
              </a:rPr>
              <a:t>• EU AI Act Compliance Officer · GDPR Children's Data Specialist</a:t>
            </a:r>
          </a:p>
          <a:p>
            <a:pPr/>
            <a:r>
              <a:rPr sz="1800" b="0">
                <a:solidFill>
                  <a:srgbClr val="FFFFFF"/>
                </a:solidFill>
              </a:rPr>
              <a:t>• Privacy-Preserving ML Engineer · Learning Sciences Expert</a:t>
            </a:r>
          </a:p>
          <a:p>
            <a:pPr/>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PATTERN</a:t>
            </a:r>
          </a:p>
          <a:p>
            <a:pPr/>
            <a:r>
              <a:rPr sz="1800" b="0">
                <a:solidFill>
                  <a:srgbClr val="FFFFFF"/>
                </a:solidFill>
              </a:rPr>
              <a:t>• Cross-Agent QA &amp; Verifier audits every other agent's output</a:t>
            </a:r>
          </a:p>
          <a:p>
            <a:pPr/>
            <a:r>
              <a:rPr sz="1800" b="0">
                <a:solidFill>
                  <a:srgbClr val="FFFFFF"/>
                </a:solidFill>
              </a:rPr>
              <a:t>• Demo Deployment Agent owns end-to-end environment provisioning</a:t>
            </a:r>
          </a:p>
          <a:p>
            <a:pPr/>
            <a:r>
              <a:rPr sz="1800" b="0">
                <a:solidFill>
                  <a:srgbClr val="FFFFFF"/>
                </a:solidFill>
              </a:rPr>
              <a:t>• Spec Kit slash commands: constitution → specify → clarify → plan →</a:t>
            </a:r>
          </a:p>
          <a:p>
            <a:pPr/>
            <a:r>
              <a:rPr sz="1800" b="0">
                <a:solidFill>
                  <a:srgbClr val="FFFFFF"/>
                </a:solidFill>
              </a:rPr>
              <a:t>• Every decision lands in specs/&lt;NNN-feature&gt;/ — traceable forever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TELEMETRY</a:t>
            </a:r>
          </a:p>
          <a:p>
            <a:pPr/>
            <a:r>
              <a:rPr sz="1800" b="0">
                <a:solidFill>
                  <a:srgbClr val="FFFFFF"/>
                </a:solidFill>
              </a:rPr>
              <a:t>• Application Insights per surface (Teacher · Learner · Parent · Admin)</a:t>
            </a:r>
          </a:p>
          <a:p>
            <a:pPr/>
            <a:r>
              <a:rPr sz="1800" b="0">
                <a:solidFill>
                  <a:srgbClr val="FFFFFF"/>
                </a:solidFill>
              </a:rPr>
              <a:t>• Custom events: ai_decision, override, content_safety_block, erasure_request</a:t>
            </a:r>
          </a:p>
          <a:p>
            <a:pPr/>
            <a:r>
              <a:rPr sz="1800" b="0">
                <a:solidFill>
                  <a:srgbClr val="FFFFFF"/>
                </a:solidFill>
              </a:rPr>
              <a:t>• Per-cohort fairness metrics aggregated continuously</a:t>
            </a:r>
          </a:p>
          <a:p>
            <a:pPr/>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IMMUTABLE AUDIT</a:t>
            </a:r>
          </a:p>
          <a:p>
            <a:pPr/>
            <a:r>
              <a:rPr sz="1800" b="0">
                <a:solidFill>
                  <a:srgbClr val="FFFFFF"/>
                </a:solidFill>
              </a:rPr>
              <a:t>• Azure Blob WORM storage, EU regions, 6-month minimum retention</a:t>
            </a:r>
          </a:p>
          <a:p>
            <a:pPr/>
            <a:r>
              <a:rPr sz="1800" b="0">
                <a:solidFill>
                  <a:srgbClr val="FFFFFF"/>
                </a:solidFill>
              </a:rPr>
              <a:t>• Append-only stream of every AI decision + override</a:t>
            </a:r>
          </a:p>
          <a:p>
            <a:pPr/>
            <a:r>
              <a:rPr sz="1800" b="0">
                <a:solidFill>
                  <a:srgbClr val="FFFFFF"/>
                </a:solidFill>
              </a:rPr>
              <a:t>• Tamper-evident hashes; quarterly integrity check</a:t>
            </a:r>
          </a:p>
          <a:p>
            <a:pPr/>
            <a:r>
              <a:rPr sz="1800" b="0">
                <a:solidFill>
                  <a:srgbClr val="FFFFFF"/>
                </a:solidFill>
              </a:rPr>
              <a:t>• Surfaced to RAI Council dashboard + Steering Committee monthly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SLOS</a:t>
            </a:r>
          </a:p>
          <a:p>
            <a:pPr/>
            <a:r>
              <a:rPr sz="1800" b="0">
                <a:solidFill>
                  <a:srgbClr val="FFFFFF"/>
                </a:solidFill>
              </a:rPr>
              <a:t>• API availability: 99.9% (excl. planned maintenance windows out of school hours)</a:t>
            </a:r>
          </a:p>
          <a:p>
            <a:pPr/>
            <a:r>
              <a:rPr sz="1800" b="0">
                <a:solidFill>
                  <a:srgbClr val="FFFFFF"/>
                </a:solidFill>
              </a:rPr>
              <a:t>• Adaptive picker p95 latency: ≤ 200 ms (on-device); ≤ 800 ms (fallback)</a:t>
            </a:r>
          </a:p>
          <a:p>
            <a:pPr/>
            <a:r>
              <a:rPr sz="1800" b="0">
                <a:solidFill>
                  <a:srgbClr val="FFFFFF"/>
                </a:solidFill>
              </a:rPr>
              <a:t>• Assessment grading p95: ≤ 3 s</a:t>
            </a:r>
          </a:p>
          <a:p>
            <a:pPr/>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RESILIENCE</a:t>
            </a:r>
          </a:p>
          <a:p>
            <a:pPr/>
            <a:r>
              <a:rPr sz="1800" b="0">
                <a:solidFill>
                  <a:srgbClr val="FFFFFF"/>
                </a:solidFill>
              </a:rPr>
              <a:t>• Multi-region within EU (West Europe ↔ North Europe; DE primary in Germany)</a:t>
            </a:r>
          </a:p>
          <a:p>
            <a:pPr/>
            <a:r>
              <a:rPr sz="1800" b="0">
                <a:solidFill>
                  <a:srgbClr val="FFFFFF"/>
                </a:solidFill>
              </a:rPr>
              <a:t>• DR drill quarterly; RPO ≤ 15 min, RTO ≤ 2 h</a:t>
            </a:r>
          </a:p>
          <a:p>
            <a:pPr/>
            <a:r>
              <a:rPr sz="1800" b="0">
                <a:solidFill>
                  <a:srgbClr val="FFFFFF"/>
                </a:solidFill>
              </a:rPr>
              <a:t>• APIM rate-limit per school to prevent noisy-neighbour</a:t>
            </a:r>
          </a:p>
          <a:p>
            <a:pPr/>
            <a:r>
              <a:rPr sz="1800" b="0">
                <a:solidFill>
                  <a:srgbClr val="FFFFFF"/>
                </a:solidFill>
              </a:rPr>
              <a:t>• Kill-switch wired per AI feature (sub-5-minute disable)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COST BREAKDOWN</a:t>
            </a:r>
          </a:p>
          <a:p>
            <a:pPr/>
            <a:r>
              <a:rPr sz="1800" b="0">
                <a:solidFill>
                  <a:srgbClr val="FFFFFF"/>
                </a:solidFill>
              </a:rPr>
              <a:t>• Azure compute &amp; storage: ~35% of run cost</a:t>
            </a:r>
          </a:p>
          <a:p>
            <a:pPr/>
            <a:r>
              <a:rPr sz="1800" b="0">
                <a:solidFill>
                  <a:srgbClr val="FFFFFF"/>
                </a:solidFill>
              </a:rPr>
              <a:t>• Azure OpenAI (localisation + grading): ~20% — biggest variable</a:t>
            </a:r>
          </a:p>
          <a:p>
            <a:pPr/>
            <a:r>
              <a:rPr sz="1800" b="0">
                <a:solidFill>
                  <a:srgbClr val="FFFFFF"/>
                </a:solidFill>
              </a:rPr>
              <a:t>• People (RAI, editorial, CSM, ops): ~35%</a:t>
            </a:r>
          </a:p>
          <a:p>
            <a:pPr/>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OPTIMISATION LEVERS</a:t>
            </a:r>
          </a:p>
          <a:p>
            <a:pPr/>
            <a:r>
              <a:rPr sz="1800" b="0">
                <a:solidFill>
                  <a:srgbClr val="FFFFFF"/>
                </a:solidFill>
              </a:rPr>
              <a:t>• Provisioned Throughput Units (PTU) on OpenAI for predictable load</a:t>
            </a:r>
          </a:p>
          <a:p>
            <a:pPr/>
            <a:r>
              <a:rPr sz="1800" b="0">
                <a:solidFill>
                  <a:srgbClr val="FFFFFF"/>
                </a:solidFill>
              </a:rPr>
              <a:t>• Caching of repeated localisations (~30% cost avoidance modelled)</a:t>
            </a:r>
          </a:p>
          <a:p>
            <a:pPr/>
            <a:r>
              <a:rPr sz="1800" b="0">
                <a:solidFill>
                  <a:srgbClr val="FFFFFF"/>
                </a:solidFill>
              </a:rPr>
              <a:t>• Fine-tuned small models for routine tasks; frontier on edge cases</a:t>
            </a:r>
          </a:p>
          <a:p>
            <a:pPr/>
            <a:r>
              <a:rPr sz="1800" b="0">
                <a:solidFill>
                  <a:srgbClr val="FFFFFF"/>
                </a:solidFill>
              </a:rPr>
              <a:t>• Region pinning + reserved instances for Fabric capacity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400" b="0">
                <a:solidFill>
                  <a:srgbClr val="FFFFFF"/>
                </a:solidFill>
              </a:rPr>
              <a:t>• R1 · DPA blocks DPIA · sev 15 · DPO · engage early · delay that market</a:t>
            </a:r>
          </a:p>
          <a:p>
            <a:pPr/>
            <a:r>
              <a:rPr sz="1400" b="0">
                <a:solidFill>
                  <a:srgbClr val="FFFFFF"/>
                </a:solidFill>
              </a:rPr>
              <a:t>• R2 · AI Act conformity fails · sev 10 · AI Act CO · Annex IV from M0</a:t>
            </a:r>
          </a:p>
          <a:p>
            <a:pPr/>
            <a:r>
              <a:rPr sz="1400" b="0">
                <a:solidFill>
                  <a:srgbClr val="FFFFFF"/>
                </a:solidFill>
              </a:rPr>
              <a:t>• R3 · Federated runtime non-convergence · sev 12 · ML Lead · DP central fallback</a:t>
            </a:r>
          </a:p>
          <a:p>
            <a:pPr/>
            <a:r>
              <a:rPr sz="1400" b="0">
                <a:solidFill>
                  <a:srgbClr val="FFFFFF"/>
                </a:solidFill>
              </a:rPr>
              <a:t>• R4 · Localisation quality drift · sev 16 · Editorial · reviewer non-optional</a:t>
            </a:r>
          </a:p>
          <a:p>
            <a:pPr/>
            <a:r>
              <a:rPr sz="1400" b="0">
                <a:solidFill>
                  <a:srgbClr val="FFFFFF"/>
                </a:solidFill>
              </a:rPr>
              <a:t>• R5 · Teacher override explosion · sev 12 · UX/RAI · co-design + CPD</a:t>
            </a:r>
          </a:p>
          <a:p>
            <a:pPr/>
            <a:r>
              <a:rPr sz="1400" b="0">
                <a:solidFill>
                  <a:srgbClr val="FFFFFF"/>
                </a:solidFill>
              </a:rPr>
              <a:t>• R6 · Bias disparity &gt; 5pp · sev 15 · RAI · gate + same-day rollback</a:t>
            </a:r>
          </a:p>
          <a:p>
            <a:pPr/>
            <a:r>
              <a:rPr sz="1400" b="0">
                <a:solidFill>
                  <a:srgbClr val="FFFFFF"/>
                </a:solidFill>
              </a:rPr>
              <a:t>• R7 · Sub-processor change · sev 10 · DPO/Arch · quarterly review</a:t>
            </a:r>
          </a:p>
          <a:p>
            <a:pPr/>
            <a:r>
              <a:rPr sz="1400" b="0">
                <a:solidFill>
                  <a:srgbClr val="FFFFFF"/>
                </a:solidFill>
              </a:rPr>
              <a:t>• R8 · OpenAI cost runaway · sev 12 · FinOps · PTU + cache</a:t>
            </a:r>
          </a:p>
          <a:p>
            <a:pPr/>
            <a:r>
              <a:rPr sz="1400" b="0">
                <a:solidFill>
                  <a:srgbClr val="FFFFFF"/>
                </a:solidFill>
              </a:rPr>
              <a:t>• R9 · School onboarding lag · sev 12 · Country Mgrs · CSM per market</a:t>
            </a:r>
          </a:p>
          <a:p>
            <a:pPr/>
            <a:r>
              <a:rPr sz="1400" b="0">
                <a:solidFill>
                  <a:srgbClr val="FFFFFF"/>
                </a:solidFill>
              </a:rPr>
              <a:t>• R10 · Art. 73 serious incident · sev 5 · RAI/DPO · drilled IR</a:t>
            </a:r>
          </a:p>
          <a:p>
            <a:pPr/>
            <a:r>
              <a:rPr sz="1400" b="0">
                <a:solidFill>
                  <a:srgbClr val="FFFFFF"/>
                </a:solidFill>
              </a:rPr>
              <a:t>• R11 · SIS vulnerability exposes minors · sev 10 · Security · pen-test + Defender</a:t>
            </a:r>
          </a:p>
          <a:p>
            <a:pPr/>
            <a:r>
              <a:rPr sz="1400" b="0">
                <a:solidFill>
                  <a:srgbClr val="FFFFFF"/>
                </a:solidFill>
              </a:rPr>
              <a:t>• R12 · Content Safety false negative · sev 10 · RAI/Editorial · takedown &lt; 2h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LEARNER &amp; TEACHER</a:t>
            </a:r>
          </a:p>
          <a:p>
            <a:pPr/>
            <a:r>
              <a:rPr sz="1800" b="0">
                <a:solidFill>
                  <a:srgbClr val="FFFFFF"/>
                </a:solidFill>
              </a:rPr>
              <a:t>• Adaptive: mastery improvement, curriculum coverage breadth, time-on-task</a:t>
            </a:r>
          </a:p>
          <a:p>
            <a:pPr/>
            <a:r>
              <a:rPr sz="1800" b="0">
                <a:solidFill>
                  <a:srgbClr val="FFFFFF"/>
                </a:solidFill>
              </a:rPr>
              <a:t>• Adaptive: per-cohort fairness disparity (gating)</a:t>
            </a:r>
          </a:p>
          <a:p>
            <a:pPr/>
            <a:r>
              <a:rPr sz="1800" b="0">
                <a:solidFill>
                  <a:srgbClr val="FFFFFF"/>
                </a:solidFill>
              </a:rPr>
              <a:t>• Assessment: teacher minutes saved / assignment</a:t>
            </a:r>
          </a:p>
          <a:p>
            <a:pPr/>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&amp; COMPLIANCE</a:t>
            </a:r>
          </a:p>
          <a:p>
            <a:pPr/>
            <a:r>
              <a:rPr sz="1800" b="0">
                <a:solidFill>
                  <a:srgbClr val="FFFFFF"/>
                </a:solidFill>
              </a:rPr>
              <a:t>• Localisation: units / week / market, first-pass acceptance, reviewer cycle</a:t>
            </a:r>
          </a:p>
          <a:p>
            <a:pPr/>
            <a:r>
              <a:rPr sz="1800" b="0">
                <a:solidFill>
                  <a:srgbClr val="FFFFFF"/>
                </a:solidFill>
              </a:rPr>
              <a:t>• Localisation: glossary coverage % per subject</a:t>
            </a:r>
          </a:p>
          <a:p>
            <a:pPr/>
            <a:r>
              <a:rPr sz="1800" b="0">
                <a:solidFill>
                  <a:srgbClr val="FFFFFF"/>
                </a:solidFill>
              </a:rPr>
              <a:t>• Compliance: % features with current Annex IV, DPIA freshness &lt; 12mo</a:t>
            </a:r>
          </a:p>
          <a:p>
            <a:pPr/>
            <a:r>
              <a:rPr sz="1800" b="0">
                <a:solidFill>
                  <a:srgbClr val="FFFFFF"/>
                </a:solidFill>
              </a:rPr>
              <a:t>• Compliance: erasure mean cycle time, # overrides exercised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BODIES</a:t>
            </a:r>
          </a:p>
          <a:p>
            <a:pPr/>
            <a:r>
              <a:rPr sz="1800" b="0">
                <a:solidFill>
                  <a:srgbClr val="FFFFFF"/>
                </a:solidFill>
              </a:rPr>
              <a:t>• Steering Committee — monthly · CEO chair · KPIs + risk + budget</a:t>
            </a:r>
          </a:p>
          <a:p>
            <a:pPr/>
            <a:r>
              <a:rPr sz="1800" b="0">
                <a:solidFill>
                  <a:srgbClr val="FFFFFF"/>
                </a:solidFill>
              </a:rPr>
              <a:t>• Responsible AI Council — bi-weekly · CAIO/RAI Evaluator chair · release gates</a:t>
            </a:r>
          </a:p>
          <a:p>
            <a:pPr/>
            <a:r>
              <a:rPr sz="1800" b="0">
                <a:solidFill>
                  <a:srgbClr val="FFFFFF"/>
                </a:solidFill>
              </a:rPr>
              <a:t>• Architecture Review Board — bi-weekly · CTO chair · technical decisions</a:t>
            </a:r>
          </a:p>
          <a:p>
            <a:pPr/>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RAI COUNCIL COMPOSITION</a:t>
            </a:r>
          </a:p>
          <a:p>
            <a:pPr/>
            <a:r>
              <a:rPr sz="1800" b="0">
                <a:solidFill>
                  <a:srgbClr val="FFFFFF"/>
                </a:solidFill>
              </a:rPr>
              <a:t>• Chair: independent (proposed)</a:t>
            </a:r>
          </a:p>
          <a:p>
            <a:pPr/>
            <a:r>
              <a:rPr sz="1800" b="0">
                <a:solidFill>
                  <a:srgbClr val="FFFFFF"/>
                </a:solidFill>
              </a:rPr>
              <a:t>• Members: RAI Evaluator, AI Act CO, GDPR Specialist, Learning Sciences,</a:t>
            </a:r>
          </a:p>
          <a:p>
            <a:pPr/>
            <a:r>
              <a:rPr sz="1800" b="0">
                <a:solidFill>
                  <a:srgbClr val="FFFFFF"/>
                </a:solidFill>
              </a:rPr>
              <a:t>• Authority: bind/release model versions, mandate rollback, escalate to Steering</a:t>
            </a:r>
          </a:p>
          <a:p>
            <a:pPr/>
            <a:r>
              <a:rPr sz="1800" b="0">
                <a:solidFill>
                  <a:srgbClr val="FFFFFF"/>
                </a:solidFill>
              </a:rPr>
              <a:t>• Outputs: weekly RAI dashboard, quarterly re-evaluation report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DETECTION &amp; TRIAGE</a:t>
            </a:r>
          </a:p>
          <a:p>
            <a:pPr/>
            <a:r>
              <a:rPr sz="1800" b="0">
                <a:solidFill>
                  <a:srgbClr val="FFFFFF"/>
                </a:solidFill>
              </a:rPr>
              <a:t>• Defender for Cloud + Sentinel — 24×7 SOC</a:t>
            </a:r>
          </a:p>
          <a:p>
            <a:pPr/>
            <a:r>
              <a:rPr sz="1800" b="0">
                <a:solidFill>
                  <a:srgbClr val="FFFFFF"/>
                </a:solidFill>
              </a:rPr>
              <a:t>• App Insights anomaly detection on AI decisions + Content Safety blocks</a:t>
            </a:r>
          </a:p>
          <a:p>
            <a:pPr/>
            <a:r>
              <a:rPr sz="1800" b="0">
                <a:solidFill>
                  <a:srgbClr val="FFFFFF"/>
                </a:solidFill>
              </a:rPr>
              <a:t>• Kill switch per AI feature (sub-5-minute disable)</a:t>
            </a:r>
          </a:p>
          <a:p>
            <a:pPr/>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STATUTORY RESPONSE</a:t>
            </a:r>
          </a:p>
          <a:p>
            <a:pPr/>
            <a:r>
              <a:rPr sz="1800" b="0">
                <a:solidFill>
                  <a:srgbClr val="FFFFFF"/>
                </a:solidFill>
              </a:rPr>
              <a:t>• GDPR Art. 33: 72-hour DPA notification on breach (template ready)</a:t>
            </a:r>
          </a:p>
          <a:p>
            <a:pPr/>
            <a:r>
              <a:rPr sz="1800" b="0">
                <a:solidFill>
                  <a:srgbClr val="FFFFFF"/>
                </a:solidFill>
              </a:rPr>
              <a:t>• GDPR Art. 34: data-subject notification when high risk</a:t>
            </a:r>
          </a:p>
          <a:p>
            <a:pPr/>
            <a:r>
              <a:rPr sz="1800" b="0">
                <a:solidFill>
                  <a:srgbClr val="FFFFFF"/>
                </a:solidFill>
              </a:rPr>
              <a:t>• AI Act Art. 73: serious incident reporting to authority within statutory window</a:t>
            </a:r>
          </a:p>
          <a:p>
            <a:pPr/>
            <a:r>
              <a:rPr sz="1800" b="0">
                <a:solidFill>
                  <a:srgbClr val="FFFFFF"/>
                </a:solidFill>
              </a:rPr>
              <a:t>• Post-incident: root-cause analysis + RAI Council review within 5 working days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BASELINE &amp; PROXY</a:t>
            </a:r>
          </a:p>
          <a:p>
            <a:pPr/>
            <a:r>
              <a:rPr sz="1800" b="0">
                <a:solidFill>
                  <a:srgbClr val="FFFFFF"/>
                </a:solidFill>
              </a:rPr>
              <a:t>• Carbon proxy = (Azure compute + storage emissions) / active learners</a:t>
            </a:r>
          </a:p>
          <a:p>
            <a:pPr/>
            <a:r>
              <a:rPr sz="1800" b="0">
                <a:solidFill>
                  <a:srgbClr val="FFFFFF"/>
                </a:solidFill>
              </a:rPr>
              <a:t>• Microsoft Emissions Impact Dashboard as primary source</a:t>
            </a:r>
          </a:p>
          <a:p>
            <a:pPr/>
            <a:r>
              <a:rPr sz="1800" b="0">
                <a:solidFill>
                  <a:srgbClr val="FFFFFF"/>
                </a:solidFill>
              </a:rPr>
              <a:t>• On-device inference reduces server-side carbon by design</a:t>
            </a:r>
          </a:p>
          <a:p>
            <a:pPr/>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REDUCTION LEVERS</a:t>
            </a:r>
          </a:p>
          <a:p>
            <a:pPr/>
            <a:r>
              <a:rPr sz="1800" b="0">
                <a:solidFill>
                  <a:srgbClr val="FFFFFF"/>
                </a:solidFill>
              </a:rPr>
              <a:t>• Region selection prioritises EU regions with high renewable share</a:t>
            </a:r>
          </a:p>
          <a:p>
            <a:pPr/>
            <a:r>
              <a:rPr sz="1800" b="0">
                <a:solidFill>
                  <a:srgbClr val="FFFFFF"/>
                </a:solidFill>
              </a:rPr>
              <a:t>• Small-first model routing (A07) directly reduces inference carbon</a:t>
            </a:r>
          </a:p>
          <a:p>
            <a:pPr/>
            <a:r>
              <a:rPr sz="1800" b="0">
                <a:solidFill>
                  <a:srgbClr val="FFFFFF"/>
                </a:solidFill>
              </a:rPr>
              <a:t>• Reserved capacity for predictable Fabric load → better PUE utilisation</a:t>
            </a:r>
          </a:p>
          <a:p>
            <a:pPr/>
            <a:r>
              <a:rPr sz="1800" b="0">
                <a:solidFill>
                  <a:srgbClr val="FFFFFF"/>
                </a:solidFill>
              </a:rPr>
              <a:t>• Decommissioning of legacy on-prem grading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ACRONYMS</a:t>
            </a:r>
          </a:p>
          <a:p>
            <a:pPr/>
            <a:r>
              <a:rPr sz="1600" b="0">
                <a:solidFill>
                  <a:srgbClr val="FFFFFF"/>
                </a:solidFill>
              </a:rPr>
              <a:t>• DPIA · Data Protection Impact Assessment (GDPR Art. 35)</a:t>
            </a:r>
          </a:p>
          <a:p>
            <a:pPr/>
            <a:r>
              <a:rPr sz="1600" b="0">
                <a:solidFill>
                  <a:srgbClr val="FFFFFF"/>
                </a:solidFill>
              </a:rPr>
              <a:t>• PPML · Privacy-Preserving Machine Learning (FL + DP + CC)</a:t>
            </a:r>
          </a:p>
          <a:p>
            <a:pPr/>
            <a:r>
              <a:rPr sz="1600" b="0">
                <a:solidFill>
                  <a:srgbClr val="FFFFFF"/>
                </a:solidFill>
              </a:rPr>
              <a:t>• RAI · Responsible AI · ECE · Expected Calibration Error</a:t>
            </a:r>
          </a:p>
          <a:p>
            <a:pPr/>
            <a:r>
              <a:rPr sz="1600" b="0">
                <a:solidFill>
                  <a:srgbClr val="FFFFFF"/>
                </a:solidFill>
              </a:rPr>
              <a:t>• APIM · Azure API Management · AML · Azure Machine Learning</a:t>
            </a:r>
          </a:p>
          <a:p>
            <a:pPr/>
            <a:r>
              <a:rPr sz="1600" b="0">
                <a:solidFill>
                  <a:srgbClr val="FFFFFF"/>
                </a:solidFill>
              </a:rPr>
              <a:t>• WORM · Write Once Read Many · CMK · Customer-Managed Keys</a:t>
            </a:r>
          </a:p>
          <a:p>
            <a:pPr/>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SOURCE DOCUMENTS</a:t>
            </a:r>
          </a:p>
          <a:p>
            <a:pPr/>
            <a:r>
              <a:rPr sz="1600" b="0">
                <a:solidFill>
                  <a:srgbClr val="FFFFFF"/>
                </a:solidFill>
              </a:rPr>
              <a:t>• Subject/case-study-33-edtech-personalised-learning.md</a:t>
            </a:r>
          </a:p>
          <a:p>
            <a:pPr/>
            <a:r>
              <a:rPr sz="1600" b="0">
                <a:solidFill>
                  <a:srgbClr val="FFFFFF"/>
                </a:solidFill>
              </a:rPr>
              <a:t>• Subject/AMA_Rubric_Evaluation.md</a:t>
            </a:r>
          </a:p>
          <a:p>
            <a:pPr/>
            <a:r>
              <a:rPr sz="1600" b="0">
                <a:solidFill>
                  <a:srgbClr val="FFFFFF"/>
                </a:solidFill>
              </a:rPr>
              <a:t>• plan/00 → 09 (charter, roadmap, workstreams, architecture, compliance,</a:t>
            </a:r>
          </a:p>
          <a:p>
            <a:pPr/>
            <a:r>
              <a:rPr sz="1600" b="0">
                <a:solidFill>
                  <a:srgbClr val="FFFFFF"/>
                </a:solidFill>
              </a:rPr>
              <a:t>• demo/ARCHITECTURE.md · DEPLOYMENT-REPORT.md · DEMO-STORYTELLING.md</a:t>
            </a:r>
          </a:p>
          <a:p>
            <a:pPr/>
            <a:r>
              <a:rPr sz="1600" b="0">
                <a:solidFill>
                  <a:srgbClr val="FFFFFF"/>
                </a:solidFill>
              </a:rPr>
              <a:t>• agents/*.chatmode.md (9 specialist roles)</a:t>
            </a:r>
          </a:p>
          <a:p>
            <a:pPr/>
            <a:r>
              <a:rPr sz="1600" b="0">
                <a:solidFill>
                  <a:srgbClr val="FFFFFF"/>
                </a:solidFill>
              </a:rPr>
              <a:t>• restitution/deck-outline.md (technical sibling deck)</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2.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3.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721C011-250E-414E-B694-B5D234F0BCB9}">
  <ds:schemaRefs>
    <ds:schemaRef ds:uri="office.server.policy"/>
  </ds:schemaRefs>
</ds:datastoreItem>
</file>

<file path=customXml/itemProps3.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72E6025E-C127-4B7B-AAF2-1F0FD425C31F}">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0</TotalTime>
  <Words>605</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SemiBold</vt:lpstr>
      <vt:lpstr>Arial</vt:lpstr>
      <vt:lpstr>Segoe UI</vt:lpstr>
      <vt:lpstr>Segoe UI Semibold</vt:lpstr>
      <vt:lpstr>Wingdings</vt:lpstr>
      <vt:lpstr>Azure Master Architect Program</vt:lpstr>
      <vt:lpstr>Azure Master Architect Program</vt:lpstr>
      <vt:lpstr>AGENDA</vt:lpstr>
      <vt:lpstr>What Success Looks like?/Customer Objectives</vt:lpstr>
      <vt:lpstr>How to get there?/ Solution Details</vt:lpstr>
      <vt:lpstr>Solution Details</vt:lpstr>
      <vt:lpstr>Key Benefits and Value Delivery</vt:lpstr>
      <vt:lpstr>Next Steps</vt:lpstr>
      <vt:lpstr>PowerPoint Presentation</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2</cp:revision>
  <cp:lastPrinted>2023-06-08T02:44:40Z</cp:lastPrinted>
  <dcterms:created xsi:type="dcterms:W3CDTF">2023-02-17T20:44:47Z</dcterms:created>
  <dcterms:modified xsi:type="dcterms:W3CDTF">2026-05-15T12:22:53Z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