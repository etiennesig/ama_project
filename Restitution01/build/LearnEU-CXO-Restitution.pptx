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6014" r:id="rId5"/>
  </p:sldMasterIdLst>
  <p:notesMasterIdLst>
    <p:notesMasterId r:id="rId14"/>
  </p:notesMasterIdLst>
  <p:handoutMasterIdLst>
    <p:handoutMasterId r:id="rId15"/>
  </p:handoutMasterIdLst>
  <p:sldIdLst>
    <p:sldId id="256" r:id="rId13"/>
    <p:sldId id="257" r:id="rId12"/>
    <p:sldId id="258" r:id="rId11"/>
    <p:sldId id="259" r:id="rId10"/>
    <p:sldId id="260" r:id="rId9"/>
    <p:sldId id="261" r:id="rId8"/>
    <p:sldId id="262" r:id="rId7"/>
    <p:sldId id="263" r:id="rId6"/>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4347931-4479-4308-813A-E5779D134AD7}">
          <p14:sldIdLst>
            <p14:sldId id="269"/>
            <p14:sldId id="266"/>
            <p14:sldId id="267"/>
            <p14:sldId id="272"/>
            <p14:sldId id="277"/>
            <p14:sldId id="274"/>
            <p14:sldId id="278"/>
            <p14:sldId id="275"/>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417B06-CA9A-6B04-1F8A-6EBE196E9847}" name="Paige Cabianca" initials="PC" userId="S::PCabianca@audienz.com::27b579fd-5cc6-4813-aade-39395522f3ec" providerId="AD"/>
  <p188:author id="{11FA0B32-7E6A-ACEF-B08A-52032B3644FE}" name="Shivangi Upadhyay" initials="SU" userId="S::v-shupadhyay@microsoft.com::91abecf0-9c1e-4849-a938-538b00dbc24d" providerId="AD"/>
  <p188:author id="{F14BE356-2244-D1D3-BCE6-1AD59D616C4D}" name="Sommer Serie" initials="SS" userId="S::sommers@microsoft.com::acee1493-9eed-423c-9a90-67515cce0a36" providerId="AD"/>
  <p188:author id="{0CBA9C5D-7356-BAC8-BE6E-3CDC333BBE26}" name="Shivi  Upadhyay" initials="SU" userId="S::shivi@audienz.com::708d2862-6512-4e93-ae1a-6f44f6fee39b" providerId="AD"/>
  <p188:author id="{78C23171-34A0-4275-170D-F87C123C7177}" name="Eric Kjome" initials="EK" userId="S::Eric@audienz.com::8bc786d3-f8e8-40fd-ab09-3785ea9f8118" providerId="AD"/>
  <p188:author id="{36DE5974-3758-51B9-AF66-D3418123C89A}" name="Chris Holt" initials="CH" userId="S::chris@audienz.com::a1804d0e-8bfb-42cb-9ad0-b6e044b779a2" providerId="AD"/>
  <p188:author id="{AE64C5A7-9EC0-2997-8582-DB608637CAAD}" name="Paul Wise" initials="PW" userId="S::paulwise@microsoft.com::1e5259a3-d92e-48e7-9f96-43b612e23109" providerId="AD"/>
  <p188:author id="{E17E32BA-B717-F8E2-99AB-03184040F76C}" name="Paige Cabianca" initials="PC" userId="S::pcabianca@audienz.com::27b579fd-5cc6-4813-aade-39395522f3ec" providerId="AD"/>
  <p188:author id="{9DFCAED2-AAA7-D64C-9C6F-FC36BF7A8582}" name="India McGill" initials="IM" userId="S::indiam@microsoft.com::cf1fdfd3-8fa0-400e-a698-3a6e5da40047" providerId="AD"/>
  <p188:author id="{C6D9BCE3-6A3A-F16F-FB1D-152E8D000526}" name="Jessy Rodriguez" initials="" userId="S::jessyr@thechannelcompany.com::be58406e-57ea-4c17-b94d-e08afaed1cd3" providerId="AD"/>
  <p188:author id="{9BF2B4F3-FFF5-2602-20DB-AE1DDA3E3060}" name="Markus Nitschke" initials="MN" userId="S::mnitschk@microsoft.com::00e3a6c1-be90-4832-afc1-934d12cea8b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1F2C"/>
    <a:srgbClr val="0538BB"/>
    <a:srgbClr val="8449A9"/>
    <a:srgbClr val="0078D4"/>
    <a:srgbClr val="FAFAFA"/>
    <a:srgbClr val="1579FF"/>
    <a:srgbClr val="005FA9"/>
    <a:srgbClr val="C9EDC9"/>
    <a:srgbClr val="F2F2F2"/>
    <a:srgbClr val="504F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958A23-D195-44A8-98E0-DF277A6F1D7F}" v="2" dt="2026-04-29T04:16:05.4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02" y="28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5/10/relationships/revisionInfo" Target="revisionInfo.xml"/><Relationship Id="rId22" Type="http://schemas.microsoft.com/office/2018/10/relationships/authors" Target="authors.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5/15/2026 2:22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5/13/2026 4:34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Vingt slides, sept minutes de démo, et une banque d'annexes pour vos questions. Mon objectif : vous prouver en trente minutes que les quatre engagements du board — réduire l'écart de résultats de 26 %, libérer 45 % du temps administratif enseignant, passer la localisation de 12 mois à 6 semaines, et maintenir 100 % de conformité GDPR Article 8 — sont **simultanément** tenables. Pas une maquette : une slice réellement déployée sur Azure West Europe.</a:t>
            </a:r>
          </a:p>
          <a:p/>
          <a:p>
            <a:r>
              <a:t>---</a:t>
            </a:r>
          </a:p>
          <a:p>
            <a:r>
              <a:t>CXO focus: All</a:t>
            </a:r>
          </a:p>
          <a:p>
            <a:r>
              <a:t>Visual: LearnEU mark on dark navy; subtle EU stars; "Personalised. Private. European." tagline.</a:t>
            </a:r>
          </a:p>
          <a:p>
            <a:r>
              <a:t>Source refs: Subject/case-study-33-edtech-personalised-learning.md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ne reteniez qu'une slide, ce serait celle-ci. À gauche, le contrat de sortie : quatre chiffres tirés mot pour mot du case study, plus la résidence EU. À droite, ce que cela demande au board : douze mois, cinq phases, environ vingt millions d'euros, et trois décisions à prendre aujourd'hui — mandat DPIA, budget Phase 0, nomination du président du Conseil RAI. Le reste du deck décline chacun de ces points pour le CXO concerné, et les annexes sont là pour tenir le débat.</a:t>
            </a:r>
          </a:p>
          <a:p/>
          <a:p>
            <a:r>
              <a:t>---</a:t>
            </a:r>
          </a:p>
          <a:p>
            <a:r>
              <a:t>CXO focus: CEO · CFO · CRO</a:t>
            </a:r>
          </a:p>
          <a:p>
            <a:r>
              <a:t>Visual: Two stacked cards. Left = 4 outcome chips in orange. Right = 4 commitment chips in teal. Big "Grade A · 57/60" badge bottom-right.</a:t>
            </a:r>
          </a:p>
          <a:p>
            <a:r>
              <a:t>Source refs: plan/00-program-charter.md · plan/05-kpis-outcomes.md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manières de regarder le problème. Côté apprenant : 40 % d'écart de résultats pour exactement le même contenu — c'est un échec de personnalisation, pas de pédagogie. Côté enseignant : un tiers du temps perdu sur de la correction qui n'apporte rien à la relation. Côté marché : 8 à 12 mois pour entrer dans un pays, c'est-à-dire qu'on arrive après les compétiteurs qui ont commencé leurs pilotes IA. Et ce problème ne se règle pas par "plus d'IA générique" : GDPR Article 8 et l'EU AI Act haut-risque imposent un cadre que la plupart des solutions du marché ne respectent pas. C'est notre fenêtre.</a:t>
            </a:r>
          </a:p>
          <a:p/>
          <a:p>
            <a:r>
              <a:t>---</a:t>
            </a:r>
          </a:p>
          <a:p>
            <a:r>
              <a:t>CXO focus: CEO · COO · CMO</a:t>
            </a:r>
          </a:p>
          <a:p>
            <a:r>
              <a:t>Visual: Left: 4 stat tiles. Right: trend arrow showing widening outcome gap + competitor heat-map of EU pilots.</a:t>
            </a:r>
          </a:p>
          <a:p>
            <a:r>
              <a:t>Source refs: Subject/case-study-33-edtech-personalised-learning.md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thèse stratégique tient en une phrase : à partir de 2027, les ministères de l'Éducation des Vingt-Sept n'achèteront plus que de l'IA pédagogique conforme à l'AI Act et résidente en UE. Aujourd'hui, personne ne coche les deux cases. Les incumbents américains ont la profondeur de personnalisation mais pas la posture européenne ; les éditeurs européens historiques ont la confiance mais pas l'IA. La fenêtre est de 18 à 24 mois. Cela explique pourquoi on investit lourdement dès la Phase 0 sur la conformité — pas par prudence, mais par stratégie commerciale. Le dossier Annex IV est un asset de vente.</a:t>
            </a:r>
          </a:p>
          <a:p/>
          <a:p>
            <a:r>
              <a:t>---</a:t>
            </a:r>
          </a:p>
          <a:p>
            <a:r>
              <a:t>CXO focus: CEO · CSO · CAIO</a:t>
            </a:r>
          </a:p>
          <a:p>
            <a:r>
              <a:t>Visual: 2×2 strategic positioning matrix: axes = "EU-compliance posture" × "Personalisation depth". LearnEU isolated top-right; US/UK incumbents bottom-right; legacy EU publishers top-left.</a:t>
            </a:r>
          </a:p>
          <a:p>
            <a:r>
              <a:t>Source refs: plan/00-program-charter.md · plan/04-compliance-eu-ai-act-gdpr.md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refusé d'inventer nos propres KPI. Les cinq cibles sont tirées mot pour mot du case study. Ce qui change, c'est qu'on s'engage à prouver la trajectoire **chaque mois**, pas à la fin du programme. Chaque KPI a un *leading indicator* instrumenté en production : la disparité de fairness par cohorte sort dans Application Insights, le temps gagné par enseignant est mesuré côté Assessment AI, la cadence de localisation est un compteur dans le pipeline Fabric. Voir plan/05-kpis-outcomes.md pour le détail par workstream.</a:t>
            </a:r>
          </a:p>
          <a:p/>
          <a:p>
            <a:r>
              <a:t>---</a:t>
            </a:r>
          </a:p>
          <a:p>
            <a:r>
              <a:t>CXO focus: CEO · CFO · COO</a:t>
            </a:r>
          </a:p>
          <a:p>
            <a:r>
              <a:t>Visual: Left: 5 KPI tiles, target deltas in orange. Right: monthly review cadence wheel.</a:t>
            </a:r>
          </a:p>
          <a:p>
            <a:r>
              <a:t>Source refs: Subject/case-study-33-edtech-personalised-learning.md · plan/05-kpis-outcomes.md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Sizing conservateur. Le plus gros pool de valeur, c'est la productivité enseignante : 45 % de moins sur l'administratif, sur environ 120 000 enseignants, valorisé à 15 € de l'heure, ça fait grossièrement 28 millions par an. Ajoutez 18 millions d'ARR incrémentale liée à l'entrée plus rapide dans trois marchés, et 9 millions de rétention liée à la baisse de l'écart de résultats. Total : 55 millions par an au régime de croisière. Face à un investissement de 18 à 22 millions, le payback est sous 24 mois sur trois marchés. Point clé pour le CFO : la part conformité est de toute façon obligatoire à partir de 2026, donc la faire dans le programme évite un re-work multi-million plus tard.</a:t>
            </a:r>
          </a:p>
          <a:p/>
          <a:p>
            <a:r>
              <a:t>---</a:t>
            </a:r>
          </a:p>
          <a:p>
            <a:r>
              <a:t>CXO focus: CFO · CEO</a:t>
            </a:r>
          </a:p>
          <a:p>
            <a:r>
              <a:t>Visual: Waterfall: investment → value pools → run-rate. Payback arrow at month 22.</a:t>
            </a:r>
          </a:p>
          <a:p>
            <a:r>
              <a:t>Source refs: plan/05-kpis-outcomes.md · plan/01-phases-roadmap.md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résume l'expérience produit en trois personas. L'apprenant gagne un contenu calibré (probabilité de réussite visée environ 0,7, c'est la zone de progression maximale d'après les sciences de l'apprentissage). L'enseignant récupère 45 % de son temps administratif, mais surtout garde la main : chaque suggestion IA est explicable et révocable en un clic. Le parent obtient un portail dans sa langue, des contrôles GDPR Article 8 explicites, et la garantie écrite qu'un humain reste le décideur. On verra les trois en démo dans dix minutes.</a:t>
            </a:r>
          </a:p>
          <a:p/>
          <a:p>
            <a:r>
              <a:t>---</a:t>
            </a:r>
          </a:p>
          <a:p>
            <a:r>
              <a:t>CXO focus: CXO · CMO · CHRO</a:t>
            </a:r>
          </a:p>
          <a:p>
            <a:r>
              <a:t>Visual: 3 persona cards (Learner / Teacher / Parent), each with a "before → after" arrow and one quantified win.</a:t>
            </a:r>
          </a:p>
          <a:p>
            <a:r>
              <a:t>Source refs: demo/DEMO-STORYTELLING.md · plan/02-workstreams.md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en une slide pour le board. Trois capacités IA assises sur huit services Azure, tous déployés en région EU. Le détail architectural est en annexe A1, A2, A3 — je le déplie sur demande. Le point clé pour le CIO et le CTO : la donnée mineur ne quitte par défaut **pas** l'appareil. L'inférence du modèle adaptatif tourne en ONNX dans le navigateur ; l'entraînement se fait en fédéré, avec différentielle privacy, et l'agrégation utilise du Confidential Computing. C'est ce qui rend la conformité GDPR Article 8 tenable à grande échelle.</a:t>
            </a:r>
          </a:p>
          <a:p/>
          <a:p>
            <a:r>
              <a:t>---</a:t>
            </a:r>
          </a:p>
          <a:p>
            <a:r>
              <a:t>CXO focus: CIO · CTO · CEO</a:t>
            </a:r>
          </a:p>
          <a:p>
            <a:r>
              <a:t>Visual: Single horizontal swimlane: Devices → APIM → Fabric / Azure ML / OpenAI → ONNX &amp; Web apps. EU flag stamp on the lane. "Full diagram → Appendix A1".</a:t>
            </a:r>
          </a:p>
          <a:p>
            <a:r>
              <a:t>Source refs: plan/03-target-architecture.md · demo/ARCHITECTURE.md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CRO, le CCO, le CLO et le CISO : la conformité n'est pas un livrable de fin de programme, c'est un *gate* de chaque release. Côté GDPR, on aligne sur le pays le plus strict (Pays-Bas — 16 ans), on fait un DPIA par marché en Phase 0, et on minimise la donnée par construction. Côté AI Act, on traite tout en haut-risque par défaut — pas de débat de classification — on construit le dossier Annex IV feature par feature, et on vise la CE-marking avant la sortie de Phase 3. La conformité produit-elle un asset de vente vers les ministères ? Oui — voir slide 4.</a:t>
            </a:r>
          </a:p>
          <a:p/>
          <a:p>
            <a:r>
              <a:t>---</a:t>
            </a:r>
          </a:p>
          <a:p>
            <a:r>
              <a:t>CXO focus: CRO · CCO · CLO · CISO</a:t>
            </a:r>
          </a:p>
          <a:p>
            <a:r>
              <a:t>Visual: Two columns of green check-boxes, each labelled with the article number it satisfies. CE-marking badge bottom-right.</a:t>
            </a:r>
          </a:p>
          <a:p>
            <a:r>
              <a:t>Source refs: plan/04-compliance-eu-ai-act-gdpr.md · plan/07-governance-rai.md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CAIO et le CLO : aucune décision autonome n'atteint un mineur. Le modèle adaptatif propose la prochaine activité ; l'assessment AI propose une note ; dans les deux cas, l'enseignant voit l'explication, valide ou outrepasse en un clic. C'est tracé dans Application Insights — on sait combien d'overrides ont eu lieu, sur quels items, et le taux d'override est lui-même un KPI (cible ≤ 10 % en régime stable). Côté release : un gate RAI à chaque mise en production, avec quatre critères — fairness, calibration, safety, transparency — dont la disparité par cohorte est *bloquante*. Voir annexe A14 pour la composition du Conseil RAI.</a:t>
            </a:r>
          </a:p>
          <a:p/>
          <a:p>
            <a:r>
              <a:t>---</a:t>
            </a:r>
          </a:p>
          <a:p>
            <a:r>
              <a:t>CXO focus: CAIO · CRO · CLO</a:t>
            </a:r>
          </a:p>
          <a:p>
            <a:r>
              <a:t>Visual: "Decision flow" diagram: AI suggestion → explanation → teacher review → action. Override icon highlighted; kill-switch icon in bottom-right.</a:t>
            </a:r>
          </a:p>
          <a:p>
            <a:r>
              <a:t>Source refs: plan/07-governance-rai.md · agents/responsible-ai-evaluator.chatmode.md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CDO : la stratégie est *moins de données, mieux gouvernées*. La donnée mineur entre pseudonymisée, vit dans le lakehouse Fabric en West Europe (ou Germany West Central pour DE), et n'arrive jamais ré-identifiable dans la couche Gold qui alimente les dashboards. Microsoft Purview porte le catalogue, les labels — dont un label spécifique "Child Personal Data — Restricted" — et la lignée qui rend l'effacement vérifiable. Azure Policy bloque par construction toute ressource déployée hors région EU ou sans clé client. Annexe A3 pour les flux de données détaillés.</a:t>
            </a:r>
          </a:p>
          <a:p/>
          <a:p>
            <a:r>
              <a:t>---</a:t>
            </a:r>
          </a:p>
          <a:p>
            <a:r>
              <a:t>CXO focus: CDO · CISO · CCO</a:t>
            </a:r>
          </a:p>
          <a:p>
            <a:r>
              <a:t>Visual: Lakehouse pyramid (Bronze → Silver → Gold), each layer tagged with retention + label. EU flag at base.</a:t>
            </a:r>
          </a:p>
          <a:p>
            <a:r>
              <a:t>Source refs: plan/03-target-architecture.md · plan/04-compliance-eu-ai-act-gdpr.md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CISO : zero-trust appliqué de bout en bout. Aucune ressource PaaS exposée publiquement à part l'APIM et les web apps, qui passent derrière Front Door et WAF. Clés client sur tout le stockage et les services IA. Le centralised training, quand il a besoin de signaux ré-identifiables, tourne en Confidential Computing — donc le opérateur Azure lui-même ne voit pas la mémoire. Côté résidence : trois régions EU primaires plus DR, et un check trimestriel des sub-processors Microsoft. Les logs immuables WORM tiennent à eux seuls l'article 12 de l'AI Act. Annexe A9 et A15 pour observability et IR.</a:t>
            </a:r>
          </a:p>
          <a:p/>
          <a:p>
            <a:r>
              <a:t>---</a:t>
            </a:r>
          </a:p>
          <a:p>
            <a:r>
              <a:t>CXO focus: CISO · CRO · CLO</a:t>
            </a:r>
          </a:p>
          <a:p>
            <a:r>
              <a:t>Visual: Map of EU regions with LearnEU footprint highlighted; padlock icons over each region.</a:t>
            </a:r>
          </a:p>
          <a:p>
            <a:r>
              <a:t>Source refs: plan/03-target-architecture.md · plan/04-compliance-eu-ai-act-gdpr.md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CHRO et le COO : la première raison pour laquelle ce type de produit échoue, c'est la perte de confiance des enseignants. On la traite frontalement. Les 20 écoles pilotes NL sont impliquées dès la Phase 0 en co-design — pas en validation finale. Le Teacher Council a un droit de veto pédagogique sur chaque release. Le taux d'override est suivi en continu et redescendu vers le Conseil : c'est un signal de confiance (trop haut = on a perdu, trop bas = ils ne regardent plus). Côté programme : 90 minutes d'onboarding par enseignant, validation obligatoire, et un CSM par marché. Pour le CHRO : crédits CPD pour participation aux pilotes.</a:t>
            </a:r>
          </a:p>
          <a:p/>
          <a:p>
            <a:r>
              <a:t>---</a:t>
            </a:r>
          </a:p>
          <a:p>
            <a:r>
              <a:t>CXO focus: CHRO · COO · CXO</a:t>
            </a:r>
          </a:p>
          <a:p>
            <a:r>
              <a:t>Visual: "Voice → product" loop diagram: Teacher Council → Release gate → Production → Override telemetry → back to Council.</a:t>
            </a:r>
          </a:p>
          <a:p>
            <a:r>
              <a:t>Source refs: plan/02-workstreams.md · agents/learning-sciences-expert.chatmode.md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CMO : la vitesse de marché est notre arme commerciale. Aujourd'hui chaque entrée prend 8 à 12 mois — surtout du fait de la localisation curriculaire. On industrialise cette étape en pipeline : glossaires construits en Phase 0, génération via Azure OpenAI ancrée par retrieval sur le curriculum national dans AI Search, validation systématique par un éditeur pédagogique humain (jamais optionnelle, c'est notre garantie qualité). Cible : 80 % de taux d'acceptation au premier passage, 6 semaines bout-à-bout. Pour le CEO : l'ordre NL → DE est verrouillé ; les 3 marchés suivants seront choisis sur la traction ministérielle, pas par engagement upfront.</a:t>
            </a:r>
          </a:p>
          <a:p/>
          <a:p>
            <a:r>
              <a:t>---</a:t>
            </a:r>
          </a:p>
          <a:p>
            <a:r>
              <a:t>CXO focus: CMO · CEO · COO</a:t>
            </a:r>
          </a:p>
          <a:p>
            <a:r>
              <a:t>Visual: Map of EU with phased market entry; per-country localisation throughput bar (target ≥ 6 weeks).</a:t>
            </a:r>
          </a:p>
          <a:p>
            <a:r>
              <a:t>Source refs: plan/01-phases-roadmap.md · agents/content-localisation-lead.chatmode.md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COO : la gouvernance tient en quatre instances et neuf rôles nommés. Comité de pilotage tous les mois pour KPI/risque/budget. Conseil RAI bi-mensuel — c'est lui qui valide les release gates, pas le board ; le board délègue. ARB pour l'architecture, Teacher Council pour la pédagogie. Et neuf agents spécialistes (orchestrateur, AI Act CO, GDPR specialist, ML privacy, sciences de l'apprentissage, localisation, RAI evaluator, QA cross-agent, demo deployment) qui portent chacun un livrable nommé. Le QA cross-agent est l'auditeur interne — il vérifie les livrables des autres avant chaque gate. Tout est tracé dans le repo Spec Kit.</a:t>
            </a:r>
          </a:p>
          <a:p/>
          <a:p>
            <a:r>
              <a:t>---</a:t>
            </a:r>
          </a:p>
          <a:p>
            <a:r>
              <a:t>CXO focus: COO · CEO · CHRO</a:t>
            </a:r>
          </a:p>
          <a:p>
            <a:r>
              <a:t>Visual: Two columns: left = 4-body governance grid; right = 9-agent ring with accountabilities.</a:t>
            </a:r>
          </a:p>
          <a:p>
            <a:r>
              <a:t>Source refs: plan/07-governance-rai.md · agents/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CEO et le COO : cinq phases, douze mois, et chaque gate est bloquant — pas de glissement opportuniste. La règle d'or : aucun marché supplémentaire avant que le précédent ne soit *en trajectoire* sur les KPI clients. Pour le CRO : trois gates compliance dans la chaîne — DPIA en P0, RAI v1 en P1, CE marking en P3. Si un seul tombe, le programme ne passe pas au suivant. C'est l'inverse d'un plan ambitieux : c'est un plan défendable.</a:t>
            </a:r>
          </a:p>
          <a:p/>
          <a:p>
            <a:r>
              <a:t>---</a:t>
            </a:r>
          </a:p>
          <a:p>
            <a:r>
              <a:t>CXO focus: CEO · COO · CRO</a:t>
            </a:r>
          </a:p>
          <a:p>
            <a:r>
              <a:t>Visual: Horizontal Gantt of 5 phases with gate diamonds; each diamond labeled with the gating KPI.</a:t>
            </a:r>
          </a:p>
          <a:p>
            <a:r>
              <a:t>Source refs: plan/01-phases-roadmap.md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 minutes, trois personas, une seule backend live. Pré-vol : trois pastilles vertes en haut de chaque app. À 30 s, Mr Klein (enseignant DE) ouvre Teacher Console et demande un plan de remédiation pour Lucas qui confond 1/2 et 1/4 — la suggestion est ancrée aux Bildungsstandards et explicable. À 2 min 30, Lucas passe sur Learner Web : le picker ONNX sélectionne l'item dont la probabilité de réussite estimée est la plus proche de 0,7. À 4 min 30, Sophie ouvre Parent Portal — interface séparée, GDPR Article 8 en hero, réponse en allemand. À 6 min, on bascule sur Admin pour montrer les tables live Activity et Safety. À 7 min on revient. Si une pastille tombe, on narre le panel — pas de mode dégradé caché au board.</a:t>
            </a:r>
          </a:p>
          <a:p/>
          <a:p>
            <a:r>
              <a:t>---</a:t>
            </a:r>
          </a:p>
          <a:p>
            <a:r>
              <a:t>CXO focus: CXO · CMO · CEO · COO</a:t>
            </a:r>
          </a:p>
          <a:p>
            <a:r>
              <a:t>Visual: 4 persona thumbnails on a stopwatch ribbon; live URLs in 14 pt monospace beneath each.</a:t>
            </a:r>
          </a:p>
          <a:p>
            <a:r>
              <a:t>Demo cue: - Pre-flight: open 4 tabs (admin / teacher / learner / parent), confirm green pills</a:t>
            </a:r>
          </a:p>
          <a:p>
            <a:r>
              <a:t>- Login: `&lt;role&gt;@learneu.demo` / `DemoPass2026!`</a:t>
            </a:r>
          </a:p>
          <a:p>
            <a:r>
              <a:t>- Fallback: if pill goes orange/red, narrate the panel; switch to admin "Activity"</a:t>
            </a:r>
          </a:p>
          <a:p>
            <a:r>
              <a:t>- Backup screenshots: `restitution/assets/screenshots/&lt;persona&gt;-fallback.png`</a:t>
            </a:r>
          </a:p>
          <a:p>
            <a:r>
              <a:t>Source refs: demo/DEMO-STORYTELLING.md · restitution/demo-storyboard.md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CFO et le CIO : la forme du programme est lisible. 18 à 22 millions de build étalés sur 12 mois — la fourchette dépend du périmètre des deux derniers marchés. Le run de croisière s'établit autour de 6 millions par an, dont 55 % d'Azure. On garde 2 millions de contingence sur le risque numéro un côté coût : la facture Azure OpenAI sur la localisation à grande échelle (R8 dans le registre). On le mitige par des PTU sur la charge prévisible, du cache sur les contenus répétés, et des modèles fine-tunés plus petits pour la correction de routine. Le coût par apprenant par mois est lui-même un KPI board, suivi avec un proxy carbone en annexe A16.</a:t>
            </a:r>
          </a:p>
          <a:p/>
          <a:p>
            <a:r>
              <a:t>---</a:t>
            </a:r>
          </a:p>
          <a:p>
            <a:r>
              <a:t>CXO focus: CFO · CIO · CSO</a:t>
            </a:r>
          </a:p>
          <a:p>
            <a:r>
              <a:t>Visual: Stacked bar: build vs run vs contingency. Sparkline showing cost/learner trajectory month-over-month.</a:t>
            </a:r>
          </a:p>
          <a:p>
            <a:r>
              <a:t>Source refs: plan/05-kpis-outcomes.md · plan/06-risks-register.md (R8)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CRO et le CCO : le registre complet est en annexe A12. Six risques justifient le board. R1 — une DPA nationale bloque le DPIA — c'est le plus gênant car asymétrique : un seul "non" peut nous coûter un marché entier. Mitigation : on les engage en Phase 0 plutôt que de leur présenter un fait accompli. R3 — la convergence du federated learning sur données réelles — on a un plan B central avec consentement explicite et différentielle privacy. R4 — la dérive qualité en localisation — on garde le reviewer humain non négociable. R6 — la disparité de fairness — un gate de release bloquant, avec rollback prêt en quelques heures. R8 et R10 sont en deuxième rideau mais traités.</a:t>
            </a:r>
          </a:p>
          <a:p/>
          <a:p>
            <a:r>
              <a:t>---</a:t>
            </a:r>
          </a:p>
          <a:p>
            <a:r>
              <a:t>CXO focus: CRO · CCO · CISO</a:t>
            </a:r>
          </a:p>
          <a:p>
            <a:r>
              <a:t>Visual: 6 risk tiles colour-coded by severity, each with owner + mitigation icon.</a:t>
            </a:r>
          </a:p>
          <a:p>
            <a:r>
              <a:t>Source refs: plan/06-risks-register.md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slide de clôture pour le board : voici exactement ce que vous verrez chaque mois sur Power BI. Cinq KPI sortie, plus l'adoption (écoles, trust NPS enseignant, usage parent). Sur le panneau de droite : la posture conformité — fraîcheur DPIA, taux d'erasure tenu, couverture Annex IV, taux d'override, incidents. La heat-map des six risques majeurs avec owner et statut RAG. Et le coût par apprenant par mois avec son proxy carbone. Si l'un de ces tuiles passe au rouge, vous le voyez avant moi.</a:t>
            </a:r>
          </a:p>
          <a:p/>
          <a:p>
            <a:r>
              <a:t>---</a:t>
            </a:r>
          </a:p>
          <a:p>
            <a:r>
              <a:t>CXO focus: CEO · CFO · All</a:t>
            </a:r>
          </a:p>
          <a:p>
            <a:r>
              <a:t>Visual: Two stacked dashboard mock-ups: left = outcomes/adoption tiles; right = trust/risk/cost tiles. Same look as Power BI exec view.</a:t>
            </a:r>
          </a:p>
          <a:p>
            <a:r>
              <a:t>Source refs: plan/05-kpis-outcomes.md · plan/07-governance-rai.md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 trois décisions à prendre aujourd'hui. Un — mandater les DPIA dans les cinq pays, ça débloque la Phase 0. Deux — libérer 3,5 millions pour la Phase 0 (landing zone Azure, DPIA, squelette Annex IV) ; le reste du budget sera ré-engagé au gate suivant, pas avant. Trois — nommer le président du Conseil RAI au prochain comité de pilotage, c'est une décision RH qui ne peut pas attendre. Et deux endossements implicites : le contrat de KPI tel qu'écrit, et la séquence NL puis DE, les trois marchés suivants étant tranchés au gate du mois 10 en fonction de la traction ministérielle. Merci.</a:t>
            </a:r>
          </a:p>
          <a:p/>
          <a:p>
            <a:r>
              <a:t>---</a:t>
            </a:r>
          </a:p>
          <a:p>
            <a:r>
              <a:t>CXO focus: CEO · CFO · CRO</a:t>
            </a:r>
          </a:p>
          <a:p>
            <a:r>
              <a:t>Visual: Three large numbered chips: "1 — Mandate", "2 — Budget", "3 — Chair". LearnEU logo bottom-right with tagline "Personalised. Private. European."</a:t>
            </a:r>
          </a:p>
          <a:p>
            <a:r>
              <a:t>Source refs: plan/00-program-charter.md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vue détaillée de l'architecture, on-demand pour le CIO/CTO/CDO. Six couches : sources, ingestion, stockage, traitement, serving, gouvernance. Le détail texte est dans plan/03-target-architecture.md ; la régénération des diagrammes (Mermaid + draw.io + Excalidraw) se fait via l'agent "Azure Data &amp; AI Solution Architect".</a:t>
            </a:r>
          </a:p>
          <a:p/>
          <a:p>
            <a:r>
              <a:t>---</a:t>
            </a:r>
          </a:p>
          <a:p>
            <a:r>
              <a:t>CXO focus: CIO · CTO · CDO</a:t>
            </a:r>
          </a:p>
          <a:p>
            <a:r>
              <a:t>Visual: Full 6-layer architecture diagram (Mermaid export). EU flag on each region. Diagram source: `plan/03-target-architecture.md`.</a:t>
            </a:r>
          </a:p>
          <a:p>
            <a:r>
              <a:t>Source refs: plan/03-target-architecture.md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par service, alignement strict sur la liste du case study. Chaque service joue un rôle nommé, déployé en région EU. Si une question pointe sur un service précis, on déroule l'annexe correspondante.</a:t>
            </a:r>
          </a:p>
          <a:p/>
          <a:p>
            <a:r>
              <a:t>---</a:t>
            </a:r>
          </a:p>
          <a:p>
            <a:r>
              <a:t>CXO focus: CIO · CTO</a:t>
            </a:r>
          </a:p>
          <a:p>
            <a:r>
              <a:t>Visual: Service grid 4×2 with logos + one-line role. Region badges on each tile.</a:t>
            </a:r>
          </a:p>
          <a:p>
            <a:r>
              <a:t>Source refs: Subject/case-study-33-edtech-personalised-learning.md · plan/03-target-architecture.md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flux, trois régimes. La personnalisation reste par défaut côté appareil — c'est la principale concession à GDPR Article 8. La correction passe par un endpoint AML sans rétention de payload, avec validation humaine systématique. La localisation est un pipeline RAG : on retrouve dans AI Search le bout de curriculum pertinent, on demande à OpenAI de générer, et on passe par Content Safety avant le reviewer humain. Tous les flux génératifs sont loggés de manière immuable.</a:t>
            </a:r>
          </a:p>
          <a:p/>
          <a:p>
            <a:r>
              <a:t>---</a:t>
            </a:r>
          </a:p>
          <a:p>
            <a:r>
              <a:t>CXO focus: CDO · CISO · CTO</a:t>
            </a:r>
          </a:p>
          <a:p>
            <a:r>
              <a:t>Visual: Three swimlanes (Personalisation / Grading / Localisation), each annotated with privacy regime + retention policy.</a:t>
            </a:r>
          </a:p>
          <a:p>
            <a:r>
              <a:t>Source refs: plan/03-target-architecture.md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GDPR Article 8 décliné pour les cinq marchés. On aligne sur le plus strict (16 ans) plutôt que de gérer cinq seuils différents. Pour les moins de 16 ans : flux de consentement parental avec vérification d'identité. La base juridique est documentée par usage : contrat scolaire pour le service de base, consentement explicite pour la personnalisation, intérêt légitime pour la sécurité. Effacement vérifiable via la lignée Purview.</a:t>
            </a:r>
          </a:p>
          <a:p/>
          <a:p>
            <a:r>
              <a:t>---</a:t>
            </a:r>
          </a:p>
          <a:p>
            <a:r>
              <a:t>CXO focus: CLO · CCO · CRO · DPO</a:t>
            </a:r>
          </a:p>
          <a:p>
            <a:r>
              <a:t>Visual: Article 8 cheat-sheet: ages per country (NL/BE/DE/PL/RO), consent flow, erasure pipeline.</a:t>
            </a:r>
          </a:p>
          <a:p>
            <a:r>
              <a:t>Source refs: plan/04-compliance-eu-ai-act-gdpr.md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CLO et le CAIO : la cartographie article par article. Toutes les obligations d'un système haut-risque Annex III §3 sont couvertes. La sortie sera un dossier Annex IV par feature, plus un dossier programme global. Conformity assessment visée selon l'article 43 §2 (contrôle interne) si applicable, sinon notified body. Post-market monitoring opérationnel dès le premier pilote.</a:t>
            </a:r>
          </a:p>
          <a:p/>
          <a:p>
            <a:r>
              <a:t>---</a:t>
            </a:r>
          </a:p>
          <a:p>
            <a:r>
              <a:t>CXO focus: CLO · CCO · CAIO</a:t>
            </a:r>
          </a:p>
          <a:p>
            <a:r>
              <a:t>Visual: Article checklist with green check on each. Annex IV file stamp.</a:t>
            </a:r>
          </a:p>
          <a:p>
            <a:r>
              <a:t>Source refs: plan/04-compliance-eu-ai-act-gdpr.md · plan/07-governance-rai.md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CAIO et le CDO : la stack PPML qui rend le tout tenable. Inference par défaut sur l'appareil, entraînement fédéré avec différentielle privacy budgétée, et agrégation sécurisée en Confidential Computing — donc même Microsoft, en tant qu'opérateur, ne voit pas la mémoire pendant l'agrégation. C'est ce qui distingue une posture "privacy-preserving" sérieuse d'une simple promesse contractuelle.</a:t>
            </a:r>
          </a:p>
          <a:p/>
          <a:p>
            <a:r>
              <a:t>---</a:t>
            </a:r>
          </a:p>
          <a:p>
            <a:r>
              <a:t>CXO focus: CAIO · CDO · CISO</a:t>
            </a:r>
          </a:p>
          <a:p>
            <a:r>
              <a:t>Visual: Layered diagram: device (ONNX) → DP noise → federated aggregation in CVM → model registry → re-deploy.</a:t>
            </a:r>
          </a:p>
          <a:p>
            <a:r>
              <a:t>Source refs: agents/privacy-preserving-ml-engineer.chatmode.md · plan/03-target-architecture.md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CAIO et le CTO : le choix de modèle est *par tâche*, pas global. On part petit, on escalade vers du frontier seulement si la confidence est insuffisante. Quatre critères de gate pour chaque release : fairness par cohorte, calibration (ECE ≤ 0,05), safety (zéro critique sur l'eval suite), et transparence. Le RAI Evaluator en est responsable. Re-évaluation trimestrielle plus rollback prêt en quelques heures.</a:t>
            </a:r>
          </a:p>
          <a:p/>
          <a:p>
            <a:r>
              <a:t>---</a:t>
            </a:r>
          </a:p>
          <a:p>
            <a:r>
              <a:t>CXO focus: CAIO · CTO</a:t>
            </a:r>
          </a:p>
          <a:p>
            <a:r>
              <a:t>Visual: Decision tree: task → model size → fallback path. Eval gates as a horizontal pipeline.</a:t>
            </a:r>
          </a:p>
          <a:p>
            <a:r>
              <a:t>Source refs: plan/07-governance-rai.md · agents/responsible-ai-evaluator.chatmode.md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CAIO et le CTO : l'architecture agentique n'est pas dans le produit fini, elle est dans la *fabrique* du produit. Neuf agents spécialistes, un orchestrateur, et un QA cross-agent qui audite les livrables des autres avant chaque gate. Le tout passe par les slash commands Spec Kit — chaque feature laisse un dossier `specs/NNN-…/` avec spec, plan, checklist, tasks. C'est ce qui rend l'auditabilité de l'AI Act tenable à l'échelle.</a:t>
            </a:r>
          </a:p>
          <a:p/>
          <a:p>
            <a:r>
              <a:t>---</a:t>
            </a:r>
          </a:p>
          <a:p>
            <a:r>
              <a:t>CXO focus: CAIO · CTO</a:t>
            </a:r>
          </a:p>
          <a:p>
            <a:r>
              <a:t>Visual: Ring of 9 agent avatars around a central "Orchestrator" hub; arrows to/from a Spec Kit pipeline at the bottom.</a:t>
            </a:r>
          </a:p>
          <a:p>
            <a:r>
              <a:t>Source refs: agents/ · README.md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CTO/CISO/CCO : l'observability est l'épine dorsale de la conformité, pas un confort opérationnel. App Insights pour la télémétrie applicative, plus un flux append-only en stockage WORM pour l'audit régulateur. Les workbooks KQL prêts à servir une demande d'évidence sous AI Act Art. 12. Le tout descend dans le dashboard du Conseil RAI et le pack mensuel du board.</a:t>
            </a:r>
          </a:p>
          <a:p/>
          <a:p>
            <a:r>
              <a:t>---</a:t>
            </a:r>
          </a:p>
          <a:p>
            <a:r>
              <a:t>CXO focus: CTO · CISO · CCO</a:t>
            </a:r>
          </a:p>
          <a:p>
            <a:r>
              <a:t>Visual: Pipeline: app → App Insights → KQL workbook → Power BI · in parallel → WORM blob → integrity verifier.</a:t>
            </a:r>
          </a:p>
          <a:p>
            <a:r>
              <a:t>Source refs: plan/03-target-architecture.md · plan/04-compliance-eu-ai-act-gdpr.md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CTO et le COO : les SLO sont alignés sur la fenêtre d'usage scolaire. On vise 99,9 % de disponibilité avec maintenance hors heures de classe, p95 d'inférence sous 200 ms en local, sous 800 ms en fallback cloud. Multi-région EU pour la DR ; drill trimestriel pour s'assurer que RPO 15 minutes et RTO 2 heures tiennent vraiment. Kill-switch par feature en moins de 5 minutes — c'est l'exigence article 14 (oversight).</a:t>
            </a:r>
          </a:p>
          <a:p/>
          <a:p>
            <a:r>
              <a:t>---</a:t>
            </a:r>
          </a:p>
          <a:p>
            <a:r>
              <a:t>CXO focus: CTO · COO</a:t>
            </a:r>
          </a:p>
          <a:p>
            <a:r>
              <a:t>Visual: Heat-map of SLOs vs school-day peaks; DR diagram with RPO/RTO badges.</a:t>
            </a:r>
          </a:p>
          <a:p>
            <a:r>
              <a:t>Source refs: plan/03-target-architecture.md · demo/ARCHITECTURE.md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CFO : le KPI FinOps interne est le coût par apprenant par mois — cible 0,45 € au régime 3 marchés. La plus grosse variable est Azure OpenAI, d'où les leviers PTU + cache + small-models. Les capacités Fabric sont réservées pour bloquer le prix unitaire. Pour le CSO : voir annexe A16 pour le proxy carbone aligné sur le même dénominateur.</a:t>
            </a:r>
          </a:p>
          <a:p/>
          <a:p>
            <a:r>
              <a:t>---</a:t>
            </a:r>
          </a:p>
          <a:p>
            <a:r>
              <a:t>CXO focus: CFO · CIO · CSO</a:t>
            </a:r>
          </a:p>
          <a:p>
            <a:r>
              <a:t>Visual: Stacked donut of cost categories; line chart of cost / learner / month trajectory across 12 months.</a:t>
            </a:r>
          </a:p>
          <a:p>
            <a:r>
              <a:t>Source refs: plan/05-kpis-outcomes.md · plan/06-risks-register.md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registre complet. Trois risques en orange à severity ≥ 15 : R4 (qualité localisation), R1 (DPA) et R6 (bias). Tous mitigés activement, contingents documentés, revus mensuellement au Steering. Pour le CRO : la règle est qu'au-dessus de severity 20, on convoque un Steering d'urgence sous 5 jours ouvrés.</a:t>
            </a:r>
          </a:p>
          <a:p/>
          <a:p>
            <a:r>
              <a:t>---</a:t>
            </a:r>
          </a:p>
          <a:p>
            <a:r>
              <a:t>CXO focus: CRO · CCO · CISO</a:t>
            </a:r>
          </a:p>
          <a:p>
            <a:r>
              <a:t>Visual: 12-cell heat-map (5×5 likelihood × impact) with each Rxx pinned to its severity coordinates.</a:t>
            </a:r>
          </a:p>
          <a:p>
            <a:r>
              <a:t>Source refs: plan/06-risks-register.md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leading indicators que les workstreams suivent au quotidien. Ce sont eux qui permettent au Steering de voir un risque de glissement de KPI avant qu'il ne se matérialise. Voir plan/05-kpis-outcomes.md pour le détail.</a:t>
            </a:r>
          </a:p>
          <a:p/>
          <a:p>
            <a:r>
              <a:t>---</a:t>
            </a:r>
          </a:p>
          <a:p>
            <a:r>
              <a:t>CXO focus: CEO · COO · CFO</a:t>
            </a:r>
          </a:p>
          <a:p>
            <a:r>
              <a:t>Visual: 4-quadrant scoreboard (Learner / Teacher / Localisation / Compliance), each with 3–4 leading indicators.</a:t>
            </a:r>
          </a:p>
          <a:p>
            <a:r>
              <a:t>Source refs: plan/05-kpis-outcomes.md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CEO et le CAIO : la gouvernance écrite. Quatre instances, pré­sidences nommées, chartes documentées. Le Conseil RAI est l'instance opérationnelle qui *lie* ou *libère* une version de modèle — c'est lui qui dit "rollback" en cas de problème, pas le board. Il rapporte au Steering. La présidence du Conseil RAI est l'une des trois demandes du slide 21.</a:t>
            </a:r>
          </a:p>
          <a:p/>
          <a:p>
            <a:r>
              <a:t>---</a:t>
            </a:r>
          </a:p>
          <a:p>
            <a:r>
              <a:t>CXO focus: CEO · CRO · CAIO</a:t>
            </a:r>
          </a:p>
          <a:p>
            <a:r>
              <a:t>Visual: Org chart with the four bodies; RAI Council membership card highlighted.</a:t>
            </a:r>
          </a:p>
          <a:p>
            <a:r>
              <a:t>Source refs: plan/07-governance-rai.md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CISO et le CLO : l'IR est drillé trimestriellement, pas écrit dans un dossier qui dort. Les fenêtres statutaires sont connues : 72 heures GDPR Article 33 vers la DPA, statutaires AI Act Article 73 vers l'autorité compétente. Kill switch wiré pour chaque feature IA. Et un post-mortem publié en interne sous 5 jours ouvrés — c'est ce qui rend la culture sérieuse.</a:t>
            </a:r>
          </a:p>
          <a:p/>
          <a:p>
            <a:r>
              <a:t>---</a:t>
            </a:r>
          </a:p>
          <a:p>
            <a:r>
              <a:t>CXO focus: CISO · CRO · CLO</a:t>
            </a:r>
          </a:p>
          <a:p>
            <a:r>
              <a:t>Visual: Timeline of an incident: detect → contain → notify → remediate → publish RCA. Hour-markers on each stage.</a:t>
            </a:r>
          </a:p>
          <a:p>
            <a:r>
              <a:t>Source refs: plan/04-compliance-eu-ai-act-gdpr.md · plan/06-risks-register.md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CSO et le CFO : on relie le KPI FinOps (coût par apprenant par mois) à un proxy carbone — mêmes dénominateurs, mêmes leviers. Les choix d'architecture qui réduisent la facture Azure (on-device, small-first, cache, PTU) réduisent aussi la trajectoire carbone. Reporting trimestriel dans le narratif ESG groupe.</a:t>
            </a:r>
          </a:p>
          <a:p/>
          <a:p>
            <a:r>
              <a:t>---</a:t>
            </a:r>
          </a:p>
          <a:p>
            <a:r>
              <a:t>CXO focus: CSO · CFO</a:t>
            </a:r>
          </a:p>
          <a:p>
            <a:r>
              <a:t>Visual: Sparkline: gCO₂e/learner/month vs target line. Renewable-share badge per region.</a:t>
            </a:r>
          </a:p>
          <a:p>
            <a:r>
              <a:t>Source refs: plan/05-kpis-outcomes.md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pour Q&amp;A. Tous les claims de ce deck sont retraçables à l'un de ces documents — règle interne, pas un slide où on ne saurait pas pointer la source.</a:t>
            </a:r>
          </a:p>
          <a:p/>
          <a:p>
            <a:r>
              <a:t>---</a:t>
            </a:r>
          </a:p>
          <a:p>
            <a:r>
              <a:t>CXO focus: All</a:t>
            </a:r>
          </a:p>
          <a:p>
            <a:r>
              <a:t>Visual: Two columns, plain typographic.</a:t>
            </a:r>
          </a:p>
          <a:p>
            <a:r>
              <a:t>Source refs: all listed below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6" name="Rectangle 35">
            <a:extLst>
              <a:ext uri="{FF2B5EF4-FFF2-40B4-BE49-F238E27FC236}">
                <a16:creationId xmlns:a16="http://schemas.microsoft.com/office/drawing/2014/main" id="{3C3578EB-E88C-BC63-2EB9-EBEC98F2D201}"/>
              </a:ext>
            </a:extLst>
          </p:cNvPr>
          <p:cNvSpPr/>
          <p:nvPr userDrawn="1"/>
        </p:nvSpPr>
        <p:spPr bwMode="auto">
          <a:xfrm>
            <a:off x="0" y="1174750"/>
            <a:ext cx="9207500" cy="4508500"/>
          </a:xfrm>
          <a:prstGeom prst="rect">
            <a:avLst/>
          </a:prstGeom>
          <a:gradFill flip="none" rotWithShape="1">
            <a:gsLst>
              <a:gs pos="0">
                <a:schemeClr val="tx1">
                  <a:alpha val="14000"/>
                </a:schemeClr>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33" name="Picture 32" descr="A silver shield with text and stars&#10;&#10;AI-generated content may be incorrect.">
            <a:extLst>
              <a:ext uri="{FF2B5EF4-FFF2-40B4-BE49-F238E27FC236}">
                <a16:creationId xmlns:a16="http://schemas.microsoft.com/office/drawing/2014/main" id="{7DE39951-E22A-4E5D-3F1B-FC4A3162C280}"/>
              </a:ext>
            </a:extLst>
          </p:cNvPr>
          <p:cNvPicPr>
            <a:picLocks noChangeAspect="1"/>
          </p:cNvPicPr>
          <p:nvPr userDrawn="1"/>
        </p:nvPicPr>
        <p:blipFill>
          <a:blip r:embed="rId3"/>
          <a:srcRect l="3844" t="2514" r="4223" b="5918"/>
          <a:stretch>
            <a:fillRect/>
          </a:stretch>
        </p:blipFill>
        <p:spPr>
          <a:xfrm>
            <a:off x="7323544" y="1295400"/>
            <a:ext cx="4284256" cy="4267200"/>
          </a:xfrm>
          <a:prstGeom prst="rect">
            <a:avLst/>
          </a:prstGeom>
          <a:effectLst>
            <a:outerShdw blurRad="762000" sx="118000" sy="118000" algn="ctr" rotWithShape="0">
              <a:schemeClr val="tx1">
                <a:alpha val="7000"/>
              </a:schemeClr>
            </a:outerShdw>
          </a:effectLst>
        </p:spPr>
      </p:pic>
      <p:sp>
        <p:nvSpPr>
          <p:cNvPr id="6" name="Title 1">
            <a:extLst>
              <a:ext uri="{FF2B5EF4-FFF2-40B4-BE49-F238E27FC236}">
                <a16:creationId xmlns:a16="http://schemas.microsoft.com/office/drawing/2014/main" id="{BBD38F5B-5B2A-C576-8754-00FAD284AFE1}"/>
              </a:ext>
            </a:extLst>
          </p:cNvPr>
          <p:cNvSpPr>
            <a:spLocks noGrp="1"/>
          </p:cNvSpPr>
          <p:nvPr>
            <p:ph type="title"/>
          </p:nvPr>
        </p:nvSpPr>
        <p:spPr>
          <a:xfrm>
            <a:off x="584200" y="2044005"/>
            <a:ext cx="5854700" cy="2769989"/>
          </a:xfrm>
        </p:spPr>
        <p:txBody>
          <a:bodyPr anchor="ctr">
            <a:noAutofit/>
          </a:bodyPr>
          <a:lstStyle>
            <a:lvl1pPr>
              <a:defRPr sz="6000"/>
            </a:lvl1pPr>
          </a:lstStyle>
          <a:p>
            <a:r>
              <a:rPr lang="en-US"/>
              <a:t>Click to edit Master title style</a:t>
            </a:r>
          </a:p>
        </p:txBody>
      </p:sp>
      <p:pic>
        <p:nvPicPr>
          <p:cNvPr id="2" name="Picture 1" descr="A logo on a black background&#10;&#10;AI-generated content may be incorrect.">
            <a:extLst>
              <a:ext uri="{FF2B5EF4-FFF2-40B4-BE49-F238E27FC236}">
                <a16:creationId xmlns:a16="http://schemas.microsoft.com/office/drawing/2014/main" id="{E030E9E4-7722-AAB3-6537-4D3C17CA7C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624043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84" userDrawn="1">
          <p15:clr>
            <a:srgbClr val="FBAE40"/>
          </p15:clr>
        </p15:guide>
        <p15:guide id="2" pos="6127">
          <p15:clr>
            <a:srgbClr val="5ACBF0"/>
          </p15:clr>
        </p15:guide>
        <p15:guide id="3" orient="horz" pos="191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Tree>
    <p:extLst>
      <p:ext uri="{BB962C8B-B14F-4D97-AF65-F5344CB8AC3E}">
        <p14:creationId xmlns:p14="http://schemas.microsoft.com/office/powerpoint/2010/main" val="3465649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2" name="Title 3">
            <a:extLst>
              <a:ext uri="{FF2B5EF4-FFF2-40B4-BE49-F238E27FC236}">
                <a16:creationId xmlns:a16="http://schemas.microsoft.com/office/drawing/2014/main" id="{629B222F-D5BC-3163-C07E-28EB281CFAE1}"/>
              </a:ext>
            </a:extLst>
          </p:cNvPr>
          <p:cNvSpPr txBox="1">
            <a:spLocks/>
          </p:cNvSpPr>
          <p:nvPr userDrawn="1"/>
        </p:nvSpPr>
        <p:spPr>
          <a:xfrm>
            <a:off x="1" y="0"/>
            <a:ext cx="1828800" cy="6822179"/>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cxnSp>
        <p:nvCxnSpPr>
          <p:cNvPr id="26" name="Straight Connector 25">
            <a:extLst>
              <a:ext uri="{FF2B5EF4-FFF2-40B4-BE49-F238E27FC236}">
                <a16:creationId xmlns:a16="http://schemas.microsoft.com/office/drawing/2014/main" id="{C324C607-9B6E-4620-DEB4-B8FE904A9AE1}"/>
              </a:ext>
            </a:extLst>
          </p:cNvPr>
          <p:cNvCxnSpPr/>
          <p:nvPr userDrawn="1"/>
        </p:nvCxnSpPr>
        <p:spPr>
          <a:xfrm>
            <a:off x="3362142"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E84D50-2045-E06F-7FA3-CBE874CA35A8}"/>
              </a:ext>
            </a:extLst>
          </p:cNvPr>
          <p:cNvCxnSpPr/>
          <p:nvPr userDrawn="1"/>
        </p:nvCxnSpPr>
        <p:spPr>
          <a:xfrm>
            <a:off x="3362142"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BE64CC-2DC9-A95A-C36C-FF452184C3F2}"/>
              </a:ext>
            </a:extLst>
          </p:cNvPr>
          <p:cNvCxnSpPr/>
          <p:nvPr userDrawn="1"/>
        </p:nvCxnSpPr>
        <p:spPr>
          <a:xfrm>
            <a:off x="3362142"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69C647-00FF-9272-2A14-434E60BBDBB4}"/>
              </a:ext>
            </a:extLst>
          </p:cNvPr>
          <p:cNvCxnSpPr/>
          <p:nvPr userDrawn="1"/>
        </p:nvCxnSpPr>
        <p:spPr>
          <a:xfrm>
            <a:off x="8077016"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CE8E4F-D935-36F7-B124-09578B33BD09}"/>
              </a:ext>
            </a:extLst>
          </p:cNvPr>
          <p:cNvCxnSpPr/>
          <p:nvPr userDrawn="1"/>
        </p:nvCxnSpPr>
        <p:spPr>
          <a:xfrm>
            <a:off x="8077016"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B0544D-5F71-0D69-81F1-F41CE9410351}"/>
              </a:ext>
            </a:extLst>
          </p:cNvPr>
          <p:cNvCxnSpPr/>
          <p:nvPr userDrawn="1"/>
        </p:nvCxnSpPr>
        <p:spPr>
          <a:xfrm>
            <a:off x="8077016"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298848" y="704850"/>
            <a:ext cx="1231106" cy="5412478"/>
          </a:xfrm>
        </p:spPr>
        <p:txBody>
          <a:bodyPr vert="vert270">
            <a:noAutofit/>
          </a:bodyPr>
          <a:lstStyle>
            <a:lvl1pPr algn="ctr">
              <a:defRPr sz="8000"/>
            </a:lvl1pPr>
          </a:lstStyle>
          <a:p>
            <a:r>
              <a:rPr lang="en-US"/>
              <a:t>AGENDA</a:t>
            </a:r>
          </a:p>
        </p:txBody>
      </p:sp>
      <p:sp>
        <p:nvSpPr>
          <p:cNvPr id="6"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3362142"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8"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8077016"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9" name="Text Placeholder 4">
            <a:extLst>
              <a:ext uri="{FF2B5EF4-FFF2-40B4-BE49-F238E27FC236}">
                <a16:creationId xmlns:a16="http://schemas.microsoft.com/office/drawing/2014/main" id="{521E0D50-C05E-2148-5B4B-CA4C6802702E}"/>
              </a:ext>
            </a:extLst>
          </p:cNvPr>
          <p:cNvSpPr>
            <a:spLocks noGrp="1"/>
          </p:cNvSpPr>
          <p:nvPr>
            <p:ph type="body" sz="quarter" idx="12" hasCustomPrompt="1"/>
          </p:nvPr>
        </p:nvSpPr>
        <p:spPr>
          <a:xfrm>
            <a:off x="3362142"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0" name="Text Placeholder 4">
            <a:extLst>
              <a:ext uri="{FF2B5EF4-FFF2-40B4-BE49-F238E27FC236}">
                <a16:creationId xmlns:a16="http://schemas.microsoft.com/office/drawing/2014/main" id="{4BB2511C-FA6B-786F-A4C7-3DC05FBAD19E}"/>
              </a:ext>
            </a:extLst>
          </p:cNvPr>
          <p:cNvSpPr>
            <a:spLocks noGrp="1"/>
          </p:cNvSpPr>
          <p:nvPr>
            <p:ph type="body" sz="quarter" idx="13" hasCustomPrompt="1"/>
          </p:nvPr>
        </p:nvSpPr>
        <p:spPr>
          <a:xfrm>
            <a:off x="8077016"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1" name="Text Placeholder 4">
            <a:extLst>
              <a:ext uri="{FF2B5EF4-FFF2-40B4-BE49-F238E27FC236}">
                <a16:creationId xmlns:a16="http://schemas.microsoft.com/office/drawing/2014/main" id="{84401C60-F88F-7DB3-5EDC-F351AA89E476}"/>
              </a:ext>
            </a:extLst>
          </p:cNvPr>
          <p:cNvSpPr>
            <a:spLocks noGrp="1"/>
          </p:cNvSpPr>
          <p:nvPr>
            <p:ph type="body" sz="quarter" idx="14" hasCustomPrompt="1"/>
          </p:nvPr>
        </p:nvSpPr>
        <p:spPr>
          <a:xfrm>
            <a:off x="3362142"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3" name="Text Placeholder 4">
            <a:extLst>
              <a:ext uri="{FF2B5EF4-FFF2-40B4-BE49-F238E27FC236}">
                <a16:creationId xmlns:a16="http://schemas.microsoft.com/office/drawing/2014/main" id="{4F0E90F9-865C-2FDD-F964-D0A439FADDE4}"/>
              </a:ext>
            </a:extLst>
          </p:cNvPr>
          <p:cNvSpPr>
            <a:spLocks noGrp="1"/>
          </p:cNvSpPr>
          <p:nvPr>
            <p:ph type="body" sz="quarter" idx="15" hasCustomPrompt="1"/>
          </p:nvPr>
        </p:nvSpPr>
        <p:spPr>
          <a:xfrm>
            <a:off x="8077016"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4" name="Text Placeholder 4">
            <a:extLst>
              <a:ext uri="{FF2B5EF4-FFF2-40B4-BE49-F238E27FC236}">
                <a16:creationId xmlns:a16="http://schemas.microsoft.com/office/drawing/2014/main" id="{55A1A458-F1AF-98F6-ACB5-57CF62E96644}"/>
              </a:ext>
            </a:extLst>
          </p:cNvPr>
          <p:cNvSpPr>
            <a:spLocks noGrp="1"/>
          </p:cNvSpPr>
          <p:nvPr>
            <p:ph type="body" sz="quarter" idx="16" hasCustomPrompt="1"/>
          </p:nvPr>
        </p:nvSpPr>
        <p:spPr>
          <a:xfrm>
            <a:off x="3362142"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5" name="Text Placeholder 4">
            <a:extLst>
              <a:ext uri="{FF2B5EF4-FFF2-40B4-BE49-F238E27FC236}">
                <a16:creationId xmlns:a16="http://schemas.microsoft.com/office/drawing/2014/main" id="{AEDA8387-0AE1-03F1-FEBA-E00B2A9F1CDA}"/>
              </a:ext>
            </a:extLst>
          </p:cNvPr>
          <p:cNvSpPr>
            <a:spLocks noGrp="1"/>
          </p:cNvSpPr>
          <p:nvPr>
            <p:ph type="body" sz="quarter" idx="17" hasCustomPrompt="1"/>
          </p:nvPr>
        </p:nvSpPr>
        <p:spPr>
          <a:xfrm>
            <a:off x="8077016"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31">
            <a:extLst>
              <a:ext uri="{FF2B5EF4-FFF2-40B4-BE49-F238E27FC236}">
                <a16:creationId xmlns:a16="http://schemas.microsoft.com/office/drawing/2014/main" id="{82CE9398-7433-9B5B-9954-2F3D03E21ECE}"/>
              </a:ext>
            </a:extLst>
          </p:cNvPr>
          <p:cNvSpPr>
            <a:spLocks noGrp="1"/>
          </p:cNvSpPr>
          <p:nvPr>
            <p:ph type="body" sz="quarter" idx="20" hasCustomPrompt="1"/>
          </p:nvPr>
        </p:nvSpPr>
        <p:spPr>
          <a:xfrm>
            <a:off x="2470150" y="2708339"/>
            <a:ext cx="687196" cy="687196"/>
          </a:xfrm>
          <a:prstGeom prst="ellipse">
            <a:avLst/>
          </a:prstGeom>
          <a:solidFill>
            <a:srgbClr val="091F2C"/>
          </a:solidFill>
          <a:ln w="3175">
            <a:solidFill>
              <a:schemeClr val="tx1">
                <a:alpha val="27000"/>
              </a:schemeClr>
            </a:solidFill>
          </a:ln>
        </p:spPr>
        <p:txBody>
          <a:bodyPr anchor="ctr">
            <a:noAutofit/>
          </a:bodyPr>
          <a:lstStyle>
            <a:lvl1pPr algn="ctr">
              <a:buNone/>
              <a:defRPr sz="3200" b="1">
                <a:solidFill>
                  <a:schemeClr val="accent1"/>
                </a:solidFill>
                <a:latin typeface="+mn-lt"/>
              </a:defRPr>
            </a:lvl1pPr>
          </a:lstStyle>
          <a:p>
            <a:pPr lvl="0"/>
            <a:r>
              <a:rPr lang="en-US"/>
              <a:t>2</a:t>
            </a:r>
          </a:p>
        </p:txBody>
      </p:sp>
      <p:sp>
        <p:nvSpPr>
          <p:cNvPr id="45" name="Oval 44">
            <a:extLst>
              <a:ext uri="{FF2B5EF4-FFF2-40B4-BE49-F238E27FC236}">
                <a16:creationId xmlns:a16="http://schemas.microsoft.com/office/drawing/2014/main" id="{16B77EEF-CF89-3A51-3FB1-DC1BC8FA4938}"/>
              </a:ext>
            </a:extLst>
          </p:cNvPr>
          <p:cNvSpPr/>
          <p:nvPr userDrawn="1"/>
        </p:nvSpPr>
        <p:spPr bwMode="auto">
          <a:xfrm>
            <a:off x="2470150"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2</a:t>
            </a:r>
          </a:p>
        </p:txBody>
      </p:sp>
      <p:sp>
        <p:nvSpPr>
          <p:cNvPr id="46" name="Oval 45">
            <a:extLst>
              <a:ext uri="{FF2B5EF4-FFF2-40B4-BE49-F238E27FC236}">
                <a16:creationId xmlns:a16="http://schemas.microsoft.com/office/drawing/2014/main" id="{34EED089-899E-9B4B-1332-84B1B197A37D}"/>
              </a:ext>
            </a:extLst>
          </p:cNvPr>
          <p:cNvSpPr/>
          <p:nvPr userDrawn="1"/>
        </p:nvSpPr>
        <p:spPr bwMode="auto">
          <a:xfrm>
            <a:off x="2470150"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1</a:t>
            </a:r>
          </a:p>
        </p:txBody>
      </p:sp>
      <p:sp>
        <p:nvSpPr>
          <p:cNvPr id="47" name="Oval 46">
            <a:extLst>
              <a:ext uri="{FF2B5EF4-FFF2-40B4-BE49-F238E27FC236}">
                <a16:creationId xmlns:a16="http://schemas.microsoft.com/office/drawing/2014/main" id="{2EC0CF99-EFDC-0B15-9717-6A90C25BFE03}"/>
              </a:ext>
            </a:extLst>
          </p:cNvPr>
          <p:cNvSpPr/>
          <p:nvPr userDrawn="1"/>
        </p:nvSpPr>
        <p:spPr bwMode="auto">
          <a:xfrm>
            <a:off x="2470150"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4</a:t>
            </a:r>
          </a:p>
        </p:txBody>
      </p:sp>
      <p:sp>
        <p:nvSpPr>
          <p:cNvPr id="48" name="Oval 47">
            <a:extLst>
              <a:ext uri="{FF2B5EF4-FFF2-40B4-BE49-F238E27FC236}">
                <a16:creationId xmlns:a16="http://schemas.microsoft.com/office/drawing/2014/main" id="{7B42A3CF-6F26-8D15-F208-7CEE5DB5E516}"/>
              </a:ext>
            </a:extLst>
          </p:cNvPr>
          <p:cNvSpPr/>
          <p:nvPr userDrawn="1"/>
        </p:nvSpPr>
        <p:spPr bwMode="auto">
          <a:xfrm>
            <a:off x="2470150"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3</a:t>
            </a:r>
          </a:p>
        </p:txBody>
      </p:sp>
      <p:sp>
        <p:nvSpPr>
          <p:cNvPr id="49" name="Oval 48">
            <a:extLst>
              <a:ext uri="{FF2B5EF4-FFF2-40B4-BE49-F238E27FC236}">
                <a16:creationId xmlns:a16="http://schemas.microsoft.com/office/drawing/2014/main" id="{9EDD5216-EDDD-0EEB-329E-3B3C7123034B}"/>
              </a:ext>
            </a:extLst>
          </p:cNvPr>
          <p:cNvSpPr/>
          <p:nvPr userDrawn="1"/>
        </p:nvSpPr>
        <p:spPr bwMode="auto">
          <a:xfrm>
            <a:off x="7185024"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6</a:t>
            </a:r>
          </a:p>
        </p:txBody>
      </p:sp>
      <p:sp>
        <p:nvSpPr>
          <p:cNvPr id="50" name="Oval 49">
            <a:extLst>
              <a:ext uri="{FF2B5EF4-FFF2-40B4-BE49-F238E27FC236}">
                <a16:creationId xmlns:a16="http://schemas.microsoft.com/office/drawing/2014/main" id="{6387AF57-2674-E5C0-C3AC-36A5F38D2933}"/>
              </a:ext>
            </a:extLst>
          </p:cNvPr>
          <p:cNvSpPr/>
          <p:nvPr userDrawn="1"/>
        </p:nvSpPr>
        <p:spPr bwMode="auto">
          <a:xfrm>
            <a:off x="7185024"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5</a:t>
            </a:r>
          </a:p>
        </p:txBody>
      </p:sp>
      <p:sp>
        <p:nvSpPr>
          <p:cNvPr id="51" name="Oval 50">
            <a:extLst>
              <a:ext uri="{FF2B5EF4-FFF2-40B4-BE49-F238E27FC236}">
                <a16:creationId xmlns:a16="http://schemas.microsoft.com/office/drawing/2014/main" id="{429A9B74-E02B-F7CA-8366-8699080EB397}"/>
              </a:ext>
            </a:extLst>
          </p:cNvPr>
          <p:cNvSpPr/>
          <p:nvPr userDrawn="1"/>
        </p:nvSpPr>
        <p:spPr bwMode="auto">
          <a:xfrm>
            <a:off x="7185024"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8</a:t>
            </a:r>
          </a:p>
        </p:txBody>
      </p:sp>
      <p:sp>
        <p:nvSpPr>
          <p:cNvPr id="52" name="Oval 51">
            <a:extLst>
              <a:ext uri="{FF2B5EF4-FFF2-40B4-BE49-F238E27FC236}">
                <a16:creationId xmlns:a16="http://schemas.microsoft.com/office/drawing/2014/main" id="{4688EEE8-B1A0-3C9E-589E-EC80C19CC870}"/>
              </a:ext>
            </a:extLst>
          </p:cNvPr>
          <p:cNvSpPr/>
          <p:nvPr userDrawn="1"/>
        </p:nvSpPr>
        <p:spPr bwMode="auto">
          <a:xfrm>
            <a:off x="7185024"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15995046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61837213-2F00-7C5C-F362-8E16E7E5983A}"/>
              </a:ext>
            </a:extLst>
          </p:cNvPr>
          <p:cNvSpPr txBox="1">
            <a:spLocks/>
          </p:cNvSpPr>
          <p:nvPr userDrawn="1"/>
        </p:nvSpPr>
        <p:spPr>
          <a:xfrm>
            <a:off x="584200" y="556959"/>
            <a:ext cx="3390900" cy="877824"/>
          </a:xfrm>
          <a:prstGeom prst="roundRect">
            <a:avLst>
              <a:gd name="adj" fmla="val 50108"/>
            </a:avLst>
          </a:prstGeom>
          <a:gradFill>
            <a:gsLst>
              <a:gs pos="0">
                <a:srgbClr val="8449A9"/>
              </a:gs>
              <a:gs pos="100000">
                <a:srgbClr val="0538BB"/>
              </a:gs>
            </a:gsLst>
            <a:lin ang="2700000" scaled="1"/>
          </a:gradFill>
        </p:spPr>
        <p:txBody>
          <a:bodyPr vert="horz" wrap="square" lIns="0" tIns="0" rIns="0" bIns="0" rtlCol="0" anchor="ctr">
            <a:noAutofit/>
          </a:bodyPr>
          <a:lstStyle>
            <a:lvl1pPr marL="742950" indent="0" algn="l" defTabSz="932742" rtl="0" eaLnBrk="1" latinLnBrk="0" hangingPunct="1">
              <a:lnSpc>
                <a:spcPct val="100000"/>
              </a:lnSpc>
              <a:spcBef>
                <a:spcPct val="0"/>
              </a:spcBef>
              <a:buNone/>
              <a:defRPr lang="en-US" sz="40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Title 1">
            <a:extLst>
              <a:ext uri="{FF2B5EF4-FFF2-40B4-BE49-F238E27FC236}">
                <a16:creationId xmlns:a16="http://schemas.microsoft.com/office/drawing/2014/main" id="{2F6C29B5-D986-9324-FCA9-94495855D843}"/>
              </a:ext>
            </a:extLst>
          </p:cNvPr>
          <p:cNvSpPr>
            <a:spLocks noGrp="1"/>
          </p:cNvSpPr>
          <p:nvPr>
            <p:ph type="title" hasCustomPrompt="1"/>
          </p:nvPr>
        </p:nvSpPr>
        <p:spPr>
          <a:xfrm>
            <a:off x="1609412" y="688094"/>
            <a:ext cx="1943161" cy="615553"/>
          </a:xfrm>
          <a:prstGeom prst="rect">
            <a:avLst/>
          </a:prstGeom>
          <a:noFill/>
        </p:spPr>
        <p:txBody>
          <a:bodyPr wrap="square" anchor="ctr">
            <a:spAutoFit/>
          </a:bodyPr>
          <a:lstStyle>
            <a:lvl1pPr marL="0" indent="0">
              <a:defRPr sz="4000"/>
            </a:lvl1pPr>
          </a:lstStyle>
          <a:p>
            <a:r>
              <a:rPr lang="en-US"/>
              <a:t>AGENDA</a:t>
            </a:r>
          </a:p>
        </p:txBody>
      </p:sp>
      <p:sp>
        <p:nvSpPr>
          <p:cNvPr id="4" name="Rectangle 3">
            <a:extLst>
              <a:ext uri="{FF2B5EF4-FFF2-40B4-BE49-F238E27FC236}">
                <a16:creationId xmlns:a16="http://schemas.microsoft.com/office/drawing/2014/main" id="{1CBDF14E-C1F4-5208-C988-86EEB1382F8C}"/>
              </a:ext>
            </a:extLst>
          </p:cNvPr>
          <p:cNvSpPr/>
          <p:nvPr userDrawn="1"/>
        </p:nvSpPr>
        <p:spPr bwMode="auto">
          <a:xfrm>
            <a:off x="0" y="1711927"/>
            <a:ext cx="12192000" cy="4650773"/>
          </a:xfrm>
          <a:prstGeom prst="rect">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22" name="Straight Connector 21">
            <a:extLst>
              <a:ext uri="{FF2B5EF4-FFF2-40B4-BE49-F238E27FC236}">
                <a16:creationId xmlns:a16="http://schemas.microsoft.com/office/drawing/2014/main" id="{1D79FECC-2080-6B5D-93B4-DB21ABF0A051}"/>
              </a:ext>
            </a:extLst>
          </p:cNvPr>
          <p:cNvCxnSpPr>
            <a:cxnSpLocks/>
          </p:cNvCxnSpPr>
          <p:nvPr userDrawn="1"/>
        </p:nvCxnSpPr>
        <p:spPr>
          <a:xfrm>
            <a:off x="1350962"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34E87-35A9-476B-9068-0B52ADE4E99C}"/>
              </a:ext>
            </a:extLst>
          </p:cNvPr>
          <p:cNvCxnSpPr>
            <a:cxnSpLocks/>
          </p:cNvCxnSpPr>
          <p:nvPr userDrawn="1"/>
        </p:nvCxnSpPr>
        <p:spPr>
          <a:xfrm>
            <a:off x="1350962"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9040A5-BC74-BDEA-E89B-C30EB27461EF}"/>
              </a:ext>
            </a:extLst>
          </p:cNvPr>
          <p:cNvCxnSpPr>
            <a:cxnSpLocks/>
          </p:cNvCxnSpPr>
          <p:nvPr userDrawn="1"/>
        </p:nvCxnSpPr>
        <p:spPr>
          <a:xfrm>
            <a:off x="1350962"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9E44DC-7CB8-81D8-9C56-277CD9233843}"/>
              </a:ext>
            </a:extLst>
          </p:cNvPr>
          <p:cNvCxnSpPr>
            <a:cxnSpLocks/>
          </p:cNvCxnSpPr>
          <p:nvPr userDrawn="1"/>
        </p:nvCxnSpPr>
        <p:spPr>
          <a:xfrm>
            <a:off x="7010399"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9A07A36-634B-1E9A-B2E0-699269172C1C}"/>
              </a:ext>
            </a:extLst>
          </p:cNvPr>
          <p:cNvCxnSpPr>
            <a:cxnSpLocks/>
          </p:cNvCxnSpPr>
          <p:nvPr userDrawn="1"/>
        </p:nvCxnSpPr>
        <p:spPr>
          <a:xfrm>
            <a:off x="7010399"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1BB4B92-84F4-9E22-C1A1-FE19C497EF22}"/>
              </a:ext>
            </a:extLst>
          </p:cNvPr>
          <p:cNvCxnSpPr>
            <a:cxnSpLocks/>
          </p:cNvCxnSpPr>
          <p:nvPr userDrawn="1"/>
        </p:nvCxnSpPr>
        <p:spPr>
          <a:xfrm>
            <a:off x="7010399"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53"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1350962"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4"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7010399"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5" name="Text Placeholder 4">
            <a:extLst>
              <a:ext uri="{FF2B5EF4-FFF2-40B4-BE49-F238E27FC236}">
                <a16:creationId xmlns:a16="http://schemas.microsoft.com/office/drawing/2014/main" id="{22D33420-D41A-87FA-1A50-B913F8753F06}"/>
              </a:ext>
            </a:extLst>
          </p:cNvPr>
          <p:cNvSpPr>
            <a:spLocks noGrp="1"/>
          </p:cNvSpPr>
          <p:nvPr>
            <p:ph type="body" sz="quarter" idx="26" hasCustomPrompt="1"/>
          </p:nvPr>
        </p:nvSpPr>
        <p:spPr>
          <a:xfrm>
            <a:off x="1350962"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6" name="Text Placeholder 4">
            <a:extLst>
              <a:ext uri="{FF2B5EF4-FFF2-40B4-BE49-F238E27FC236}">
                <a16:creationId xmlns:a16="http://schemas.microsoft.com/office/drawing/2014/main" id="{D344184C-BD00-5D2D-B837-743B3B8499C0}"/>
              </a:ext>
            </a:extLst>
          </p:cNvPr>
          <p:cNvSpPr>
            <a:spLocks noGrp="1"/>
          </p:cNvSpPr>
          <p:nvPr>
            <p:ph type="body" sz="quarter" idx="27" hasCustomPrompt="1"/>
          </p:nvPr>
        </p:nvSpPr>
        <p:spPr>
          <a:xfrm>
            <a:off x="7010399"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7" name="Text Placeholder 4">
            <a:extLst>
              <a:ext uri="{FF2B5EF4-FFF2-40B4-BE49-F238E27FC236}">
                <a16:creationId xmlns:a16="http://schemas.microsoft.com/office/drawing/2014/main" id="{09877C7B-61F8-A6A4-0BC6-9232EF27C831}"/>
              </a:ext>
            </a:extLst>
          </p:cNvPr>
          <p:cNvSpPr>
            <a:spLocks noGrp="1"/>
          </p:cNvSpPr>
          <p:nvPr>
            <p:ph type="body" sz="quarter" idx="28" hasCustomPrompt="1"/>
          </p:nvPr>
        </p:nvSpPr>
        <p:spPr>
          <a:xfrm>
            <a:off x="1350962"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8" name="Text Placeholder 4">
            <a:extLst>
              <a:ext uri="{FF2B5EF4-FFF2-40B4-BE49-F238E27FC236}">
                <a16:creationId xmlns:a16="http://schemas.microsoft.com/office/drawing/2014/main" id="{B0E1B07C-0A2D-DF62-01AF-23567A01FB0D}"/>
              </a:ext>
            </a:extLst>
          </p:cNvPr>
          <p:cNvSpPr>
            <a:spLocks noGrp="1"/>
          </p:cNvSpPr>
          <p:nvPr>
            <p:ph type="body" sz="quarter" idx="29" hasCustomPrompt="1"/>
          </p:nvPr>
        </p:nvSpPr>
        <p:spPr>
          <a:xfrm>
            <a:off x="7010399"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9" name="Text Placeholder 4">
            <a:extLst>
              <a:ext uri="{FF2B5EF4-FFF2-40B4-BE49-F238E27FC236}">
                <a16:creationId xmlns:a16="http://schemas.microsoft.com/office/drawing/2014/main" id="{2BA4E47C-8268-BDAE-77F6-231FF8E392F0}"/>
              </a:ext>
            </a:extLst>
          </p:cNvPr>
          <p:cNvSpPr>
            <a:spLocks noGrp="1"/>
          </p:cNvSpPr>
          <p:nvPr>
            <p:ph type="body" sz="quarter" idx="30" hasCustomPrompt="1"/>
          </p:nvPr>
        </p:nvSpPr>
        <p:spPr>
          <a:xfrm>
            <a:off x="1350962"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0" name="Text Placeholder 4">
            <a:extLst>
              <a:ext uri="{FF2B5EF4-FFF2-40B4-BE49-F238E27FC236}">
                <a16:creationId xmlns:a16="http://schemas.microsoft.com/office/drawing/2014/main" id="{23B5589D-4946-7EC5-347F-9200FEC31C47}"/>
              </a:ext>
            </a:extLst>
          </p:cNvPr>
          <p:cNvSpPr>
            <a:spLocks noGrp="1"/>
          </p:cNvSpPr>
          <p:nvPr>
            <p:ph type="body" sz="quarter" idx="31" hasCustomPrompt="1"/>
          </p:nvPr>
        </p:nvSpPr>
        <p:spPr>
          <a:xfrm>
            <a:off x="7010399"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2" name="Graphic 158">
            <a:extLst>
              <a:ext uri="{FF2B5EF4-FFF2-40B4-BE49-F238E27FC236}">
                <a16:creationId xmlns:a16="http://schemas.microsoft.com/office/drawing/2014/main" id="{C90E6E46-4278-EFAD-A2FA-C632CAFCCD85}"/>
              </a:ext>
              <a:ext uri="{C183D7F6-B498-43B3-948B-1728B52AA6E4}">
                <adec:decorative xmlns:adec="http://schemas.microsoft.com/office/drawing/2017/decorative" val="1"/>
              </a:ext>
            </a:extLst>
          </p:cNvPr>
          <p:cNvSpPr/>
          <p:nvPr userDrawn="1"/>
        </p:nvSpPr>
        <p:spPr>
          <a:xfrm>
            <a:off x="843920" y="705220"/>
            <a:ext cx="539586" cy="581302"/>
          </a:xfrm>
          <a:custGeom>
            <a:avLst/>
            <a:gdLst>
              <a:gd name="connsiteX0" fmla="*/ 161925 w 247650"/>
              <a:gd name="connsiteY0" fmla="*/ 97 h 266796"/>
              <a:gd name="connsiteX1" fmla="*/ 171348 w 247650"/>
              <a:gd name="connsiteY1" fmla="*/ 8326 h 266796"/>
              <a:gd name="connsiteX2" fmla="*/ 171450 w 247650"/>
              <a:gd name="connsiteY2" fmla="*/ 9622 h 266796"/>
              <a:gd name="connsiteX3" fmla="*/ 171450 w 247650"/>
              <a:gd name="connsiteY3" fmla="*/ 19134 h 266796"/>
              <a:gd name="connsiteX4" fmla="*/ 180962 w 247650"/>
              <a:gd name="connsiteY4" fmla="*/ 19134 h 266796"/>
              <a:gd name="connsiteX5" fmla="*/ 209537 w 247650"/>
              <a:gd name="connsiteY5" fmla="*/ 47709 h 266796"/>
              <a:gd name="connsiteX6" fmla="*/ 209537 w 247650"/>
              <a:gd name="connsiteY6" fmla="*/ 102675 h 266796"/>
              <a:gd name="connsiteX7" fmla="*/ 143825 w 247650"/>
              <a:gd name="connsiteY7" fmla="*/ 117610 h 266796"/>
              <a:gd name="connsiteX8" fmla="*/ 139230 w 247650"/>
              <a:gd name="connsiteY8" fmla="*/ 127097 h 266796"/>
              <a:gd name="connsiteX9" fmla="*/ 47600 w 247650"/>
              <a:gd name="connsiteY9" fmla="*/ 127097 h 266796"/>
              <a:gd name="connsiteX10" fmla="*/ 46304 w 247650"/>
              <a:gd name="connsiteY10" fmla="*/ 127186 h 266796"/>
              <a:gd name="connsiteX11" fmla="*/ 38166 w 247650"/>
              <a:gd name="connsiteY11" fmla="*/ 137920 h 266796"/>
              <a:gd name="connsiteX12" fmla="*/ 46304 w 247650"/>
              <a:gd name="connsiteY12" fmla="*/ 146058 h 266796"/>
              <a:gd name="connsiteX13" fmla="*/ 47600 w 247650"/>
              <a:gd name="connsiteY13" fmla="*/ 146147 h 266796"/>
              <a:gd name="connsiteX14" fmla="*/ 136627 w 247650"/>
              <a:gd name="connsiteY14" fmla="*/ 146147 h 266796"/>
              <a:gd name="connsiteX15" fmla="*/ 151765 w 247650"/>
              <a:gd name="connsiteY15" fmla="*/ 177897 h 266796"/>
              <a:gd name="connsiteX16" fmla="*/ 139687 w 247650"/>
              <a:gd name="connsiteY16" fmla="*/ 177897 h 266796"/>
              <a:gd name="connsiteX17" fmla="*/ 107937 w 247650"/>
              <a:gd name="connsiteY17" fmla="*/ 209647 h 266796"/>
              <a:gd name="connsiteX18" fmla="*/ 107937 w 247650"/>
              <a:gd name="connsiteY18" fmla="*/ 215997 h 266796"/>
              <a:gd name="connsiteX19" fmla="*/ 122834 w 247650"/>
              <a:gd name="connsiteY19" fmla="*/ 254160 h 266796"/>
              <a:gd name="connsiteX20" fmla="*/ 28600 w 247650"/>
              <a:gd name="connsiteY20" fmla="*/ 254160 h 266796"/>
              <a:gd name="connsiteX21" fmla="*/ 25 w 247650"/>
              <a:gd name="connsiteY21" fmla="*/ 225585 h 266796"/>
              <a:gd name="connsiteX22" fmla="*/ 0 w 247650"/>
              <a:gd name="connsiteY22" fmla="*/ 47722 h 266796"/>
              <a:gd name="connsiteX23" fmla="*/ 28575 w 247650"/>
              <a:gd name="connsiteY23" fmla="*/ 19147 h 266796"/>
              <a:gd name="connsiteX24" fmla="*/ 38062 w 247650"/>
              <a:gd name="connsiteY24" fmla="*/ 19134 h 266796"/>
              <a:gd name="connsiteX25" fmla="*/ 38062 w 247650"/>
              <a:gd name="connsiteY25" fmla="*/ 9622 h 266796"/>
              <a:gd name="connsiteX26" fmla="*/ 47490 w 247650"/>
              <a:gd name="connsiteY26" fmla="*/ 1 h 266796"/>
              <a:gd name="connsiteX27" fmla="*/ 57036 w 247650"/>
              <a:gd name="connsiteY27" fmla="*/ 8326 h 266796"/>
              <a:gd name="connsiteX28" fmla="*/ 57125 w 247650"/>
              <a:gd name="connsiteY28" fmla="*/ 9622 h 266796"/>
              <a:gd name="connsiteX29" fmla="*/ 57125 w 247650"/>
              <a:gd name="connsiteY29" fmla="*/ 19134 h 266796"/>
              <a:gd name="connsiteX30" fmla="*/ 95250 w 247650"/>
              <a:gd name="connsiteY30" fmla="*/ 19134 h 266796"/>
              <a:gd name="connsiteX31" fmla="*/ 95250 w 247650"/>
              <a:gd name="connsiteY31" fmla="*/ 9622 h 266796"/>
              <a:gd name="connsiteX32" fmla="*/ 104678 w 247650"/>
              <a:gd name="connsiteY32" fmla="*/ 1 h 266796"/>
              <a:gd name="connsiteX33" fmla="*/ 114224 w 247650"/>
              <a:gd name="connsiteY33" fmla="*/ 8326 h 266796"/>
              <a:gd name="connsiteX34" fmla="*/ 114313 w 247650"/>
              <a:gd name="connsiteY34" fmla="*/ 9622 h 266796"/>
              <a:gd name="connsiteX35" fmla="*/ 114313 w 247650"/>
              <a:gd name="connsiteY35" fmla="*/ 19134 h 266796"/>
              <a:gd name="connsiteX36" fmla="*/ 152387 w 247650"/>
              <a:gd name="connsiteY36" fmla="*/ 19134 h 266796"/>
              <a:gd name="connsiteX37" fmla="*/ 152387 w 247650"/>
              <a:gd name="connsiteY37" fmla="*/ 9622 h 266796"/>
              <a:gd name="connsiteX38" fmla="*/ 161912 w 247650"/>
              <a:gd name="connsiteY38" fmla="*/ 97 h 266796"/>
              <a:gd name="connsiteX39" fmla="*/ 98387 w 247650"/>
              <a:gd name="connsiteY39" fmla="*/ 177897 h 266796"/>
              <a:gd name="connsiteX40" fmla="*/ 47600 w 247650"/>
              <a:gd name="connsiteY40" fmla="*/ 177897 h 266796"/>
              <a:gd name="connsiteX41" fmla="*/ 46304 w 247650"/>
              <a:gd name="connsiteY41" fmla="*/ 177986 h 266796"/>
              <a:gd name="connsiteX42" fmla="*/ 38166 w 247650"/>
              <a:gd name="connsiteY42" fmla="*/ 188720 h 266796"/>
              <a:gd name="connsiteX43" fmla="*/ 46304 w 247650"/>
              <a:gd name="connsiteY43" fmla="*/ 196858 h 266796"/>
              <a:gd name="connsiteX44" fmla="*/ 47600 w 247650"/>
              <a:gd name="connsiteY44" fmla="*/ 196947 h 266796"/>
              <a:gd name="connsiteX45" fmla="*/ 98387 w 247650"/>
              <a:gd name="connsiteY45" fmla="*/ 196947 h 266796"/>
              <a:gd name="connsiteX46" fmla="*/ 99682 w 247650"/>
              <a:gd name="connsiteY46" fmla="*/ 196858 h 266796"/>
              <a:gd name="connsiteX47" fmla="*/ 107820 w 247650"/>
              <a:gd name="connsiteY47" fmla="*/ 186124 h 266796"/>
              <a:gd name="connsiteX48" fmla="*/ 99682 w 247650"/>
              <a:gd name="connsiteY48" fmla="*/ 177986 h 266796"/>
              <a:gd name="connsiteX49" fmla="*/ 98387 w 247650"/>
              <a:gd name="connsiteY49" fmla="*/ 177897 h 266796"/>
              <a:gd name="connsiteX50" fmla="*/ 161887 w 247650"/>
              <a:gd name="connsiteY50" fmla="*/ 76297 h 266796"/>
              <a:gd name="connsiteX51" fmla="*/ 47612 w 247650"/>
              <a:gd name="connsiteY51" fmla="*/ 76297 h 266796"/>
              <a:gd name="connsiteX52" fmla="*/ 46317 w 247650"/>
              <a:gd name="connsiteY52" fmla="*/ 76386 h 266796"/>
              <a:gd name="connsiteX53" fmla="*/ 38179 w 247650"/>
              <a:gd name="connsiteY53" fmla="*/ 87120 h 266796"/>
              <a:gd name="connsiteX54" fmla="*/ 46317 w 247650"/>
              <a:gd name="connsiteY54" fmla="*/ 95258 h 266796"/>
              <a:gd name="connsiteX55" fmla="*/ 47612 w 247650"/>
              <a:gd name="connsiteY55" fmla="*/ 95347 h 266796"/>
              <a:gd name="connsiteX56" fmla="*/ 161912 w 247650"/>
              <a:gd name="connsiteY56" fmla="*/ 95347 h 266796"/>
              <a:gd name="connsiteX57" fmla="*/ 163195 w 247650"/>
              <a:gd name="connsiteY57" fmla="*/ 95258 h 266796"/>
              <a:gd name="connsiteX58" fmla="*/ 171333 w 247650"/>
              <a:gd name="connsiteY58" fmla="*/ 84524 h 266796"/>
              <a:gd name="connsiteX59" fmla="*/ 163195 w 247650"/>
              <a:gd name="connsiteY59" fmla="*/ 76386 h 266796"/>
              <a:gd name="connsiteX60" fmla="*/ 161900 w 247650"/>
              <a:gd name="connsiteY60" fmla="*/ 76297 h 266796"/>
              <a:gd name="connsiteX61" fmla="*/ 184150 w 247650"/>
              <a:gd name="connsiteY61" fmla="*/ 108047 h 266796"/>
              <a:gd name="connsiteX62" fmla="*/ 209550 w 247650"/>
              <a:gd name="connsiteY62" fmla="*/ 118982 h 266796"/>
              <a:gd name="connsiteX63" fmla="*/ 219075 w 247650"/>
              <a:gd name="connsiteY63" fmla="*/ 142972 h 266796"/>
              <a:gd name="connsiteX64" fmla="*/ 209550 w 247650"/>
              <a:gd name="connsiteY64" fmla="*/ 166949 h 266796"/>
              <a:gd name="connsiteX65" fmla="*/ 160179 w 247650"/>
              <a:gd name="connsiteY65" fmla="*/ 168365 h 266796"/>
              <a:gd name="connsiteX66" fmla="*/ 158763 w 247650"/>
              <a:gd name="connsiteY66" fmla="*/ 118994 h 266796"/>
              <a:gd name="connsiteX67" fmla="*/ 184150 w 247650"/>
              <a:gd name="connsiteY67" fmla="*/ 108047 h 266796"/>
              <a:gd name="connsiteX68" fmla="*/ 120650 w 247650"/>
              <a:gd name="connsiteY68" fmla="*/ 209647 h 266796"/>
              <a:gd name="connsiteX69" fmla="*/ 139700 w 247650"/>
              <a:gd name="connsiteY69" fmla="*/ 190597 h 266796"/>
              <a:gd name="connsiteX70" fmla="*/ 228600 w 247650"/>
              <a:gd name="connsiteY70" fmla="*/ 190597 h 266796"/>
              <a:gd name="connsiteX71" fmla="*/ 247650 w 247650"/>
              <a:gd name="connsiteY71" fmla="*/ 209647 h 266796"/>
              <a:gd name="connsiteX72" fmla="*/ 247650 w 247650"/>
              <a:gd name="connsiteY72" fmla="*/ 215997 h 266796"/>
              <a:gd name="connsiteX73" fmla="*/ 184150 w 247650"/>
              <a:gd name="connsiteY73" fmla="*/ 266797 h 266796"/>
              <a:gd name="connsiteX74" fmla="*/ 133274 w 247650"/>
              <a:gd name="connsiteY74" fmla="*/ 246731 h 266796"/>
              <a:gd name="connsiteX75" fmla="*/ 120650 w 247650"/>
              <a:gd name="connsiteY75" fmla="*/ 215997 h 266796"/>
              <a:gd name="connsiteX76" fmla="*/ 120650 w 247650"/>
              <a:gd name="connsiteY76" fmla="*/ 209647 h 26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47650" h="266796">
                <a:moveTo>
                  <a:pt x="161925" y="97"/>
                </a:moveTo>
                <a:cubicBezTo>
                  <a:pt x="166680" y="103"/>
                  <a:pt x="170702" y="3616"/>
                  <a:pt x="171348" y="8326"/>
                </a:cubicBezTo>
                <a:lnTo>
                  <a:pt x="171450" y="9622"/>
                </a:lnTo>
                <a:lnTo>
                  <a:pt x="171450" y="19134"/>
                </a:lnTo>
                <a:lnTo>
                  <a:pt x="180962" y="19134"/>
                </a:lnTo>
                <a:cubicBezTo>
                  <a:pt x="196744" y="19134"/>
                  <a:pt x="209537" y="31928"/>
                  <a:pt x="209537" y="47709"/>
                </a:cubicBezTo>
                <a:lnTo>
                  <a:pt x="209537" y="102675"/>
                </a:lnTo>
                <a:cubicBezTo>
                  <a:pt x="187267" y="88653"/>
                  <a:pt x="157847" y="95340"/>
                  <a:pt x="143825" y="117610"/>
                </a:cubicBezTo>
                <a:cubicBezTo>
                  <a:pt x="141947" y="120593"/>
                  <a:pt x="140406" y="123774"/>
                  <a:pt x="139230" y="127097"/>
                </a:cubicBezTo>
                <a:lnTo>
                  <a:pt x="47600" y="127097"/>
                </a:lnTo>
                <a:lnTo>
                  <a:pt x="46304" y="127186"/>
                </a:lnTo>
                <a:cubicBezTo>
                  <a:pt x="41093" y="127903"/>
                  <a:pt x="37449" y="132709"/>
                  <a:pt x="38166" y="137920"/>
                </a:cubicBezTo>
                <a:cubicBezTo>
                  <a:pt x="38748" y="142150"/>
                  <a:pt x="42074" y="145476"/>
                  <a:pt x="46304" y="146058"/>
                </a:cubicBezTo>
                <a:lnTo>
                  <a:pt x="47600" y="146147"/>
                </a:lnTo>
                <a:lnTo>
                  <a:pt x="136627" y="146147"/>
                </a:lnTo>
                <a:cubicBezTo>
                  <a:pt x="137424" y="158278"/>
                  <a:pt x="142842" y="169641"/>
                  <a:pt x="151765" y="177897"/>
                </a:cubicBezTo>
                <a:lnTo>
                  <a:pt x="139687" y="177897"/>
                </a:lnTo>
                <a:cubicBezTo>
                  <a:pt x="122152" y="177897"/>
                  <a:pt x="107937" y="192112"/>
                  <a:pt x="107937" y="209647"/>
                </a:cubicBezTo>
                <a:lnTo>
                  <a:pt x="107937" y="215997"/>
                </a:lnTo>
                <a:cubicBezTo>
                  <a:pt x="107937" y="229967"/>
                  <a:pt x="113297" y="243327"/>
                  <a:pt x="122834" y="254160"/>
                </a:cubicBezTo>
                <a:lnTo>
                  <a:pt x="28600" y="254160"/>
                </a:lnTo>
                <a:cubicBezTo>
                  <a:pt x="12819" y="254160"/>
                  <a:pt x="25" y="241367"/>
                  <a:pt x="25" y="225585"/>
                </a:cubicBezTo>
                <a:lnTo>
                  <a:pt x="0" y="47722"/>
                </a:lnTo>
                <a:cubicBezTo>
                  <a:pt x="0" y="31940"/>
                  <a:pt x="12793" y="19147"/>
                  <a:pt x="28575" y="19147"/>
                </a:cubicBezTo>
                <a:lnTo>
                  <a:pt x="38062" y="19134"/>
                </a:lnTo>
                <a:lnTo>
                  <a:pt x="38062" y="9622"/>
                </a:lnTo>
                <a:cubicBezTo>
                  <a:pt x="38008" y="4362"/>
                  <a:pt x="42229" y="54"/>
                  <a:pt x="47490" y="1"/>
                </a:cubicBezTo>
                <a:cubicBezTo>
                  <a:pt x="52323" y="-49"/>
                  <a:pt x="56427" y="3531"/>
                  <a:pt x="57036" y="8326"/>
                </a:cubicBezTo>
                <a:lnTo>
                  <a:pt x="57125" y="9622"/>
                </a:lnTo>
                <a:lnTo>
                  <a:pt x="57125" y="19134"/>
                </a:lnTo>
                <a:lnTo>
                  <a:pt x="95250" y="19134"/>
                </a:lnTo>
                <a:lnTo>
                  <a:pt x="95250" y="9622"/>
                </a:lnTo>
                <a:cubicBezTo>
                  <a:pt x="95197" y="4362"/>
                  <a:pt x="99417" y="54"/>
                  <a:pt x="104678" y="1"/>
                </a:cubicBezTo>
                <a:cubicBezTo>
                  <a:pt x="109511" y="-49"/>
                  <a:pt x="113616" y="3531"/>
                  <a:pt x="114224" y="8326"/>
                </a:cubicBezTo>
                <a:lnTo>
                  <a:pt x="114313" y="9622"/>
                </a:lnTo>
                <a:lnTo>
                  <a:pt x="114313" y="19134"/>
                </a:lnTo>
                <a:lnTo>
                  <a:pt x="152387" y="19134"/>
                </a:lnTo>
                <a:lnTo>
                  <a:pt x="152387" y="9622"/>
                </a:lnTo>
                <a:cubicBezTo>
                  <a:pt x="152387" y="4361"/>
                  <a:pt x="156652" y="97"/>
                  <a:pt x="161912" y="97"/>
                </a:cubicBezTo>
                <a:close/>
                <a:moveTo>
                  <a:pt x="98387" y="177897"/>
                </a:moveTo>
                <a:lnTo>
                  <a:pt x="47600" y="177897"/>
                </a:lnTo>
                <a:lnTo>
                  <a:pt x="46304" y="177986"/>
                </a:lnTo>
                <a:cubicBezTo>
                  <a:pt x="41093" y="178703"/>
                  <a:pt x="37449" y="183509"/>
                  <a:pt x="38166" y="188720"/>
                </a:cubicBezTo>
                <a:cubicBezTo>
                  <a:pt x="38748" y="192950"/>
                  <a:pt x="42074" y="196276"/>
                  <a:pt x="46304" y="196858"/>
                </a:cubicBezTo>
                <a:lnTo>
                  <a:pt x="47600" y="196947"/>
                </a:lnTo>
                <a:lnTo>
                  <a:pt x="98387" y="196947"/>
                </a:lnTo>
                <a:lnTo>
                  <a:pt x="99682" y="196858"/>
                </a:lnTo>
                <a:cubicBezTo>
                  <a:pt x="104894" y="196141"/>
                  <a:pt x="108537" y="191335"/>
                  <a:pt x="107820" y="186124"/>
                </a:cubicBezTo>
                <a:cubicBezTo>
                  <a:pt x="107238" y="181894"/>
                  <a:pt x="103912" y="178568"/>
                  <a:pt x="99682" y="177986"/>
                </a:cubicBezTo>
                <a:lnTo>
                  <a:pt x="98387" y="177897"/>
                </a:lnTo>
                <a:close/>
                <a:moveTo>
                  <a:pt x="161887" y="76297"/>
                </a:moveTo>
                <a:lnTo>
                  <a:pt x="47612" y="76297"/>
                </a:lnTo>
                <a:lnTo>
                  <a:pt x="46317" y="76386"/>
                </a:lnTo>
                <a:cubicBezTo>
                  <a:pt x="41105" y="77103"/>
                  <a:pt x="37462" y="81909"/>
                  <a:pt x="38179" y="87120"/>
                </a:cubicBezTo>
                <a:cubicBezTo>
                  <a:pt x="38761" y="91350"/>
                  <a:pt x="42087" y="94676"/>
                  <a:pt x="46317" y="95258"/>
                </a:cubicBezTo>
                <a:lnTo>
                  <a:pt x="47612" y="95347"/>
                </a:lnTo>
                <a:lnTo>
                  <a:pt x="161912" y="95347"/>
                </a:lnTo>
                <a:lnTo>
                  <a:pt x="163195" y="95258"/>
                </a:lnTo>
                <a:cubicBezTo>
                  <a:pt x="168406" y="94541"/>
                  <a:pt x="172050" y="89735"/>
                  <a:pt x="171333" y="84524"/>
                </a:cubicBezTo>
                <a:cubicBezTo>
                  <a:pt x="170751" y="80294"/>
                  <a:pt x="167425" y="76968"/>
                  <a:pt x="163195" y="76386"/>
                </a:cubicBezTo>
                <a:lnTo>
                  <a:pt x="161900" y="76297"/>
                </a:lnTo>
                <a:close/>
                <a:moveTo>
                  <a:pt x="184150" y="108047"/>
                </a:moveTo>
                <a:cubicBezTo>
                  <a:pt x="194158" y="108047"/>
                  <a:pt x="203175" y="112251"/>
                  <a:pt x="209550" y="118982"/>
                </a:cubicBezTo>
                <a:cubicBezTo>
                  <a:pt x="215683" y="125462"/>
                  <a:pt x="219093" y="134050"/>
                  <a:pt x="219075" y="142972"/>
                </a:cubicBezTo>
                <a:cubicBezTo>
                  <a:pt x="219090" y="151890"/>
                  <a:pt x="215680" y="160473"/>
                  <a:pt x="209550" y="166949"/>
                </a:cubicBezTo>
                <a:cubicBezTo>
                  <a:pt x="196308" y="180974"/>
                  <a:pt x="174203" y="181608"/>
                  <a:pt x="160179" y="168365"/>
                </a:cubicBezTo>
                <a:cubicBezTo>
                  <a:pt x="146154" y="155123"/>
                  <a:pt x="145521" y="133019"/>
                  <a:pt x="158763" y="118994"/>
                </a:cubicBezTo>
                <a:cubicBezTo>
                  <a:pt x="165359" y="112008"/>
                  <a:pt x="174542" y="108049"/>
                  <a:pt x="184150" y="108047"/>
                </a:cubicBezTo>
                <a:close/>
                <a:moveTo>
                  <a:pt x="120650" y="209647"/>
                </a:moveTo>
                <a:cubicBezTo>
                  <a:pt x="120650" y="199126"/>
                  <a:pt x="129179" y="190597"/>
                  <a:pt x="139700" y="190597"/>
                </a:cubicBezTo>
                <a:lnTo>
                  <a:pt x="228600" y="190597"/>
                </a:lnTo>
                <a:cubicBezTo>
                  <a:pt x="239121" y="190597"/>
                  <a:pt x="247650" y="199126"/>
                  <a:pt x="247650" y="209647"/>
                </a:cubicBezTo>
                <a:lnTo>
                  <a:pt x="247650" y="215997"/>
                </a:lnTo>
                <a:cubicBezTo>
                  <a:pt x="247650" y="241029"/>
                  <a:pt x="224028" y="266797"/>
                  <a:pt x="184150" y="266797"/>
                </a:cubicBezTo>
                <a:cubicBezTo>
                  <a:pt x="161493" y="266797"/>
                  <a:pt x="144094" y="258491"/>
                  <a:pt x="133274" y="246731"/>
                </a:cubicBezTo>
                <a:cubicBezTo>
                  <a:pt x="125044" y="237777"/>
                  <a:pt x="120650" y="226817"/>
                  <a:pt x="120650" y="215997"/>
                </a:cubicBezTo>
                <a:lnTo>
                  <a:pt x="120650" y="209647"/>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65" name="Oval 64">
            <a:extLst>
              <a:ext uri="{FF2B5EF4-FFF2-40B4-BE49-F238E27FC236}">
                <a16:creationId xmlns:a16="http://schemas.microsoft.com/office/drawing/2014/main" id="{71BBB3B6-8757-040E-557C-4BEF13683B9E}"/>
              </a:ext>
            </a:extLst>
          </p:cNvPr>
          <p:cNvSpPr>
            <a:spLocks noChangeAspect="1"/>
          </p:cNvSpPr>
          <p:nvPr userDrawn="1"/>
        </p:nvSpPr>
        <p:spPr bwMode="auto">
          <a:xfrm>
            <a:off x="605282"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2</a:t>
            </a:r>
          </a:p>
        </p:txBody>
      </p:sp>
      <p:sp>
        <p:nvSpPr>
          <p:cNvPr id="66" name="Oval 65">
            <a:extLst>
              <a:ext uri="{FF2B5EF4-FFF2-40B4-BE49-F238E27FC236}">
                <a16:creationId xmlns:a16="http://schemas.microsoft.com/office/drawing/2014/main" id="{AFADAB87-661B-7D0E-5302-7C5D63BBC1AE}"/>
              </a:ext>
            </a:extLst>
          </p:cNvPr>
          <p:cNvSpPr>
            <a:spLocks noChangeAspect="1"/>
          </p:cNvSpPr>
          <p:nvPr userDrawn="1"/>
        </p:nvSpPr>
        <p:spPr bwMode="auto">
          <a:xfrm>
            <a:off x="605282"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1</a:t>
            </a:r>
          </a:p>
        </p:txBody>
      </p:sp>
      <p:sp>
        <p:nvSpPr>
          <p:cNvPr id="67" name="Oval 66">
            <a:extLst>
              <a:ext uri="{FF2B5EF4-FFF2-40B4-BE49-F238E27FC236}">
                <a16:creationId xmlns:a16="http://schemas.microsoft.com/office/drawing/2014/main" id="{5C2FE5DC-7DA1-AC5C-7AD9-85E9A0209120}"/>
              </a:ext>
            </a:extLst>
          </p:cNvPr>
          <p:cNvSpPr>
            <a:spLocks noChangeAspect="1"/>
          </p:cNvSpPr>
          <p:nvPr userDrawn="1"/>
        </p:nvSpPr>
        <p:spPr bwMode="auto">
          <a:xfrm>
            <a:off x="605282"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4</a:t>
            </a:r>
          </a:p>
        </p:txBody>
      </p:sp>
      <p:sp>
        <p:nvSpPr>
          <p:cNvPr id="68" name="Oval 67">
            <a:extLst>
              <a:ext uri="{FF2B5EF4-FFF2-40B4-BE49-F238E27FC236}">
                <a16:creationId xmlns:a16="http://schemas.microsoft.com/office/drawing/2014/main" id="{DE6262B0-9FAB-A092-F9D0-C2974D9A8CE2}"/>
              </a:ext>
            </a:extLst>
          </p:cNvPr>
          <p:cNvSpPr>
            <a:spLocks noChangeAspect="1"/>
          </p:cNvSpPr>
          <p:nvPr userDrawn="1"/>
        </p:nvSpPr>
        <p:spPr bwMode="auto">
          <a:xfrm>
            <a:off x="605282"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3</a:t>
            </a:r>
          </a:p>
        </p:txBody>
      </p:sp>
      <p:sp>
        <p:nvSpPr>
          <p:cNvPr id="69" name="Oval 68">
            <a:extLst>
              <a:ext uri="{FF2B5EF4-FFF2-40B4-BE49-F238E27FC236}">
                <a16:creationId xmlns:a16="http://schemas.microsoft.com/office/drawing/2014/main" id="{5E0FBF94-353F-D184-5E65-2319B9098A5A}"/>
              </a:ext>
            </a:extLst>
          </p:cNvPr>
          <p:cNvSpPr>
            <a:spLocks noChangeAspect="1"/>
          </p:cNvSpPr>
          <p:nvPr userDrawn="1"/>
        </p:nvSpPr>
        <p:spPr bwMode="auto">
          <a:xfrm>
            <a:off x="6264719"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6</a:t>
            </a:r>
          </a:p>
        </p:txBody>
      </p:sp>
      <p:sp>
        <p:nvSpPr>
          <p:cNvPr id="70" name="Oval 69">
            <a:extLst>
              <a:ext uri="{FF2B5EF4-FFF2-40B4-BE49-F238E27FC236}">
                <a16:creationId xmlns:a16="http://schemas.microsoft.com/office/drawing/2014/main" id="{AA40B0BC-0999-7632-5382-181D53A8FB04}"/>
              </a:ext>
            </a:extLst>
          </p:cNvPr>
          <p:cNvSpPr>
            <a:spLocks noChangeAspect="1"/>
          </p:cNvSpPr>
          <p:nvPr userDrawn="1"/>
        </p:nvSpPr>
        <p:spPr bwMode="auto">
          <a:xfrm>
            <a:off x="6264720"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5</a:t>
            </a:r>
          </a:p>
        </p:txBody>
      </p:sp>
      <p:sp>
        <p:nvSpPr>
          <p:cNvPr id="71" name="Oval 70">
            <a:extLst>
              <a:ext uri="{FF2B5EF4-FFF2-40B4-BE49-F238E27FC236}">
                <a16:creationId xmlns:a16="http://schemas.microsoft.com/office/drawing/2014/main" id="{5DEA3FD6-A563-29F1-B68B-F0D57561F827}"/>
              </a:ext>
            </a:extLst>
          </p:cNvPr>
          <p:cNvSpPr>
            <a:spLocks noChangeAspect="1"/>
          </p:cNvSpPr>
          <p:nvPr userDrawn="1"/>
        </p:nvSpPr>
        <p:spPr bwMode="auto">
          <a:xfrm>
            <a:off x="6264719"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8</a:t>
            </a:r>
          </a:p>
        </p:txBody>
      </p:sp>
      <p:sp>
        <p:nvSpPr>
          <p:cNvPr id="72" name="Oval 71">
            <a:extLst>
              <a:ext uri="{FF2B5EF4-FFF2-40B4-BE49-F238E27FC236}">
                <a16:creationId xmlns:a16="http://schemas.microsoft.com/office/drawing/2014/main" id="{88F031D2-4699-B9E2-9062-573C62D4C123}"/>
              </a:ext>
            </a:extLst>
          </p:cNvPr>
          <p:cNvSpPr>
            <a:spLocks noChangeAspect="1"/>
          </p:cNvSpPr>
          <p:nvPr userDrawn="1"/>
        </p:nvSpPr>
        <p:spPr bwMode="auto">
          <a:xfrm>
            <a:off x="6264719"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7963719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Rectangle: Rounded Corners 2">
            <a:extLst>
              <a:ext uri="{FF2B5EF4-FFF2-40B4-BE49-F238E27FC236}">
                <a16:creationId xmlns:a16="http://schemas.microsoft.com/office/drawing/2014/main" id="{3CD0CDBD-486B-08B6-B33E-947AC20B8842}"/>
              </a:ext>
            </a:extLst>
          </p:cNvPr>
          <p:cNvSpPr/>
          <p:nvPr userDrawn="1"/>
        </p:nvSpPr>
        <p:spPr bwMode="auto">
          <a:xfrm>
            <a:off x="586740" y="1846019"/>
            <a:ext cx="11018520" cy="4055116"/>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4" name="Straight Connector 3">
            <a:extLst>
              <a:ext uri="{FF2B5EF4-FFF2-40B4-BE49-F238E27FC236}">
                <a16:creationId xmlns:a16="http://schemas.microsoft.com/office/drawing/2014/main" id="{78FBFC18-9BB0-D67E-D0DA-9B44A4A7650A}"/>
              </a:ext>
            </a:extLst>
          </p:cNvPr>
          <p:cNvCxnSpPr/>
          <p:nvPr userDrawn="1"/>
        </p:nvCxnSpPr>
        <p:spPr>
          <a:xfrm>
            <a:off x="425958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A9B0A0-B895-DAD9-0DDF-1E5E912DEB49}"/>
              </a:ext>
            </a:extLst>
          </p:cNvPr>
          <p:cNvCxnSpPr/>
          <p:nvPr userDrawn="1"/>
        </p:nvCxnSpPr>
        <p:spPr>
          <a:xfrm>
            <a:off x="793242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DEF41EF-FFBA-DFC1-61C6-4F88587F7305}"/>
              </a:ext>
            </a:extLst>
          </p:cNvPr>
          <p:cNvSpPr/>
          <p:nvPr/>
        </p:nvSpPr>
        <p:spPr bwMode="auto">
          <a:xfrm>
            <a:off x="84954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6" name="Oval 15">
            <a:extLst>
              <a:ext uri="{FF2B5EF4-FFF2-40B4-BE49-F238E27FC236}">
                <a16:creationId xmlns:a16="http://schemas.microsoft.com/office/drawing/2014/main" id="{31EB9EC8-A884-8284-0AAB-4976403F13D1}"/>
              </a:ext>
            </a:extLst>
          </p:cNvPr>
          <p:cNvSpPr/>
          <p:nvPr/>
        </p:nvSpPr>
        <p:spPr bwMode="auto">
          <a:xfrm>
            <a:off x="452238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9" name="Oval 18">
            <a:extLst>
              <a:ext uri="{FF2B5EF4-FFF2-40B4-BE49-F238E27FC236}">
                <a16:creationId xmlns:a16="http://schemas.microsoft.com/office/drawing/2014/main" id="{04601F06-DEF7-3668-4404-6D919F0EC362}"/>
              </a:ext>
            </a:extLst>
          </p:cNvPr>
          <p:cNvSpPr/>
          <p:nvPr/>
        </p:nvSpPr>
        <p:spPr bwMode="auto">
          <a:xfrm>
            <a:off x="819522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25" name="Text Placeholder 4">
            <a:extLst>
              <a:ext uri="{FF2B5EF4-FFF2-40B4-BE49-F238E27FC236}">
                <a16:creationId xmlns:a16="http://schemas.microsoft.com/office/drawing/2014/main" id="{C49A0E9F-3858-893C-CF35-1DD566F40965}"/>
              </a:ext>
            </a:extLst>
          </p:cNvPr>
          <p:cNvSpPr>
            <a:spLocks noGrp="1"/>
          </p:cNvSpPr>
          <p:nvPr userDrawn="1">
            <p:ph type="body" sz="quarter" idx="10" hasCustomPrompt="1"/>
          </p:nvPr>
        </p:nvSpPr>
        <p:spPr>
          <a:xfrm>
            <a:off x="84954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6" name="Text Placeholder 4">
            <a:extLst>
              <a:ext uri="{FF2B5EF4-FFF2-40B4-BE49-F238E27FC236}">
                <a16:creationId xmlns:a16="http://schemas.microsoft.com/office/drawing/2014/main" id="{EC3F2F95-6ED2-1046-914B-4C224F758955}"/>
              </a:ext>
            </a:extLst>
          </p:cNvPr>
          <p:cNvSpPr>
            <a:spLocks noGrp="1"/>
          </p:cNvSpPr>
          <p:nvPr userDrawn="1">
            <p:ph type="body" sz="quarter" idx="11" hasCustomPrompt="1"/>
          </p:nvPr>
        </p:nvSpPr>
        <p:spPr>
          <a:xfrm>
            <a:off x="819522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7" name="Text Placeholder 4">
            <a:extLst>
              <a:ext uri="{FF2B5EF4-FFF2-40B4-BE49-F238E27FC236}">
                <a16:creationId xmlns:a16="http://schemas.microsoft.com/office/drawing/2014/main" id="{7E5CBFBF-4CAD-1F92-0464-5C423F9DA982}"/>
              </a:ext>
            </a:extLst>
          </p:cNvPr>
          <p:cNvSpPr>
            <a:spLocks noGrp="1"/>
          </p:cNvSpPr>
          <p:nvPr userDrawn="1">
            <p:ph type="body" sz="quarter" idx="26" hasCustomPrompt="1"/>
          </p:nvPr>
        </p:nvSpPr>
        <p:spPr>
          <a:xfrm>
            <a:off x="452238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4954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52238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19522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Tree>
    <p:extLst>
      <p:ext uri="{BB962C8B-B14F-4D97-AF65-F5344CB8AC3E}">
        <p14:creationId xmlns:p14="http://schemas.microsoft.com/office/powerpoint/2010/main" val="12813020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1" name="Rectangle: Rounded Corners 30">
            <a:extLst>
              <a:ext uri="{FF2B5EF4-FFF2-40B4-BE49-F238E27FC236}">
                <a16:creationId xmlns:a16="http://schemas.microsoft.com/office/drawing/2014/main" id="{6645E16D-A6F6-12D4-1B52-72DA2FD4BF7B}"/>
              </a:ext>
            </a:extLst>
          </p:cNvPr>
          <p:cNvSpPr/>
          <p:nvPr userDrawn="1"/>
        </p:nvSpPr>
        <p:spPr bwMode="auto">
          <a:xfrm>
            <a:off x="588263" y="1589627"/>
            <a:ext cx="11018520" cy="4567901"/>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sp>
        <p:nvSpPr>
          <p:cNvPr id="14" name="Rectangle: Rounded Corners 13">
            <a:extLst>
              <a:ext uri="{FF2B5EF4-FFF2-40B4-BE49-F238E27FC236}">
                <a16:creationId xmlns:a16="http://schemas.microsoft.com/office/drawing/2014/main" id="{D7CDE501-956F-6601-6FAF-072526D90C33}"/>
              </a:ext>
            </a:extLst>
          </p:cNvPr>
          <p:cNvSpPr>
            <a:spLocks/>
          </p:cNvSpPr>
          <p:nvPr userDrawn="1"/>
        </p:nvSpPr>
        <p:spPr bwMode="auto">
          <a:xfrm>
            <a:off x="765046" y="2077407"/>
            <a:ext cx="3464054" cy="3897558"/>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18" name="Rectangle: Rounded Corners 17">
            <a:extLst>
              <a:ext uri="{FF2B5EF4-FFF2-40B4-BE49-F238E27FC236}">
                <a16:creationId xmlns:a16="http://schemas.microsoft.com/office/drawing/2014/main" id="{00FE743D-A6AF-9359-20C5-5A92376990BA}"/>
              </a:ext>
            </a:extLst>
          </p:cNvPr>
          <p:cNvSpPr>
            <a:spLocks/>
          </p:cNvSpPr>
          <p:nvPr userDrawn="1"/>
        </p:nvSpPr>
        <p:spPr bwMode="auto">
          <a:xfrm>
            <a:off x="436549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24" name="Rectangle: Rounded Corners 23">
            <a:extLst>
              <a:ext uri="{FF2B5EF4-FFF2-40B4-BE49-F238E27FC236}">
                <a16:creationId xmlns:a16="http://schemas.microsoft.com/office/drawing/2014/main" id="{96E01AF0-8759-B771-27B6-2E0ED3E04E87}"/>
              </a:ext>
            </a:extLst>
          </p:cNvPr>
          <p:cNvSpPr>
            <a:spLocks/>
          </p:cNvSpPr>
          <p:nvPr userDrawn="1"/>
        </p:nvSpPr>
        <p:spPr bwMode="auto">
          <a:xfrm>
            <a:off x="796594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9"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9234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0" name="Text Placeholder 4">
            <a:extLst>
              <a:ext uri="{FF2B5EF4-FFF2-40B4-BE49-F238E27FC236}">
                <a16:creationId xmlns:a16="http://schemas.microsoft.com/office/drawing/2014/main" id="{EC3F2F95-6ED2-1046-914B-4C224F758955}"/>
              </a:ext>
            </a:extLst>
          </p:cNvPr>
          <p:cNvSpPr>
            <a:spLocks noGrp="1"/>
          </p:cNvSpPr>
          <p:nvPr>
            <p:ph type="body" sz="quarter" idx="11" hasCustomPrompt="1"/>
          </p:nvPr>
        </p:nvSpPr>
        <p:spPr>
          <a:xfrm>
            <a:off x="81243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2" name="Text Placeholder 4">
            <a:extLst>
              <a:ext uri="{FF2B5EF4-FFF2-40B4-BE49-F238E27FC236}">
                <a16:creationId xmlns:a16="http://schemas.microsoft.com/office/drawing/2014/main" id="{7E5CBFBF-4CAD-1F92-0464-5C423F9DA982}"/>
              </a:ext>
            </a:extLst>
          </p:cNvPr>
          <p:cNvSpPr>
            <a:spLocks noGrp="1"/>
          </p:cNvSpPr>
          <p:nvPr>
            <p:ph type="body" sz="quarter" idx="26" hasCustomPrompt="1"/>
          </p:nvPr>
        </p:nvSpPr>
        <p:spPr>
          <a:xfrm>
            <a:off x="452391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803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480813" y="1770474"/>
            <a:ext cx="3233420" cy="613866"/>
          </a:xfrm>
          <a:prstGeom prst="roundRect">
            <a:avLst>
              <a:gd name="adj" fmla="val 75114"/>
            </a:avLst>
          </a:prstGeom>
          <a:gradFill>
            <a:gsLst>
              <a:gs pos="0">
                <a:srgbClr val="8449A9"/>
              </a:gs>
              <a:gs pos="100000">
                <a:srgbClr val="0538BB"/>
              </a:gs>
            </a:gsLst>
            <a:lin ang="2700000" scaled="1"/>
          </a:gradFill>
        </p:spPr>
        <p:txBody>
          <a:bodyPr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0812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Tree>
    <p:extLst>
      <p:ext uri="{BB962C8B-B14F-4D97-AF65-F5344CB8AC3E}">
        <p14:creationId xmlns:p14="http://schemas.microsoft.com/office/powerpoint/2010/main" val="72241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219CF8-6301-062F-3878-5DD2BC8B11D9}"/>
              </a:ext>
            </a:extLst>
          </p:cNvPr>
          <p:cNvSpPr>
            <a:spLocks/>
          </p:cNvSpPr>
          <p:nvPr userDrawn="1"/>
        </p:nvSpPr>
        <p:spPr bwMode="auto">
          <a:xfrm>
            <a:off x="1" y="0"/>
            <a:ext cx="4065588"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6" name="Oval 5">
            <a:extLst>
              <a:ext uri="{FF2B5EF4-FFF2-40B4-BE49-F238E27FC236}">
                <a16:creationId xmlns:a16="http://schemas.microsoft.com/office/drawing/2014/main" id="{13B417DA-4FE9-DDB4-D474-47CEAD57BA9A}"/>
              </a:ext>
            </a:extLst>
          </p:cNvPr>
          <p:cNvSpPr/>
          <p:nvPr userDrawn="1"/>
        </p:nvSpPr>
        <p:spPr bwMode="auto">
          <a:xfrm>
            <a:off x="4649788" y="1569334"/>
            <a:ext cx="652463" cy="65246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cxnSp>
        <p:nvCxnSpPr>
          <p:cNvPr id="11" name="Straight Connector 10">
            <a:extLst>
              <a:ext uri="{FF2B5EF4-FFF2-40B4-BE49-F238E27FC236}">
                <a16:creationId xmlns:a16="http://schemas.microsoft.com/office/drawing/2014/main" id="{49708FCF-8546-DBA2-A113-19B7FDF6B7BA}"/>
              </a:ext>
            </a:extLst>
          </p:cNvPr>
          <p:cNvCxnSpPr/>
          <p:nvPr userDrawn="1"/>
        </p:nvCxnSpPr>
        <p:spPr>
          <a:xfrm>
            <a:off x="5428343" y="1895565"/>
            <a:ext cx="6181045"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3"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4649788" y="2487898"/>
            <a:ext cx="6959600" cy="2800767"/>
          </a:xfrm>
        </p:spPr>
        <p:txBody>
          <a:bodyPr>
            <a:noAutofit/>
          </a:bodyPr>
          <a:lstStyle>
            <a:lvl1pPr marL="0" indent="0" algn="l">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39598106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Content w/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10DD66-BEF5-AD96-BBE3-8DE5EBF9AFF0}"/>
              </a:ext>
            </a:extLst>
          </p:cNvPr>
          <p:cNvSpPr>
            <a:spLocks/>
          </p:cNvSpPr>
          <p:nvPr userDrawn="1"/>
        </p:nvSpPr>
        <p:spPr bwMode="auto">
          <a:xfrm>
            <a:off x="0" y="0"/>
            <a:ext cx="5008563"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5" name="Rectangle: Rounded Corners 4">
            <a:extLst>
              <a:ext uri="{FF2B5EF4-FFF2-40B4-BE49-F238E27FC236}">
                <a16:creationId xmlns:a16="http://schemas.microsoft.com/office/drawing/2014/main" id="{A320564B-5731-3320-C8CA-3A47A25F8901}"/>
              </a:ext>
            </a:extLst>
          </p:cNvPr>
          <p:cNvSpPr/>
          <p:nvPr userDrawn="1"/>
        </p:nvSpPr>
        <p:spPr bwMode="auto">
          <a:xfrm>
            <a:off x="3619500" y="914401"/>
            <a:ext cx="7987282" cy="5029198"/>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cxnSp>
        <p:nvCxnSpPr>
          <p:cNvPr id="15" name="Straight Connector 14">
            <a:extLst>
              <a:ext uri="{FF2B5EF4-FFF2-40B4-BE49-F238E27FC236}">
                <a16:creationId xmlns:a16="http://schemas.microsoft.com/office/drawing/2014/main" id="{F0CDE4F4-7637-A3B9-AE34-A62C85748D27}"/>
              </a:ext>
            </a:extLst>
          </p:cNvPr>
          <p:cNvCxnSpPr/>
          <p:nvPr userDrawn="1"/>
        </p:nvCxnSpPr>
        <p:spPr>
          <a:xfrm>
            <a:off x="6306803"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48FCFE-C510-1CB5-C187-2B33129616FB}"/>
              </a:ext>
            </a:extLst>
          </p:cNvPr>
          <p:cNvCxnSpPr/>
          <p:nvPr userDrawn="1"/>
        </p:nvCxnSpPr>
        <p:spPr>
          <a:xfrm>
            <a:off x="8919481"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24" name="Text Placeholder 4">
            <a:extLst>
              <a:ext uri="{FF2B5EF4-FFF2-40B4-BE49-F238E27FC236}">
                <a16:creationId xmlns:a16="http://schemas.microsoft.com/office/drawing/2014/main" id="{D60C2E20-61E5-BBC7-39EB-725601DC7112}"/>
              </a:ext>
            </a:extLst>
          </p:cNvPr>
          <p:cNvSpPr>
            <a:spLocks noGrp="1"/>
          </p:cNvSpPr>
          <p:nvPr>
            <p:ph type="body" sz="quarter" idx="11" hasCustomPrompt="1"/>
          </p:nvPr>
        </p:nvSpPr>
        <p:spPr>
          <a:xfrm>
            <a:off x="6456537"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5" name="Text Placeholder 4">
            <a:extLst>
              <a:ext uri="{FF2B5EF4-FFF2-40B4-BE49-F238E27FC236}">
                <a16:creationId xmlns:a16="http://schemas.microsoft.com/office/drawing/2014/main" id="{3C84EC4A-7494-5FEF-0C8D-CA5524840EA2}"/>
              </a:ext>
            </a:extLst>
          </p:cNvPr>
          <p:cNvSpPr>
            <a:spLocks noGrp="1"/>
          </p:cNvSpPr>
          <p:nvPr>
            <p:ph type="body" sz="quarter" idx="12" hasCustomPrompt="1"/>
          </p:nvPr>
        </p:nvSpPr>
        <p:spPr>
          <a:xfrm>
            <a:off x="9069214"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6" name="Text Placeholder 4">
            <a:extLst>
              <a:ext uri="{FF2B5EF4-FFF2-40B4-BE49-F238E27FC236}">
                <a16:creationId xmlns:a16="http://schemas.microsoft.com/office/drawing/2014/main" id="{7E4553E0-0909-E795-4581-D517C4E25FA7}"/>
              </a:ext>
            </a:extLst>
          </p:cNvPr>
          <p:cNvSpPr>
            <a:spLocks noGrp="1"/>
          </p:cNvSpPr>
          <p:nvPr>
            <p:ph type="body" sz="quarter" idx="10" hasCustomPrompt="1"/>
          </p:nvPr>
        </p:nvSpPr>
        <p:spPr>
          <a:xfrm>
            <a:off x="3843859"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7" name="Text Placeholder 4">
            <a:extLst>
              <a:ext uri="{FF2B5EF4-FFF2-40B4-BE49-F238E27FC236}">
                <a16:creationId xmlns:a16="http://schemas.microsoft.com/office/drawing/2014/main" id="{C51A41B7-DAA5-FB6A-0384-21E000A9E7BA}"/>
              </a:ext>
            </a:extLst>
          </p:cNvPr>
          <p:cNvSpPr>
            <a:spLocks noGrp="1"/>
          </p:cNvSpPr>
          <p:nvPr>
            <p:ph type="body" sz="quarter" idx="13" hasCustomPrompt="1"/>
          </p:nvPr>
        </p:nvSpPr>
        <p:spPr>
          <a:xfrm>
            <a:off x="3843859"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8" name="Text Placeholder 4">
            <a:extLst>
              <a:ext uri="{FF2B5EF4-FFF2-40B4-BE49-F238E27FC236}">
                <a16:creationId xmlns:a16="http://schemas.microsoft.com/office/drawing/2014/main" id="{90CC8220-519E-0158-8039-E66ED6F5C94C}"/>
              </a:ext>
            </a:extLst>
          </p:cNvPr>
          <p:cNvSpPr>
            <a:spLocks noGrp="1"/>
          </p:cNvSpPr>
          <p:nvPr>
            <p:ph type="body" sz="quarter" idx="14" hasCustomPrompt="1"/>
          </p:nvPr>
        </p:nvSpPr>
        <p:spPr>
          <a:xfrm>
            <a:off x="6456537"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923F7EEB-42B1-67A4-209A-D406C1BA9321}"/>
              </a:ext>
            </a:extLst>
          </p:cNvPr>
          <p:cNvSpPr>
            <a:spLocks noGrp="1"/>
          </p:cNvSpPr>
          <p:nvPr>
            <p:ph type="body" sz="quarter" idx="15" hasCustomPrompt="1"/>
          </p:nvPr>
        </p:nvSpPr>
        <p:spPr>
          <a:xfrm>
            <a:off x="9069214"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39" name="Picture Placeholder 38">
            <a:extLst>
              <a:ext uri="{FF2B5EF4-FFF2-40B4-BE49-F238E27FC236}">
                <a16:creationId xmlns:a16="http://schemas.microsoft.com/office/drawing/2014/main" id="{31D98E28-0CAD-035F-2E2B-3A739CB2D11D}"/>
              </a:ext>
            </a:extLst>
          </p:cNvPr>
          <p:cNvSpPr>
            <a:spLocks noGrp="1"/>
          </p:cNvSpPr>
          <p:nvPr>
            <p:ph type="pic" sz="quarter" idx="16"/>
          </p:nvPr>
        </p:nvSpPr>
        <p:spPr>
          <a:xfrm>
            <a:off x="3768751"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6 w 2463426"/>
              <a:gd name="connsiteY5" fmla="*/ 2052069 h 2052069"/>
              <a:gd name="connsiteX6" fmla="*/ 1624193 w 2463426"/>
              <a:gd name="connsiteY6" fmla="*/ 2022906 h 2052069"/>
              <a:gd name="connsiteX7" fmla="*/ 839233 w 2463426"/>
              <a:gd name="connsiteY7" fmla="*/ 2022906 h 2052069"/>
              <a:gd name="connsiteX8" fmla="*/ 810070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6" y="2052069"/>
                </a:lnTo>
                <a:cubicBezTo>
                  <a:pt x="1653356" y="2035963"/>
                  <a:pt x="1640299" y="2022906"/>
                  <a:pt x="1624193" y="2022906"/>
                </a:cubicBezTo>
                <a:lnTo>
                  <a:pt x="839233" y="2022906"/>
                </a:lnTo>
                <a:cubicBezTo>
                  <a:pt x="823127" y="2022906"/>
                  <a:pt x="810070" y="2035963"/>
                  <a:pt x="810070"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0" name="Picture Placeholder 39">
            <a:extLst>
              <a:ext uri="{FF2B5EF4-FFF2-40B4-BE49-F238E27FC236}">
                <a16:creationId xmlns:a16="http://schemas.microsoft.com/office/drawing/2014/main" id="{8B396C93-33F3-A84C-9C20-9AF3D574F973}"/>
              </a:ext>
            </a:extLst>
          </p:cNvPr>
          <p:cNvSpPr>
            <a:spLocks noGrp="1"/>
          </p:cNvSpPr>
          <p:nvPr>
            <p:ph type="pic" sz="quarter" idx="17"/>
          </p:nvPr>
        </p:nvSpPr>
        <p:spPr>
          <a:xfrm>
            <a:off x="6381428"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1" name="Picture Placeholder 40">
            <a:extLst>
              <a:ext uri="{FF2B5EF4-FFF2-40B4-BE49-F238E27FC236}">
                <a16:creationId xmlns:a16="http://schemas.microsoft.com/office/drawing/2014/main" id="{DF35B82B-21E8-F822-97E1-9D6F9F9C7863}"/>
              </a:ext>
            </a:extLst>
          </p:cNvPr>
          <p:cNvSpPr>
            <a:spLocks noGrp="1"/>
          </p:cNvSpPr>
          <p:nvPr>
            <p:ph type="pic" sz="quarter" idx="18"/>
          </p:nvPr>
        </p:nvSpPr>
        <p:spPr>
          <a:xfrm>
            <a:off x="8994106"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17" name="Title 3">
            <a:extLst>
              <a:ext uri="{FF2B5EF4-FFF2-40B4-BE49-F238E27FC236}">
                <a16:creationId xmlns:a16="http://schemas.microsoft.com/office/drawing/2014/main" id="{36D4A3A3-E4CC-9EEE-5852-9D0EC5427E69}"/>
              </a:ext>
            </a:extLst>
          </p:cNvPr>
          <p:cNvSpPr txBox="1">
            <a:spLocks/>
          </p:cNvSpPr>
          <p:nvPr userDrawn="1"/>
        </p:nvSpPr>
        <p:spPr>
          <a:xfrm>
            <a:off x="4578821"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8" name="Title 3">
            <a:extLst>
              <a:ext uri="{FF2B5EF4-FFF2-40B4-BE49-F238E27FC236}">
                <a16:creationId xmlns:a16="http://schemas.microsoft.com/office/drawing/2014/main" id="{35E95D88-BE15-D1B5-3587-4D1C0BE8698A}"/>
              </a:ext>
            </a:extLst>
          </p:cNvPr>
          <p:cNvSpPr txBox="1">
            <a:spLocks/>
          </p:cNvSpPr>
          <p:nvPr userDrawn="1"/>
        </p:nvSpPr>
        <p:spPr>
          <a:xfrm>
            <a:off x="7191497"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9" name="Title 3">
            <a:extLst>
              <a:ext uri="{FF2B5EF4-FFF2-40B4-BE49-F238E27FC236}">
                <a16:creationId xmlns:a16="http://schemas.microsoft.com/office/drawing/2014/main" id="{1E9ED040-91EC-F2A0-4756-0C60255EB35D}"/>
              </a:ext>
            </a:extLst>
          </p:cNvPr>
          <p:cNvSpPr txBox="1">
            <a:spLocks/>
          </p:cNvSpPr>
          <p:nvPr userDrawn="1"/>
        </p:nvSpPr>
        <p:spPr>
          <a:xfrm>
            <a:off x="9804175"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Tree>
    <p:extLst>
      <p:ext uri="{BB962C8B-B14F-4D97-AF65-F5344CB8AC3E}">
        <p14:creationId xmlns:p14="http://schemas.microsoft.com/office/powerpoint/2010/main" val="2374116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mage">
    <p:spTree>
      <p:nvGrpSpPr>
        <p:cNvPr id="1" name=""/>
        <p:cNvGrpSpPr/>
        <p:nvPr/>
      </p:nvGrpSpPr>
      <p:grpSpPr>
        <a:xfrm>
          <a:off x="0" y="0"/>
          <a:ext cx="0" cy="0"/>
          <a:chOff x="0" y="0"/>
          <a:chExt cx="0" cy="0"/>
        </a:xfrm>
      </p:grpSpPr>
      <p:sp>
        <p:nvSpPr>
          <p:cNvPr id="55" name="Picture Placeholder 54">
            <a:extLst>
              <a:ext uri="{FF2B5EF4-FFF2-40B4-BE49-F238E27FC236}">
                <a16:creationId xmlns:a16="http://schemas.microsoft.com/office/drawing/2014/main" id="{6C081ABA-A597-9549-34F5-4F80C3640D42}"/>
              </a:ext>
            </a:extLst>
          </p:cNvPr>
          <p:cNvSpPr>
            <a:spLocks noGrp="1"/>
          </p:cNvSpPr>
          <p:nvPr>
            <p:ph type="pic" sz="quarter" idx="18"/>
          </p:nvPr>
        </p:nvSpPr>
        <p:spPr>
          <a:xfrm>
            <a:off x="588963"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cxnSp>
        <p:nvCxnSpPr>
          <p:cNvPr id="11" name="Straight Connector 10">
            <a:extLst>
              <a:ext uri="{FF2B5EF4-FFF2-40B4-BE49-F238E27FC236}">
                <a16:creationId xmlns:a16="http://schemas.microsoft.com/office/drawing/2014/main" id="{028AB74D-4A1E-30CF-6252-AA0A6D599481}"/>
              </a:ext>
            </a:extLst>
          </p:cNvPr>
          <p:cNvCxnSpPr/>
          <p:nvPr userDrawn="1"/>
        </p:nvCxnSpPr>
        <p:spPr>
          <a:xfrm>
            <a:off x="6097428"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A8FC3A-8535-819D-6A2A-005CD7B82DB8}"/>
              </a:ext>
            </a:extLst>
          </p:cNvPr>
          <p:cNvCxnSpPr/>
          <p:nvPr userDrawn="1"/>
        </p:nvCxnSpPr>
        <p:spPr>
          <a:xfrm>
            <a:off x="8886030"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0395D3DA-E0C0-1D0F-378E-219FE7BE6171}"/>
              </a:ext>
            </a:extLst>
          </p:cNvPr>
          <p:cNvSpPr txBox="1">
            <a:spLocks/>
          </p:cNvSpPr>
          <p:nvPr userDrawn="1"/>
        </p:nvSpPr>
        <p:spPr>
          <a:xfrm>
            <a:off x="4281484"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4" name="Title 3">
            <a:extLst>
              <a:ext uri="{FF2B5EF4-FFF2-40B4-BE49-F238E27FC236}">
                <a16:creationId xmlns:a16="http://schemas.microsoft.com/office/drawing/2014/main" id="{DC774EE1-0811-3DE7-3075-F46CF3CEB48B}"/>
              </a:ext>
            </a:extLst>
          </p:cNvPr>
          <p:cNvSpPr txBox="1">
            <a:spLocks/>
          </p:cNvSpPr>
          <p:nvPr userDrawn="1"/>
        </p:nvSpPr>
        <p:spPr>
          <a:xfrm>
            <a:off x="7070086"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20" name="Title 3">
            <a:extLst>
              <a:ext uri="{FF2B5EF4-FFF2-40B4-BE49-F238E27FC236}">
                <a16:creationId xmlns:a16="http://schemas.microsoft.com/office/drawing/2014/main" id="{10A1A648-845E-8F85-C44E-905D4AAB1C92}"/>
              </a:ext>
            </a:extLst>
          </p:cNvPr>
          <p:cNvSpPr txBox="1">
            <a:spLocks/>
          </p:cNvSpPr>
          <p:nvPr userDrawn="1"/>
        </p:nvSpPr>
        <p:spPr>
          <a:xfrm>
            <a:off x="9858689"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32" name="Title 3">
            <a:extLst>
              <a:ext uri="{FF2B5EF4-FFF2-40B4-BE49-F238E27FC236}">
                <a16:creationId xmlns:a16="http://schemas.microsoft.com/office/drawing/2014/main" id="{48DDDF4A-FE17-1102-A124-218F87FABE26}"/>
              </a:ext>
            </a:extLst>
          </p:cNvPr>
          <p:cNvSpPr txBox="1">
            <a:spLocks/>
          </p:cNvSpPr>
          <p:nvPr userDrawn="1"/>
        </p:nvSpPr>
        <p:spPr>
          <a:xfrm>
            <a:off x="1493041"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cxnSp>
        <p:nvCxnSpPr>
          <p:cNvPr id="34" name="Straight Connector 33">
            <a:extLst>
              <a:ext uri="{FF2B5EF4-FFF2-40B4-BE49-F238E27FC236}">
                <a16:creationId xmlns:a16="http://schemas.microsoft.com/office/drawing/2014/main" id="{6C190A52-AF71-7BFE-4108-B88156B2CA21}"/>
              </a:ext>
            </a:extLst>
          </p:cNvPr>
          <p:cNvCxnSpPr/>
          <p:nvPr userDrawn="1"/>
        </p:nvCxnSpPr>
        <p:spPr>
          <a:xfrm>
            <a:off x="3308826"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7" name="Text Placeholder 4">
            <a:extLst>
              <a:ext uri="{FF2B5EF4-FFF2-40B4-BE49-F238E27FC236}">
                <a16:creationId xmlns:a16="http://schemas.microsoft.com/office/drawing/2014/main" id="{1D6BF4B2-A0E0-B93E-2319-7092F951884B}"/>
              </a:ext>
            </a:extLst>
          </p:cNvPr>
          <p:cNvSpPr>
            <a:spLocks noGrp="1"/>
          </p:cNvSpPr>
          <p:nvPr>
            <p:ph type="body" sz="quarter" idx="11" hasCustomPrompt="1"/>
          </p:nvPr>
        </p:nvSpPr>
        <p:spPr>
          <a:xfrm>
            <a:off x="3546522"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38" name="Text Placeholder 4">
            <a:extLst>
              <a:ext uri="{FF2B5EF4-FFF2-40B4-BE49-F238E27FC236}">
                <a16:creationId xmlns:a16="http://schemas.microsoft.com/office/drawing/2014/main" id="{7B35FEB3-BD4C-043B-7CE0-2D7413A8E832}"/>
              </a:ext>
            </a:extLst>
          </p:cNvPr>
          <p:cNvSpPr>
            <a:spLocks noGrp="1"/>
          </p:cNvSpPr>
          <p:nvPr>
            <p:ph type="body" sz="quarter" idx="10" hasCustomPrompt="1"/>
          </p:nvPr>
        </p:nvSpPr>
        <p:spPr>
          <a:xfrm>
            <a:off x="758079"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2" name="Text Placeholder 4">
            <a:extLst>
              <a:ext uri="{FF2B5EF4-FFF2-40B4-BE49-F238E27FC236}">
                <a16:creationId xmlns:a16="http://schemas.microsoft.com/office/drawing/2014/main" id="{D738A791-9107-15D1-867C-838379840095}"/>
              </a:ext>
            </a:extLst>
          </p:cNvPr>
          <p:cNvSpPr>
            <a:spLocks noGrp="1"/>
          </p:cNvSpPr>
          <p:nvPr>
            <p:ph type="body" sz="quarter" idx="12" hasCustomPrompt="1"/>
          </p:nvPr>
        </p:nvSpPr>
        <p:spPr>
          <a:xfrm>
            <a:off x="9123727"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3" name="Text Placeholder 4">
            <a:extLst>
              <a:ext uri="{FF2B5EF4-FFF2-40B4-BE49-F238E27FC236}">
                <a16:creationId xmlns:a16="http://schemas.microsoft.com/office/drawing/2014/main" id="{BEDEF4E4-3611-CA6F-3F1C-94341F49E373}"/>
              </a:ext>
            </a:extLst>
          </p:cNvPr>
          <p:cNvSpPr>
            <a:spLocks noGrp="1"/>
          </p:cNvSpPr>
          <p:nvPr>
            <p:ph type="body" sz="quarter" idx="13" hasCustomPrompt="1"/>
          </p:nvPr>
        </p:nvSpPr>
        <p:spPr>
          <a:xfrm>
            <a:off x="6335124"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4" name="Text Placeholder 4">
            <a:extLst>
              <a:ext uri="{FF2B5EF4-FFF2-40B4-BE49-F238E27FC236}">
                <a16:creationId xmlns:a16="http://schemas.microsoft.com/office/drawing/2014/main" id="{45EB059A-358A-2FFF-2F7F-A0999E707683}"/>
              </a:ext>
            </a:extLst>
          </p:cNvPr>
          <p:cNvSpPr>
            <a:spLocks noGrp="1"/>
          </p:cNvSpPr>
          <p:nvPr>
            <p:ph type="body" sz="quarter" idx="14" hasCustomPrompt="1"/>
          </p:nvPr>
        </p:nvSpPr>
        <p:spPr>
          <a:xfrm>
            <a:off x="758079"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5" name="Text Placeholder 4">
            <a:extLst>
              <a:ext uri="{FF2B5EF4-FFF2-40B4-BE49-F238E27FC236}">
                <a16:creationId xmlns:a16="http://schemas.microsoft.com/office/drawing/2014/main" id="{EF5AAB1A-8DDA-1173-61AB-FF7B2149BB0F}"/>
              </a:ext>
            </a:extLst>
          </p:cNvPr>
          <p:cNvSpPr>
            <a:spLocks noGrp="1"/>
          </p:cNvSpPr>
          <p:nvPr>
            <p:ph type="body" sz="quarter" idx="15" hasCustomPrompt="1"/>
          </p:nvPr>
        </p:nvSpPr>
        <p:spPr>
          <a:xfrm>
            <a:off x="3546522"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6" name="Text Placeholder 4">
            <a:extLst>
              <a:ext uri="{FF2B5EF4-FFF2-40B4-BE49-F238E27FC236}">
                <a16:creationId xmlns:a16="http://schemas.microsoft.com/office/drawing/2014/main" id="{040DC17D-500B-3268-EB51-32F3EBCCD34A}"/>
              </a:ext>
            </a:extLst>
          </p:cNvPr>
          <p:cNvSpPr>
            <a:spLocks noGrp="1"/>
          </p:cNvSpPr>
          <p:nvPr>
            <p:ph type="body" sz="quarter" idx="16" hasCustomPrompt="1"/>
          </p:nvPr>
        </p:nvSpPr>
        <p:spPr>
          <a:xfrm>
            <a:off x="6335124"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7" name="Text Placeholder 4">
            <a:extLst>
              <a:ext uri="{FF2B5EF4-FFF2-40B4-BE49-F238E27FC236}">
                <a16:creationId xmlns:a16="http://schemas.microsoft.com/office/drawing/2014/main" id="{79BF6730-D396-1214-46CA-0690745DC949}"/>
              </a:ext>
            </a:extLst>
          </p:cNvPr>
          <p:cNvSpPr>
            <a:spLocks noGrp="1"/>
          </p:cNvSpPr>
          <p:nvPr>
            <p:ph type="body" sz="quarter" idx="17" hasCustomPrompt="1"/>
          </p:nvPr>
        </p:nvSpPr>
        <p:spPr>
          <a:xfrm>
            <a:off x="9123727"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8" name="Title 1">
            <a:extLst>
              <a:ext uri="{FF2B5EF4-FFF2-40B4-BE49-F238E27FC236}">
                <a16:creationId xmlns:a16="http://schemas.microsoft.com/office/drawing/2014/main" id="{AD4D7402-B83D-6A0C-30F5-B0C66EFAE971}"/>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56" name="Picture Placeholder 55">
            <a:extLst>
              <a:ext uri="{FF2B5EF4-FFF2-40B4-BE49-F238E27FC236}">
                <a16:creationId xmlns:a16="http://schemas.microsoft.com/office/drawing/2014/main" id="{89BB5E4B-ECCB-89F3-38BD-F38184A39D0D}"/>
              </a:ext>
            </a:extLst>
          </p:cNvPr>
          <p:cNvSpPr>
            <a:spLocks noGrp="1"/>
          </p:cNvSpPr>
          <p:nvPr>
            <p:ph type="pic" sz="quarter" idx="19"/>
          </p:nvPr>
        </p:nvSpPr>
        <p:spPr>
          <a:xfrm>
            <a:off x="8954612"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7" name="Picture Placeholder 56">
            <a:extLst>
              <a:ext uri="{FF2B5EF4-FFF2-40B4-BE49-F238E27FC236}">
                <a16:creationId xmlns:a16="http://schemas.microsoft.com/office/drawing/2014/main" id="{29DDA1D4-E2BC-D14D-14FB-E9664C30E8CC}"/>
              </a:ext>
            </a:extLst>
          </p:cNvPr>
          <p:cNvSpPr>
            <a:spLocks noGrp="1"/>
          </p:cNvSpPr>
          <p:nvPr>
            <p:ph type="pic" sz="quarter" idx="20"/>
          </p:nvPr>
        </p:nvSpPr>
        <p:spPr>
          <a:xfrm>
            <a:off x="6166008"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8" name="Picture Placeholder 57">
            <a:extLst>
              <a:ext uri="{FF2B5EF4-FFF2-40B4-BE49-F238E27FC236}">
                <a16:creationId xmlns:a16="http://schemas.microsoft.com/office/drawing/2014/main" id="{3424BFD4-4318-C1DE-F0B1-570927E9E20E}"/>
              </a:ext>
            </a:extLst>
          </p:cNvPr>
          <p:cNvSpPr>
            <a:spLocks noGrp="1"/>
          </p:cNvSpPr>
          <p:nvPr>
            <p:ph type="pic" sz="quarter" idx="21"/>
          </p:nvPr>
        </p:nvSpPr>
        <p:spPr>
          <a:xfrm>
            <a:off x="3377406"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Tree>
    <p:extLst>
      <p:ext uri="{BB962C8B-B14F-4D97-AF65-F5344CB8AC3E}">
        <p14:creationId xmlns:p14="http://schemas.microsoft.com/office/powerpoint/2010/main" val="3753260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mage_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D2AD6C-62DD-326E-4471-0D7041BF8A5F}"/>
              </a:ext>
            </a:extLst>
          </p:cNvPr>
          <p:cNvSpPr>
            <a:spLocks/>
          </p:cNvSpPr>
          <p:nvPr userDrawn="1"/>
        </p:nvSpPr>
        <p:spPr bwMode="auto">
          <a:xfrm>
            <a:off x="0" y="0"/>
            <a:ext cx="12191999" cy="2554514"/>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pic>
        <p:nvPicPr>
          <p:cNvPr id="7" name="Picture 6" descr="A silver shield with text and stars&#10;&#10;AI-generated content may be incorrect.">
            <a:extLst>
              <a:ext uri="{FF2B5EF4-FFF2-40B4-BE49-F238E27FC236}">
                <a16:creationId xmlns:a16="http://schemas.microsoft.com/office/drawing/2014/main" id="{0D876B40-D15D-C715-A49D-E4102F02F601}"/>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6" name="Title 1">
            <a:extLst>
              <a:ext uri="{FF2B5EF4-FFF2-40B4-BE49-F238E27FC236}">
                <a16:creationId xmlns:a16="http://schemas.microsoft.com/office/drawing/2014/main" id="{AD4D7402-B83D-6A0C-30F5-B0C66EFAE971}"/>
              </a:ext>
            </a:extLst>
          </p:cNvPr>
          <p:cNvSpPr>
            <a:spLocks noGrp="1"/>
          </p:cNvSpPr>
          <p:nvPr>
            <p:ph type="title"/>
          </p:nvPr>
        </p:nvSpPr>
        <p:spPr>
          <a:xfrm>
            <a:off x="588962" y="457200"/>
            <a:ext cx="5013551" cy="1969770"/>
          </a:xfrm>
        </p:spPr>
        <p:txBody>
          <a:bodyPr anchor="ctr">
            <a:noAutofit/>
          </a:bodyPr>
          <a:lstStyle>
            <a:lvl1pPr>
              <a:defRPr sz="3200"/>
            </a:lvl1pPr>
          </a:lstStyle>
          <a:p>
            <a:r>
              <a:rPr lang="en-US"/>
              <a:t>Click to edit Master title style</a:t>
            </a:r>
          </a:p>
        </p:txBody>
      </p:sp>
      <p:sp>
        <p:nvSpPr>
          <p:cNvPr id="8" name="Picture Placeholder 7">
            <a:extLst>
              <a:ext uri="{FF2B5EF4-FFF2-40B4-BE49-F238E27FC236}">
                <a16:creationId xmlns:a16="http://schemas.microsoft.com/office/drawing/2014/main" id="{DBF25F7E-90DE-53E5-6AF2-028A9766FEC7}"/>
              </a:ext>
            </a:extLst>
          </p:cNvPr>
          <p:cNvSpPr>
            <a:spLocks noGrp="1"/>
          </p:cNvSpPr>
          <p:nvPr>
            <p:ph type="pic" sz="quarter" idx="18"/>
          </p:nvPr>
        </p:nvSpPr>
        <p:spPr>
          <a:xfrm>
            <a:off x="5951538" y="914399"/>
            <a:ext cx="5651499" cy="5448301"/>
          </a:xfrm>
          <a:prstGeom prst="roundRect">
            <a:avLst>
              <a:gd name="adj" fmla="val 4628"/>
            </a:avLst>
          </a:prstGeom>
          <a:solidFill>
            <a:schemeClr val="tx1"/>
          </a:solidFill>
        </p:spPr>
        <p:txBody>
          <a:bodyPr wrap="square">
            <a:noAutofit/>
          </a:bodyPr>
          <a:lstStyle/>
          <a:p>
            <a:endParaRPr lang="en-US"/>
          </a:p>
        </p:txBody>
      </p:sp>
      <p:sp>
        <p:nvSpPr>
          <p:cNvPr id="10" name="Text Placeholder 4">
            <a:extLst>
              <a:ext uri="{FF2B5EF4-FFF2-40B4-BE49-F238E27FC236}">
                <a16:creationId xmlns:a16="http://schemas.microsoft.com/office/drawing/2014/main" id="{0FD73285-18EC-21BC-10D1-EA49A3081FB2}"/>
              </a:ext>
            </a:extLst>
          </p:cNvPr>
          <p:cNvSpPr>
            <a:spLocks noGrp="1"/>
          </p:cNvSpPr>
          <p:nvPr>
            <p:ph type="body" sz="quarter" idx="10" hasCustomPrompt="1"/>
          </p:nvPr>
        </p:nvSpPr>
        <p:spPr>
          <a:xfrm>
            <a:off x="588962" y="2843711"/>
            <a:ext cx="5013552" cy="3077766"/>
          </a:xfrm>
        </p:spPr>
        <p:txBody>
          <a:bodyPr>
            <a:noAutofit/>
          </a:bodyPr>
          <a:lstStyle>
            <a:lvl1pPr marL="0" indent="0" algn="l">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p>
        </p:txBody>
      </p:sp>
    </p:spTree>
    <p:extLst>
      <p:ext uri="{BB962C8B-B14F-4D97-AF65-F5344CB8AC3E}">
        <p14:creationId xmlns:p14="http://schemas.microsoft.com/office/powerpoint/2010/main" val="25603212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ackground">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65924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descr="A logo on a black background&#10;&#10;AI-generated content may be incorrect.">
            <a:extLst>
              <a:ext uri="{FF2B5EF4-FFF2-40B4-BE49-F238E27FC236}">
                <a16:creationId xmlns:a16="http://schemas.microsoft.com/office/drawing/2014/main" id="{54C58BD3-CDE2-2472-5B17-4AA60F1F08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77228527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losing logo slide">
    <p:bg>
      <p:bgPr>
        <a:solidFill>
          <a:srgbClr val="8DC8E8"/>
        </a:solidFill>
        <a:effectLst/>
      </p:bgPr>
    </p:bg>
    <p:spTree>
      <p:nvGrpSpPr>
        <p:cNvPr id="1" name=""/>
        <p:cNvGrpSpPr/>
        <p:nvPr/>
      </p:nvGrpSpPr>
      <p:grpSpPr>
        <a:xfrm>
          <a:off x="0" y="0"/>
          <a:ext cx="0" cy="0"/>
          <a:chOff x="0" y="0"/>
          <a:chExt cx="0" cy="0"/>
        </a:xfrm>
      </p:grpSpPr>
      <p:pic>
        <p:nvPicPr>
          <p:cNvPr id="4" name="Picture 3" descr="A blue and purple gradient&#10;&#10;AI-generated content may be incorrect.">
            <a:extLst>
              <a:ext uri="{FF2B5EF4-FFF2-40B4-BE49-F238E27FC236}">
                <a16:creationId xmlns:a16="http://schemas.microsoft.com/office/drawing/2014/main" id="{62FC192E-09BB-FE87-78D1-A92D39817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7" name="Picture 6" descr="A logo on a black background&#10;&#10;AI-generated content may be incorrect.">
            <a:extLst>
              <a:ext uri="{FF2B5EF4-FFF2-40B4-BE49-F238E27FC236}">
                <a16:creationId xmlns:a16="http://schemas.microsoft.com/office/drawing/2014/main" id="{E7C4D62F-7870-ABCC-2805-88859CA8EE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190934184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869620834"/>
      </p:ext>
    </p:extLst>
  </p:cSld>
  <p:clrMap bg1="dk1" tx1="lt1" bg2="dk2" tx2="lt2" accent1="accent1" accent2="accent2" accent3="accent3" accent4="accent4" accent5="accent5" accent6="accent6" hlink="hlink" folHlink="folHlink"/>
  <p:sldLayoutIdLst>
    <p:sldLayoutId id="2147486123" r:id="rId1"/>
    <p:sldLayoutId id="2147486035" r:id="rId2"/>
    <p:sldLayoutId id="2147486134" r:id="rId3"/>
    <p:sldLayoutId id="2147486135" r:id="rId4"/>
    <p:sldLayoutId id="2147486136" r:id="rId5"/>
    <p:sldLayoutId id="2147486137" r:id="rId6"/>
    <p:sldLayoutId id="2147486138" r:id="rId7"/>
    <p:sldLayoutId id="2147486139" r:id="rId8"/>
    <p:sldLayoutId id="2147486140" r:id="rId9"/>
    <p:sldLayoutId id="2147486141" r:id="rId10"/>
    <p:sldLayoutId id="2147486142" r:id="rId11"/>
    <p:sldLayoutId id="2147486132" r:id="rId12"/>
    <p:sldLayoutId id="2147486133"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Aptos" panose="020B0004020202020204" pitchFamily="34"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Aptos" panose="020B0004020202020204" pitchFamily="34"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Aptos" panose="020B0004020202020204" pitchFamily="34"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LearnEU — Personalised learning, on contract</a:t>
            </a:r>
          </a:p>
        </p:txBody>
      </p:sp>
      <p:sp>
        <p:nvSpPr>
          <p:cNvPr id="3" name="TextBox 2"/>
          <p:cNvSpPr txBox="1"/>
          <p:nvPr/>
        </p:nvSpPr>
        <p:spPr>
          <a:xfrm>
            <a:off x="640000" y="2900000"/>
            <a:ext cx="10912000" cy="1400000"/>
          </a:xfrm>
          <a:prstGeom prst="rect">
            <a:avLst/>
          </a:prstGeom>
          <a:noFill/>
        </p:spPr>
        <p:txBody>
          <a:bodyPr wrap="square" lIns="120000" rIns="120000" tIns="80000" bIns="80000">
            <a:spAutoFit/>
          </a:bodyPr>
          <a:lstStyle/>
          <a:p>
            <a:pPr/>
            <a:r>
              <a:rPr sz="2200" b="0">
                <a:solidFill>
                  <a:srgbClr val="C8D4E6"/>
                </a:solidFill>
              </a:rPr>
              <a:t>AMA Case Study 33 · 4.1M learners · 5 EU markets · CXO restitution</a:t>
            </a:r>
          </a:p>
          <a:p>
            <a:pPr/>
            <a:r>
              <a:rPr sz="1600" b="0">
                <a:solidFill>
                  <a:srgbClr val="FFFFFF"/>
                </a:solidFill>
              </a:rPr>
              <a:t>Azure Master Architect — board-level restitution</a:t>
            </a:r>
          </a:p>
          <a:p>
            <a:pPr/>
            <a:r>
              <a:rPr sz="1600" b="0">
                <a:solidFill>
                  <a:srgbClr val="FFFFFF"/>
                </a:solidFill>
              </a:rPr>
              <a:t>Outcome contract: −26% gap · −45% admin · 12mo → 6wk · 100% GDPR Art. 8</a:t>
            </a:r>
          </a:p>
          <a:p>
            <a:pPr/>
            <a:r>
              <a:rPr sz="1600" b="0">
                <a:solidFill>
                  <a:srgbClr val="FFFFFF"/>
                </a:solidFill>
              </a:rPr>
              <a:t>Live demo at slide 17 on rg-learneu-demo (West Europe)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One page: what we are committing to</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Outcome, posture, ask — in 60 seconds</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WHAT WE DELIVER</a:t>
            </a:r>
          </a:p>
          <a:p>
            <a:pPr/>
            <a:r>
              <a:rPr sz="1800" b="0">
                <a:solidFill>
                  <a:srgbClr val="FFFFFF"/>
                </a:solidFill>
              </a:rPr>
              <a:t>• Privacy-preserving personalised learning for 4.1M minors in NL/BE/DE/PL/RO</a:t>
            </a:r>
          </a:p>
          <a:p>
            <a:pPr/>
            <a:r>
              <a:rPr sz="1800" b="0">
                <a:solidFill>
                  <a:srgbClr val="FFFFFF"/>
                </a:solidFill>
              </a:rPr>
              <a:t>• −26% outcome gap · −45% teacher admin · localisation 12mo → 6wk</a:t>
            </a:r>
          </a:p>
          <a:p>
            <a:pPr/>
            <a:r>
              <a:rPr sz="1800" b="0">
                <a:solidFill>
                  <a:srgbClr val="FFFFFF"/>
                </a:solidFill>
              </a:rPr>
              <a:t>• 100% GDPR Art. 8 · EU AI Act CE-marking before phase-3 exit</a:t>
            </a:r>
          </a:p>
          <a:p>
            <a:pPr/>
            <a:r>
              <a:rPr sz="1800" b="0">
                <a:solidFill>
                  <a:srgbClr val="FFFFFF"/>
                </a:solidFill>
              </a:rPr>
              <a:t>• Live on Azure EU regions only — no transfer outside EU Data Boundary</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WHAT IT TAKES</a:t>
            </a:r>
          </a:p>
          <a:p>
            <a:pPr/>
            <a:r>
              <a:rPr sz="1800" b="0">
                <a:solidFill>
                  <a:srgbClr val="FFFFFF"/>
                </a:solidFill>
              </a:rPr>
              <a:t>• 12-month, 5-phase programme; first market live month 8 (NL pilot)</a:t>
            </a:r>
          </a:p>
          <a:p>
            <a:pPr/>
            <a:r>
              <a:rPr sz="1800" b="0">
                <a:solidFill>
                  <a:srgbClr val="FFFFFF"/>
                </a:solidFill>
              </a:rPr>
              <a:t>• ~€18–22M total programme cost; payback ≤ 24 months at 3-market scale</a:t>
            </a:r>
          </a:p>
          <a:p>
            <a:pPr/>
            <a:r>
              <a:rPr sz="1800" b="0">
                <a:solidFill>
                  <a:srgbClr val="FFFFFF"/>
                </a:solidFill>
              </a:rPr>
              <a:t>• Teacher-in-the-loop on every AI decision — non-negotiable</a:t>
            </a:r>
          </a:p>
          <a:p>
            <a:pPr/>
            <a:r>
              <a:rPr sz="1800" b="0">
                <a:solidFill>
                  <a:srgbClr val="FFFFFF"/>
                </a:solidFill>
              </a:rPr>
              <a:t>• Board ask: sign DPIA mandate, approve P0 budget, name the RAI Council chair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The cost of doing nothing is bigger than the cost of doing it right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4 facts, 5 markets, 1 widening gap</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THE FACTS TODAY</a:t>
            </a:r>
          </a:p>
          <a:p>
            <a:pPr/>
            <a:r>
              <a:rPr sz="1800" b="0">
                <a:solidFill>
                  <a:srgbClr val="FFFFFF"/>
                </a:solidFill>
              </a:rPr>
              <a:t>• 4.1M learners across NL · BE · DE · PL · RO on identical content</a:t>
            </a:r>
          </a:p>
          <a:p>
            <a:pPr/>
            <a:r>
              <a:rPr sz="1800" b="0">
                <a:solidFill>
                  <a:srgbClr val="FFFFFF"/>
                </a:solidFill>
              </a:rPr>
              <a:t>• Outcome gap between top and bottom schools: up to 40%</a:t>
            </a:r>
          </a:p>
          <a:p>
            <a:pPr/>
            <a:r>
              <a:rPr sz="1800" b="0">
                <a:solidFill>
                  <a:srgbClr val="FFFFFF"/>
                </a:solidFill>
              </a:rPr>
              <a:t>• 35% of teacher hours lost to administrative grading</a:t>
            </a:r>
          </a:p>
          <a:p>
            <a:pPr/>
            <a:r>
              <a:rPr sz="1800" b="0">
                <a:solidFill>
                  <a:srgbClr val="FFFFFF"/>
                </a:solidFill>
              </a:rPr>
              <a:t>• Each market entry costs 8–12 months of localisation cycle</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WHY IT GETS WORSE</a:t>
            </a:r>
          </a:p>
          <a:p>
            <a:pPr/>
            <a:r>
              <a:rPr sz="1800" b="0">
                <a:solidFill>
                  <a:srgbClr val="FFFFFF"/>
                </a:solidFill>
              </a:rPr>
              <a:t>• GDPR Art. 8 caps what we can personalise without parental consent</a:t>
            </a:r>
          </a:p>
          <a:p>
            <a:pPr/>
            <a:r>
              <a:rPr sz="1800" b="0">
                <a:solidFill>
                  <a:srgbClr val="FFFFFF"/>
                </a:solidFill>
              </a:rPr>
              <a:t>• EU AI Act now classifies our category as high-risk (Annex III §3)</a:t>
            </a:r>
          </a:p>
          <a:p>
            <a:pPr/>
            <a:r>
              <a:rPr sz="1800" b="0">
                <a:solidFill>
                  <a:srgbClr val="FFFFFF"/>
                </a:solidFill>
              </a:rPr>
              <a:t>• Competitors are already running pilots — first-mover wins ministries</a:t>
            </a:r>
          </a:p>
          <a:p>
            <a:pPr/>
            <a:r>
              <a:rPr sz="1800" b="0">
                <a:solidFill>
                  <a:srgbClr val="FFFFFF"/>
                </a:solidFill>
              </a:rPr>
              <a:t>• Teacher attrition rising; admin burden is the #1 cited cause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Compliance is the moat, not the cost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"European, by design" is a sellable category — we own it first</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THESIS</a:t>
            </a:r>
          </a:p>
          <a:p>
            <a:pPr/>
            <a:r>
              <a:rPr sz="1800" b="0">
                <a:solidFill>
                  <a:srgbClr val="FFFFFF"/>
                </a:solidFill>
              </a:rPr>
              <a:t>• Ministries will only buy EU-resident, AI-Act-compliant edtech by 2027</a:t>
            </a:r>
          </a:p>
          <a:p>
            <a:pPr/>
            <a:r>
              <a:rPr sz="1800" b="0">
                <a:solidFill>
                  <a:srgbClr val="FFFFFF"/>
                </a:solidFill>
              </a:rPr>
              <a:t>• Privacy-preserving ML (on-device + federated) is now production-grade</a:t>
            </a:r>
          </a:p>
          <a:p>
            <a:pPr/>
            <a:r>
              <a:rPr sz="1800" b="0">
                <a:solidFill>
                  <a:srgbClr val="FFFFFF"/>
                </a:solidFill>
              </a:rPr>
              <a:t>• Teacher-in-the-loop becomes a *feature*, not a constraint</a:t>
            </a:r>
          </a:p>
          <a:p>
            <a:pPr/>
            <a:r>
              <a:rPr sz="1800" b="0">
                <a:solidFill>
                  <a:srgbClr val="FFFFFF"/>
                </a:solidFill>
              </a:rPr>
              <a:t>• Pedagogy + AI + governance must be one product, not three procurements</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HOW WE DIFFERENTIATE</a:t>
            </a:r>
          </a:p>
          <a:p>
            <a:pPr/>
            <a:r>
              <a:rPr sz="1800" b="0">
                <a:solidFill>
                  <a:srgbClr val="FFFFFF"/>
                </a:solidFill>
              </a:rPr>
              <a:t>• Default = on-device inference (ONNX) — minor data never leaves the browser</a:t>
            </a:r>
          </a:p>
          <a:p>
            <a:pPr/>
            <a:r>
              <a:rPr sz="1800" b="0">
                <a:solidFill>
                  <a:srgbClr val="FFFFFF"/>
                </a:solidFill>
              </a:rPr>
              <a:t>• Federated training with differential privacy across 5 markets</a:t>
            </a:r>
          </a:p>
          <a:p>
            <a:pPr/>
            <a:r>
              <a:rPr sz="1800" b="0">
                <a:solidFill>
                  <a:srgbClr val="FFFFFF"/>
                </a:solidFill>
              </a:rPr>
              <a:t>• Full Annex IV technical file as a sales asset, not a paperwork drag</a:t>
            </a:r>
          </a:p>
          <a:p>
            <a:pPr/>
            <a:r>
              <a:rPr sz="1800" b="0">
                <a:solidFill>
                  <a:srgbClr val="FFFFFF"/>
                </a:solidFill>
              </a:rPr>
              <a:t>• Localisation as a *pipeline*, not a project — 6-week SLA per market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Four numbers, contractually owned, board-reviewed monthly</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Targets are case-study verbatim — no padding, no softening</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OUTCOME TARGETS</a:t>
            </a:r>
          </a:p>
          <a:p>
            <a:pPr/>
            <a:r>
              <a:rPr sz="1800" b="0">
                <a:solidFill>
                  <a:srgbClr val="FFFFFF"/>
                </a:solidFill>
              </a:rPr>
              <a:t>• K1 · Outcome gap (high vs low schools): 40% → −26 pp reduction</a:t>
            </a:r>
          </a:p>
          <a:p>
            <a:pPr/>
            <a:r>
              <a:rPr sz="1800" b="0">
                <a:solidFill>
                  <a:srgbClr val="FFFFFF"/>
                </a:solidFill>
              </a:rPr>
              <a:t>• K2 · Teacher administrative time: −45%</a:t>
            </a:r>
          </a:p>
          <a:p>
            <a:pPr/>
            <a:r>
              <a:rPr sz="1800" b="0">
                <a:solidFill>
                  <a:srgbClr val="FFFFFF"/>
                </a:solidFill>
              </a:rPr>
              <a:t>• K3 · Localisation cycle: 12 months → 6 weeks (≈ 87% faster)</a:t>
            </a:r>
          </a:p>
          <a:p>
            <a:pPr/>
            <a:r>
              <a:rPr sz="1800" b="0">
                <a:solidFill>
                  <a:srgbClr val="FFFFFF"/>
                </a:solidFill>
              </a:rPr>
              <a:t>• K4 · GDPR Art. 8 compliance: 100% maintained, 0 breaches</a:t>
            </a:r>
          </a:p>
          <a:p>
            <a:pPr/>
            <a:r>
              <a:rPr sz="1800" b="0">
                <a:solidFill>
                  <a:srgbClr val="FFFFFF"/>
                </a:solidFill>
              </a:rPr>
              <a:t>• K5 · EU AI Act conformity: CE-marked before phase-3 exit (month 10)</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HOW WE PROVE IT MONTHLY</a:t>
            </a:r>
          </a:p>
          <a:p>
            <a:pPr/>
            <a:r>
              <a:rPr sz="1800" b="0">
                <a:solidFill>
                  <a:srgbClr val="FFFFFF"/>
                </a:solidFill>
              </a:rPr>
              <a:t>• Per-cohort fairness disparity tracked in App Insights</a:t>
            </a:r>
          </a:p>
          <a:p>
            <a:pPr/>
            <a:r>
              <a:rPr sz="1800" b="0">
                <a:solidFill>
                  <a:srgbClr val="FFFFFF"/>
                </a:solidFill>
              </a:rPr>
              <a:t>• Teacher minutes saved per assignment — telemetry + quarterly NPS</a:t>
            </a:r>
          </a:p>
          <a:p>
            <a:pPr/>
            <a:r>
              <a:rPr sz="1800" b="0">
                <a:solidFill>
                  <a:srgbClr val="FFFFFF"/>
                </a:solidFill>
              </a:rPr>
              <a:t>• Units localised / week / market — Fabric pipeline counter</a:t>
            </a:r>
          </a:p>
          <a:p>
            <a:pPr/>
            <a:r>
              <a:rPr sz="1800" b="0">
                <a:solidFill>
                  <a:srgbClr val="FFFFFF"/>
                </a:solidFill>
              </a:rPr>
              <a:t>• DPIA freshness ≤ 12mo per market — Purview report</a:t>
            </a:r>
          </a:p>
          <a:p>
            <a:pPr/>
            <a:r>
              <a:rPr sz="1800" b="0">
                <a:solidFill>
                  <a:srgbClr val="FFFFFF"/>
                </a:solidFill>
              </a:rPr>
              <a:t>• Override rate, calibration error (ECE ≤ 0.05) — RAI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~€55M annual value at run-rate, payback ≤ 24 months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Three value pools, conservatively sized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VALUE POOLS</a:t>
            </a:r>
          </a:p>
          <a:p>
            <a:pPr/>
            <a:r>
              <a:rPr sz="1800" b="0">
                <a:solidFill>
                  <a:srgbClr val="FFFFFF"/>
                </a:solidFill>
              </a:rPr>
              <a:t>• Teacher productivity: −45% admin × ~120k teachers × €15/h saved ≈ €28M/yr</a:t>
            </a:r>
          </a:p>
          <a:p>
            <a:pPr/>
            <a:r>
              <a:rPr sz="1800" b="0">
                <a:solidFill>
                  <a:srgbClr val="FFFFFF"/>
                </a:solidFill>
              </a:rPr>
              <a:t>• Market expansion: 3 new markets · 18 months earlier · ≈ €18M incremental ARR</a:t>
            </a:r>
          </a:p>
          <a:p>
            <a:pPr/>
            <a:r>
              <a:rPr sz="1800" b="0">
                <a:solidFill>
                  <a:srgbClr val="FFFFFF"/>
                </a:solidFill>
              </a:rPr>
              <a:t>• Retention uplift from outcome gains: +2 pp churn reduction ≈ €9M/yr</a:t>
            </a:r>
          </a:p>
          <a:p>
            <a:pPr/>
            <a:r>
              <a:rPr sz="1800" b="0">
                <a:solidFill>
                  <a:srgbClr val="FFFFFF"/>
                </a:solidFill>
              </a:rPr>
              <a:t>• Total annual run-rate value: ≈ €55M (steady-state, 5 markets)</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INVESTMENT &amp; PAYBACK</a:t>
            </a:r>
          </a:p>
          <a:p>
            <a:pPr/>
            <a:r>
              <a:rPr sz="1800" b="0">
                <a:solidFill>
                  <a:srgbClr val="FFFFFF"/>
                </a:solidFill>
              </a:rPr>
              <a:t>• Programme cost over 12 months: €18–22M (build) + €6M/yr (run, FinOps optimised)</a:t>
            </a:r>
          </a:p>
          <a:p>
            <a:pPr/>
            <a:r>
              <a:rPr sz="1800" b="0">
                <a:solidFill>
                  <a:srgbClr val="FFFFFF"/>
                </a:solidFill>
              </a:rPr>
              <a:t>• Break-even: month 22 on 3-market live, month 30 on full 5</a:t>
            </a:r>
          </a:p>
          <a:p>
            <a:pPr/>
            <a:r>
              <a:rPr sz="1800" b="0">
                <a:solidFill>
                  <a:srgbClr val="FFFFFF"/>
                </a:solidFill>
              </a:rPr>
              <a:t>• Sensitivity: ±20% on adoption ramp changes payback by ±4 months</a:t>
            </a:r>
          </a:p>
          <a:p>
            <a:pPr/>
            <a:r>
              <a:rPr sz="1800" b="0">
                <a:solidFill>
                  <a:srgbClr val="FFFFFF"/>
                </a:solidFill>
              </a:rPr>
              <a:t>• Compliance is sunk regardless — doing it inside the programme avoids re-work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Three personas, three measurable wins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Learner · Teacher · Parent — each gets less of what they hate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LEARNER &amp; PARENT</a:t>
            </a:r>
          </a:p>
          <a:p>
            <a:pPr/>
            <a:r>
              <a:rPr sz="1800" b="0">
                <a:solidFill>
                  <a:srgbClr val="FFFFFF"/>
                </a:solidFill>
              </a:rPr>
              <a:t>• Learner: content at the right difficulty (target P-correct ≈ 0.7)</a:t>
            </a:r>
          </a:p>
          <a:p>
            <a:pPr/>
            <a:r>
              <a:rPr sz="1800" b="0">
                <a:solidFill>
                  <a:srgbClr val="FFFFFF"/>
                </a:solidFill>
              </a:rPr>
              <a:t>• Learner: instant formative feedback, never punitive grading</a:t>
            </a:r>
          </a:p>
          <a:p>
            <a:pPr/>
            <a:r>
              <a:rPr sz="1800" b="0">
                <a:solidFill>
                  <a:srgbClr val="FFFFFF"/>
                </a:solidFill>
              </a:rPr>
              <a:t>• Parent: portal in native language, GDPR Art. 8 controls in one click</a:t>
            </a:r>
          </a:p>
          <a:p>
            <a:pPr/>
            <a:r>
              <a:rPr sz="1800" b="0">
                <a:solidFill>
                  <a:srgbClr val="FFFFFF"/>
                </a:solidFill>
              </a:rPr>
              <a:t>• Parent: human teacher remains the decision-maker — by contract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TEACHER</a:t>
            </a:r>
          </a:p>
          <a:p>
            <a:pPr/>
            <a:r>
              <a:rPr sz="1800" b="0">
                <a:solidFill>
                  <a:srgbClr val="FFFFFF"/>
                </a:solidFill>
              </a:rPr>
              <a:t>• Teacher: 45% admin time back — recoverable for actual teaching</a:t>
            </a:r>
          </a:p>
          <a:p>
            <a:pPr/>
            <a:r>
              <a:rPr sz="1800" b="0">
                <a:solidFill>
                  <a:srgbClr val="FFFFFF"/>
                </a:solidFill>
              </a:rPr>
              <a:t>• Teacher: every AI suggestion comes with explanation + one-click override</a:t>
            </a:r>
          </a:p>
          <a:p>
            <a:pPr/>
            <a:r>
              <a:rPr sz="1800" b="0">
                <a:solidFill>
                  <a:srgbClr val="FFFFFF"/>
                </a:solidFill>
              </a:rPr>
              <a:t>• Teacher: classroom-level dashboard in Power BI, no data engineering needed</a:t>
            </a:r>
          </a:p>
          <a:p>
            <a:pPr/>
            <a:r>
              <a:rPr sz="1800" b="0">
                <a:solidFill>
                  <a:srgbClr val="FFFFFF"/>
                </a:solidFill>
              </a:rPr>
              <a:t>• Teacher: opt-out per assignment, per class, per pupil — always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One platform, three AI capabilities, zero data leaving the EU</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Built on Azure EU regions — 8 services, all in scope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THREE AI CAPABILITIES</a:t>
            </a:r>
          </a:p>
          <a:p>
            <a:pPr/>
            <a:r>
              <a:rPr sz="1800" b="0">
                <a:solidFill>
                  <a:srgbClr val="FFFFFF"/>
                </a:solidFill>
              </a:rPr>
              <a:t>• Adaptive learner model — on-device ONNX, federated training, DP</a:t>
            </a:r>
          </a:p>
          <a:p>
            <a:pPr/>
            <a:r>
              <a:rPr sz="1800" b="0">
                <a:solidFill>
                  <a:srgbClr val="FFFFFF"/>
                </a:solidFill>
              </a:rPr>
              <a:t>• Curriculum localisation AI — Azure OpenAI + AI Search + glossaries</a:t>
            </a:r>
          </a:p>
          <a:p>
            <a:pPr/>
            <a:r>
              <a:rPr sz="1800" b="0">
                <a:solidFill>
                  <a:srgbClr val="FFFFFF"/>
                </a:solidFill>
              </a:rPr>
              <a:t>• Automated assessment AI — structured grading + formative feedback</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EIGHT AZURE SERVICES, EU-ONLY</a:t>
            </a:r>
          </a:p>
          <a:p>
            <a:pPr/>
            <a:r>
              <a:rPr sz="1800" b="0">
                <a:solidFill>
                  <a:srgbClr val="FFFFFF"/>
                </a:solidFill>
              </a:rPr>
              <a:t>• Identity: Azure AD B2C (per country) + Entra ID (staff)</a:t>
            </a:r>
          </a:p>
          <a:p>
            <a:pPr/>
            <a:r>
              <a:rPr sz="1800" b="0">
                <a:solidFill>
                  <a:srgbClr val="FFFFFF"/>
                </a:solidFill>
              </a:rPr>
              <a:t>• Data: Microsoft Fabric (OneLake) + Purview + Key Vault HSM</a:t>
            </a:r>
          </a:p>
          <a:p>
            <a:pPr/>
            <a:r>
              <a:rPr sz="1800" b="0">
                <a:solidFill>
                  <a:srgbClr val="FFFFFF"/>
                </a:solidFill>
              </a:rPr>
              <a:t>• AI: Azure ML + Azure OpenAI + AI Content Safety</a:t>
            </a:r>
          </a:p>
          <a:p>
            <a:pPr/>
            <a:r>
              <a:rPr sz="1800" b="0">
                <a:solidFill>
                  <a:srgbClr val="FFFFFF"/>
                </a:solidFill>
              </a:rPr>
              <a:t>• Edge: API Management (front door) + ONNX Runtime (on-device)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GDPR Art. 8 + EU AI Act high-risk: addressed from day zero</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Built into the SDLC, not bolted on at audit</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GDPR POSTURE</a:t>
            </a:r>
          </a:p>
          <a:p>
            <a:pPr/>
            <a:r>
              <a:rPr sz="1800" b="0">
                <a:solidFill>
                  <a:srgbClr val="FFFFFF"/>
                </a:solidFill>
              </a:rPr>
              <a:t>• Article 8 — default consent age 16 (strictest of 5 markets)</a:t>
            </a:r>
          </a:p>
          <a:p>
            <a:pPr/>
            <a:r>
              <a:rPr sz="1800" b="0">
                <a:solidFill>
                  <a:srgbClr val="FFFFFF"/>
                </a:solidFill>
              </a:rPr>
              <a:t>• DPIA per market in Phase 0, refreshed annually</a:t>
            </a:r>
          </a:p>
          <a:p>
            <a:pPr/>
            <a:r>
              <a:rPr sz="1800" b="0">
                <a:solidFill>
                  <a:srgbClr val="FFFFFF"/>
                </a:solidFill>
              </a:rPr>
              <a:t>• Data minimisation: on-device first, federated second, central last</a:t>
            </a:r>
          </a:p>
          <a:p>
            <a:pPr/>
            <a:r>
              <a:rPr sz="1800" b="0">
                <a:solidFill>
                  <a:srgbClr val="FFFFFF"/>
                </a:solidFill>
              </a:rPr>
              <a:t>• Erasure SLA: 30 days, automated via Purview lineage</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EU AI ACT POSTURE</a:t>
            </a:r>
          </a:p>
          <a:p>
            <a:pPr/>
            <a:r>
              <a:rPr sz="1800" b="0">
                <a:solidFill>
                  <a:srgbClr val="FFFFFF"/>
                </a:solidFill>
              </a:rPr>
              <a:t>• Every feature classified high-risk by default (Annex III §3)</a:t>
            </a:r>
          </a:p>
          <a:p>
            <a:pPr/>
            <a:r>
              <a:rPr sz="1800" b="0">
                <a:solidFill>
                  <a:srgbClr val="FFFFFF"/>
                </a:solidFill>
              </a:rPr>
              <a:t>• Annex IV technical file built feature-by-feature from M0</a:t>
            </a:r>
          </a:p>
          <a:p>
            <a:pPr/>
            <a:r>
              <a:rPr sz="1800" b="0">
                <a:solidFill>
                  <a:srgbClr val="FFFFFF"/>
                </a:solidFill>
              </a:rPr>
              <a:t>• Conformity assessment (Art. 43) — CE marking before phase-3 exit</a:t>
            </a:r>
          </a:p>
          <a:p>
            <a:pPr/>
            <a:r>
              <a:rPr sz="1800" b="0">
                <a:solidFill>
                  <a:srgbClr val="FFFFFF"/>
                </a:solidFill>
              </a:rPr>
              <a:t>• Post-market monitoring (Art. 72) live from first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No autonomous decision touches a learner — ever</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Human-in-the-loop is the product, not the policy</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DESIGN PRINCIPLES</a:t>
            </a:r>
          </a:p>
          <a:p>
            <a:pPr/>
            <a:r>
              <a:rPr sz="1800" b="0">
                <a:solidFill>
                  <a:srgbClr val="FFFFFF"/>
                </a:solidFill>
              </a:rPr>
              <a:t>• Teacher-in-the-loop on every grading or content-difficulty change</a:t>
            </a:r>
          </a:p>
          <a:p>
            <a:pPr/>
            <a:r>
              <a:rPr sz="1800" b="0">
                <a:solidFill>
                  <a:srgbClr val="FFFFFF"/>
                </a:solidFill>
              </a:rPr>
              <a:t>• Explainability surfaced in the Teacher Console for every suggestion</a:t>
            </a:r>
          </a:p>
          <a:p>
            <a:pPr/>
            <a:r>
              <a:rPr sz="1800" b="0">
                <a:solidFill>
                  <a:srgbClr val="FFFFFF"/>
                </a:solidFill>
              </a:rPr>
              <a:t>• One-click override at pupil / class / assignment level</a:t>
            </a:r>
          </a:p>
          <a:p>
            <a:pPr/>
            <a:r>
              <a:rPr sz="1800" b="0">
                <a:solidFill>
                  <a:srgbClr val="FFFFFF"/>
                </a:solidFill>
              </a:rPr>
              <a:t>• Content Safety on every generative output — gate, not log</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RELEASE GATES</a:t>
            </a:r>
          </a:p>
          <a:p>
            <a:pPr/>
            <a:r>
              <a:rPr sz="1800" b="0">
                <a:solidFill>
                  <a:srgbClr val="FFFFFF"/>
                </a:solidFill>
              </a:rPr>
              <a:t>• RAI release gate v1 — fairness, calibration, safety, transparency</a:t>
            </a:r>
          </a:p>
          <a:p>
            <a:pPr/>
            <a:r>
              <a:rPr sz="1800" b="0">
                <a:solidFill>
                  <a:srgbClr val="FFFFFF"/>
                </a:solidFill>
              </a:rPr>
              <a:t>• Per-cohort fairness disparity ≤ 5 pp (gating, not advisory)</a:t>
            </a:r>
          </a:p>
          <a:p>
            <a:pPr/>
            <a:r>
              <a:rPr sz="1800" b="0">
                <a:solidFill>
                  <a:srgbClr val="FFFFFF"/>
                </a:solidFill>
              </a:rPr>
              <a:t>• Calibration error (ECE) ≤ 0.05</a:t>
            </a:r>
          </a:p>
          <a:p>
            <a:pPr/>
            <a:r>
              <a:rPr sz="1800" b="0">
                <a:solidFill>
                  <a:srgbClr val="FFFFFF"/>
                </a:solidFill>
              </a:rPr>
              <a:t>• Quarterly RAI re-evaluation — model can be rolled back same-day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Less data, better governed, never re-identifiable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Lakehouse + Purview + customer-managed keys, end-to-end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DATA ARCHITECTURE</a:t>
            </a:r>
          </a:p>
          <a:p>
            <a:pPr/>
            <a:r>
              <a:rPr sz="1800" b="0">
                <a:solidFill>
                  <a:srgbClr val="FFFFFF"/>
                </a:solidFill>
              </a:rPr>
              <a:t>• Microsoft Fabric OneLake — Bronze / Silver / Gold, EU regions only</a:t>
            </a:r>
          </a:p>
          <a:p>
            <a:pPr/>
            <a:r>
              <a:rPr sz="1800" b="0">
                <a:solidFill>
                  <a:srgbClr val="FFFFFF"/>
                </a:solidFill>
              </a:rPr>
              <a:t>• Pseudonymisation at ingest; keys in Azure Key Vault Managed HSM</a:t>
            </a:r>
          </a:p>
          <a:p>
            <a:pPr/>
            <a:r>
              <a:rPr sz="1800" b="0">
                <a:solidFill>
                  <a:srgbClr val="FFFFFF"/>
                </a:solidFill>
              </a:rPr>
              <a:t>• Gold layer holds *no* learner-level data — only aggregates</a:t>
            </a:r>
          </a:p>
          <a:p>
            <a:pPr/>
            <a:r>
              <a:rPr sz="1800" b="0">
                <a:solidFill>
                  <a:srgbClr val="FFFFFF"/>
                </a:solidFill>
              </a:rPr>
              <a:t>• Feature store with row-level lineage in Purview</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GOVERNANCE CONTROLS</a:t>
            </a:r>
          </a:p>
          <a:p>
            <a:pPr/>
            <a:r>
              <a:rPr sz="1800" b="0">
                <a:solidFill>
                  <a:srgbClr val="FFFFFF"/>
                </a:solidFill>
              </a:rPr>
              <a:t>• Sensitivity label "Child Personal Data — Restricted" enforced via DLP</a:t>
            </a:r>
          </a:p>
          <a:p>
            <a:pPr/>
            <a:r>
              <a:rPr sz="1800" b="0">
                <a:solidFill>
                  <a:srgbClr val="FFFFFF"/>
                </a:solidFill>
              </a:rPr>
              <a:t>• Azure Policy: region pinning, CMK enforcement, no-PII-to-PaaS guardrail</a:t>
            </a:r>
          </a:p>
          <a:p>
            <a:pPr/>
            <a:r>
              <a:rPr sz="1800" b="0">
                <a:solidFill>
                  <a:srgbClr val="FFFFFF"/>
                </a:solidFill>
              </a:rPr>
              <a:t>• Erasure cascades through lineage — 30-day SLA, evidence in audit log</a:t>
            </a:r>
          </a:p>
          <a:p>
            <a:pPr/>
            <a:r>
              <a:rPr sz="1800" b="0">
                <a:solidFill>
                  <a:srgbClr val="FFFFFF"/>
                </a:solidFill>
              </a:rPr>
              <a:t>• Quarterly Microsoft sub-processor review — automatic alerting on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Zero-trust, EU-resident, defensible under audit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Private Endpoints, CMK, immutable audit, EU Data Boundary</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SECURITY BASELINE</a:t>
            </a:r>
          </a:p>
          <a:p>
            <a:pPr/>
            <a:r>
              <a:rPr sz="1800" b="0">
                <a:solidFill>
                  <a:srgbClr val="FFFFFF"/>
                </a:solidFill>
              </a:rPr>
              <a:t>• All PaaS behind Private Endpoints; only APIM + web apps public</a:t>
            </a:r>
          </a:p>
          <a:p>
            <a:pPr/>
            <a:r>
              <a:rPr sz="1800" b="0">
                <a:solidFill>
                  <a:srgbClr val="FFFFFF"/>
                </a:solidFill>
              </a:rPr>
              <a:t>• Front Door + WAF in front; Azure Firewall on egress</a:t>
            </a:r>
          </a:p>
          <a:p>
            <a:pPr/>
            <a:r>
              <a:rPr sz="1800" b="0">
                <a:solidFill>
                  <a:srgbClr val="FFFFFF"/>
                </a:solidFill>
              </a:rPr>
              <a:t>• Customer-managed keys for every storage and AI service</a:t>
            </a:r>
          </a:p>
          <a:p>
            <a:pPr/>
            <a:r>
              <a:rPr sz="1800" b="0">
                <a:solidFill>
                  <a:srgbClr val="FFFFFF"/>
                </a:solidFill>
              </a:rPr>
              <a:t>• Confidential Computing for any centralised re-identifiable workload</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RESIDENCY &amp; AUDIT</a:t>
            </a:r>
          </a:p>
          <a:p>
            <a:pPr/>
            <a:r>
              <a:rPr sz="1800" b="0">
                <a:solidFill>
                  <a:srgbClr val="FFFFFF"/>
                </a:solidFill>
              </a:rPr>
              <a:t>• West Europe + Germany West Central + Poland Central — DR within EU</a:t>
            </a:r>
          </a:p>
          <a:p>
            <a:pPr/>
            <a:r>
              <a:rPr sz="1800" b="0">
                <a:solidFill>
                  <a:srgbClr val="FFFFFF"/>
                </a:solidFill>
              </a:rPr>
              <a:t>• EU Data Boundary for Azure OpenAI / Foundry, verified per sub-processor</a:t>
            </a:r>
          </a:p>
          <a:p>
            <a:pPr/>
            <a:r>
              <a:rPr sz="1800" b="0">
                <a:solidFill>
                  <a:srgbClr val="FFFFFF"/>
                </a:solidFill>
              </a:rPr>
              <a:t>• Immutable audit logs (Azure Blob WORM) — AI Act Art. 12 evidence</a:t>
            </a:r>
          </a:p>
          <a:p>
            <a:pPr/>
            <a:r>
              <a:rPr sz="1800" b="0">
                <a:solidFill>
                  <a:srgbClr val="FFFFFF"/>
                </a:solidFill>
              </a:rPr>
              <a:t>• Defender for Cloud + Sentinel — 24×7 SOC, IR drilled quarterly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Teachers are the product team, not the test cohort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Co-design, training, override — in that order</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CO-DESIGN</a:t>
            </a:r>
          </a:p>
          <a:p>
            <a:pPr/>
            <a:r>
              <a:rPr sz="1800" b="0">
                <a:solidFill>
                  <a:srgbClr val="FFFFFF"/>
                </a:solidFill>
              </a:rPr>
              <a:t>• 20 NL pilot schools onboarded with co-design workshops in P0–P1</a:t>
            </a:r>
          </a:p>
          <a:p>
            <a:pPr/>
            <a:r>
              <a:rPr sz="1800" b="0">
                <a:solidFill>
                  <a:srgbClr val="FFFFFF"/>
                </a:solidFill>
              </a:rPr>
              <a:t>• Teacher Council reviews every release before pedagogical sign-off</a:t>
            </a:r>
          </a:p>
          <a:p>
            <a:pPr/>
            <a:r>
              <a:rPr sz="1800" b="0">
                <a:solidFill>
                  <a:srgbClr val="FFFFFF"/>
                </a:solidFill>
              </a:rPr>
              <a:t>• Override telemetry feeds back into the model — visible, not anonymous</a:t>
            </a:r>
          </a:p>
          <a:p>
            <a:pPr/>
            <a:r>
              <a:rPr sz="1800" b="0">
                <a:solidFill>
                  <a:srgbClr val="FFFFFF"/>
                </a:solidFill>
              </a:rPr>
              <a:t>• Continuous Professional Development (CPD) credits for participating teachers</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ADOPTION METRICS</a:t>
            </a:r>
          </a:p>
          <a:p>
            <a:pPr/>
            <a:r>
              <a:rPr sz="1800" b="0">
                <a:solidFill>
                  <a:srgbClr val="FFFFFF"/>
                </a:solidFill>
              </a:rPr>
              <a:t>• Teacher trust survey (NPS) per quarter — gating for market expansion</a:t>
            </a:r>
          </a:p>
          <a:p>
            <a:pPr/>
            <a:r>
              <a:rPr sz="1800" b="0">
                <a:solidFill>
                  <a:srgbClr val="FFFFFF"/>
                </a:solidFill>
              </a:rPr>
              <a:t>• Override rate targeted ≤ 10% steady-state (signal of trust, not friction)</a:t>
            </a:r>
          </a:p>
          <a:p>
            <a:pPr/>
            <a:r>
              <a:rPr sz="1800" b="0">
                <a:solidFill>
                  <a:srgbClr val="FFFFFF"/>
                </a:solidFill>
              </a:rPr>
              <a:t>• 90-minute onboarding per teacher; 100% pass rate gates classroom go-live</a:t>
            </a:r>
          </a:p>
          <a:p>
            <a:pPr/>
            <a:r>
              <a:rPr sz="1800" b="0">
                <a:solidFill>
                  <a:srgbClr val="FFFFFF"/>
                </a:solidFill>
              </a:rPr>
              <a:t>• Country Customer Success Manager per market (CHRO + Country Mgr accountability)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From 12 months to 6 weeks per market — same quality bar</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NL → DE → BE / PL / RO, pedagogy-led, ministry-aligned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ROLL-OUT</a:t>
            </a:r>
          </a:p>
          <a:p>
            <a:pPr/>
            <a:r>
              <a:rPr sz="1800" b="0">
                <a:solidFill>
                  <a:srgbClr val="FFFFFF"/>
                </a:solidFill>
              </a:rPr>
              <a:t>• M5–M8: NL pilot (20 schools), prove KPI trajectory</a:t>
            </a:r>
          </a:p>
          <a:p>
            <a:pPr/>
            <a:r>
              <a:rPr sz="1800" b="0">
                <a:solidFill>
                  <a:srgbClr val="FFFFFF"/>
                </a:solidFill>
              </a:rPr>
              <a:t>• M8–M10: DE launch (50+ schools), CE marking obtained</a:t>
            </a:r>
          </a:p>
          <a:p>
            <a:pPr/>
            <a:r>
              <a:rPr sz="1800" b="0">
                <a:solidFill>
                  <a:srgbClr val="FFFFFF"/>
                </a:solidFill>
              </a:rPr>
              <a:t>• M10–M12: pick BE/PL/RO based on ministry traction</a:t>
            </a:r>
          </a:p>
          <a:p>
            <a:pPr/>
            <a:r>
              <a:rPr sz="1800" b="0">
                <a:solidFill>
                  <a:srgbClr val="FFFFFF"/>
                </a:solidFill>
              </a:rPr>
              <a:t>• M12+: continuous content velocity per market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LOCALISATION AS A PIPELINE</a:t>
            </a:r>
          </a:p>
          <a:p>
            <a:pPr/>
            <a:r>
              <a:rPr sz="1800" b="0">
                <a:solidFill>
                  <a:srgbClr val="FFFFFF"/>
                </a:solidFill>
              </a:rPr>
              <a:t>• Glossaries v0 per subject × country shipped in Phase 0</a:t>
            </a:r>
          </a:p>
          <a:p>
            <a:pPr/>
            <a:r>
              <a:rPr sz="1800" b="0">
                <a:solidFill>
                  <a:srgbClr val="FFFFFF"/>
                </a:solidFill>
              </a:rPr>
              <a:t>• Azure OpenAI + AI Search retrieval-augmented translation</a:t>
            </a:r>
          </a:p>
          <a:p>
            <a:pPr/>
            <a:r>
              <a:rPr sz="1800" b="0">
                <a:solidFill>
                  <a:srgbClr val="FFFFFF"/>
                </a:solidFill>
              </a:rPr>
              <a:t>• Reviewer-in-the-loop *never* optional — first-pass acceptance ≥ 80% target</a:t>
            </a:r>
          </a:p>
          <a:p>
            <a:pPr/>
            <a:r>
              <a:rPr sz="1800" b="0">
                <a:solidFill>
                  <a:srgbClr val="FFFFFF"/>
                </a:solidFill>
              </a:rPr>
              <a:t>• Throughput tracked weekly: units / week / market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Two councils, nine specialist agents, one accountable chain</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Pedagogical sign-off before technical sign-off — non-negotiable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GOVERNANCE BODIES</a:t>
            </a:r>
          </a:p>
          <a:p>
            <a:pPr/>
            <a:r>
              <a:rPr sz="1800" b="0">
                <a:solidFill>
                  <a:srgbClr val="FFFFFF"/>
                </a:solidFill>
              </a:rPr>
              <a:t>• Steering Committee — monthly · KPI + risk + spend · CEO/CFO/COO/CRO chair</a:t>
            </a:r>
          </a:p>
          <a:p>
            <a:pPr/>
            <a:r>
              <a:rPr sz="1800" b="0">
                <a:solidFill>
                  <a:srgbClr val="FFFFFF"/>
                </a:solidFill>
              </a:rPr>
              <a:t>• Responsible AI Council — bi-weekly · release gates · CAIO/RAI Evaluator chair</a:t>
            </a:r>
          </a:p>
          <a:p>
            <a:pPr/>
            <a:r>
              <a:rPr sz="1800" b="0">
                <a:solidFill>
                  <a:srgbClr val="FFFFFF"/>
                </a:solidFill>
              </a:rPr>
              <a:t>• Architecture Review Board — bi-weekly · technical decisions · CTO chair</a:t>
            </a:r>
          </a:p>
          <a:p>
            <a:pPr/>
            <a:r>
              <a:rPr sz="1800" b="0">
                <a:solidFill>
                  <a:srgbClr val="FFFFFF"/>
                </a:solidFill>
              </a:rPr>
              <a:t>• Teacher Council — per release · pedagogical sign-off · Learning Sciences chair</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SPECIALIST AGENTS</a:t>
            </a:r>
          </a:p>
          <a:p>
            <a:pPr/>
            <a:r>
              <a:rPr sz="1800" b="0">
                <a:solidFill>
                  <a:srgbClr val="FFFFFF"/>
                </a:solidFill>
              </a:rPr>
              <a:t>• 9 named accountable roles: Orchestrator, AI Act CO, GDPR specialist,</a:t>
            </a:r>
          </a:p>
          <a:p>
            <a:pPr/>
            <a:r>
              <a:rPr sz="1800" b="0">
                <a:solidFill>
                  <a:srgbClr val="FFFFFF"/>
                </a:solidFill>
              </a:rPr>
              <a:t>• Each feature is delivered by a *named* agent, not a generic team</a:t>
            </a:r>
          </a:p>
          <a:p>
            <a:pPr/>
            <a:r>
              <a:rPr sz="1800" b="0">
                <a:solidFill>
                  <a:srgbClr val="FFFFFF"/>
                </a:solidFill>
              </a:rPr>
              <a:t>• Cross-Agent QA audits every deliverable before phase gate</a:t>
            </a:r>
          </a:p>
          <a:p>
            <a:pPr/>
            <a:r>
              <a:rPr sz="1800" b="0">
                <a:solidFill>
                  <a:srgbClr val="FFFFFF"/>
                </a:solidFill>
              </a:rPr>
              <a:t>• Decisions logged in specs/&lt;NNN-feature&gt;/ (spec-driven, traceable)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5 phases, 12 months, every gate is a hard stop</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First market live month 8 · CE-marked month 10 · 3 markets by month 12</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PHASES</a:t>
            </a:r>
          </a:p>
          <a:p>
            <a:pPr/>
            <a:r>
              <a:rPr sz="1800" b="0">
                <a:solidFill>
                  <a:srgbClr val="FFFFFF"/>
                </a:solidFill>
              </a:rPr>
              <a:t>• P0 · M0–M2 · Foundations: DPIA + AI Act file + landing zone</a:t>
            </a:r>
          </a:p>
          <a:p>
            <a:pPr/>
            <a:r>
              <a:rPr sz="1800" b="0">
                <a:solidFill>
                  <a:srgbClr val="FFFFFF"/>
                </a:solidFill>
              </a:rPr>
              <a:t>• P1 · M2–M5 · MVP: 3 AI features behind flags, NL only</a:t>
            </a:r>
          </a:p>
          <a:p>
            <a:pPr/>
            <a:r>
              <a:rPr sz="1800" b="0">
                <a:solidFill>
                  <a:srgbClr val="FFFFFF"/>
                </a:solidFill>
              </a:rPr>
              <a:t>• P2 · M5–M8 · NL pilot: 20 schools, KPI trends confirmed</a:t>
            </a:r>
          </a:p>
          <a:p>
            <a:pPr/>
            <a:r>
              <a:rPr sz="1800" b="0">
                <a:solidFill>
                  <a:srgbClr val="FFFFFF"/>
                </a:solidFill>
              </a:rPr>
              <a:t>• P3 · M8–M10 · CE marking + DE launch (≥ 50 schools)</a:t>
            </a:r>
          </a:p>
          <a:p>
            <a:pPr/>
            <a:r>
              <a:rPr sz="1800" b="0">
                <a:solidFill>
                  <a:srgbClr val="FFFFFF"/>
                </a:solidFill>
              </a:rPr>
              <a:t>• P4 · M10–M12 · Scale-out: 3rd market, multi-region drill</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GATE CONDITIONS</a:t>
            </a:r>
          </a:p>
          <a:p>
            <a:pPr/>
            <a:r>
              <a:rPr sz="1800" b="0">
                <a:solidFill>
                  <a:srgbClr val="FFFFFF"/>
                </a:solidFill>
              </a:rPr>
              <a:t>• P0 → P1: DPIA approved 5/5 DPAs · AI Act Annex IV skeleton complete</a:t>
            </a:r>
          </a:p>
          <a:p>
            <a:pPr/>
            <a:r>
              <a:rPr sz="1800" b="0">
                <a:solidFill>
                  <a:srgbClr val="FFFFFF"/>
                </a:solidFill>
              </a:rPr>
              <a:t>• P1 → P2: RAI gate v1 passed · alpha 50 testers · 0 critical incidents</a:t>
            </a:r>
          </a:p>
          <a:p>
            <a:pPr/>
            <a:r>
              <a:rPr sz="1800" b="0">
                <a:solidFill>
                  <a:srgbClr val="FFFFFF"/>
                </a:solidFill>
              </a:rPr>
              <a:t>• P2 → P3: outcome gap trending ≥ −10pp · 0 reportable incidents</a:t>
            </a:r>
          </a:p>
          <a:p>
            <a:pPr/>
            <a:r>
              <a:rPr sz="1800" b="0">
                <a:solidFill>
                  <a:srgbClr val="FFFFFF"/>
                </a:solidFill>
              </a:rPr>
              <a:t>• P3 → P4: CE marking in hand · DE KPIs ≥ NL trajectory</a:t>
            </a:r>
          </a:p>
          <a:p>
            <a:pPr/>
            <a:r>
              <a:rPr sz="1800" b="0">
                <a:solidFill>
                  <a:srgbClr val="FFFFFF"/>
                </a:solidFill>
              </a:rPr>
              <a:t>• P4 → P5: 3 markets live · all 5 KPIs on plan · cost/learner in budget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7 minutes · 3 personas · 1 live backend</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Teacher → Learner → Parent · rg-learneu-demo · West Europe</a:t>
            </a:r>
          </a:p>
        </p:txBody>
      </p:sp>
      <p:sp>
        <p:nvSpPr>
          <p:cNvPr id="4" name="Rounded Rectangle 3"/>
          <p:cNvSpPr/>
          <p:nvPr/>
        </p:nvSpPr>
        <p:spPr>
          <a:xfrm>
            <a:off x="600000" y="1400000"/>
            <a:ext cx="10992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0">
                <a:solidFill>
                  <a:srgbClr val="FFFFFF"/>
                </a:solidFill>
              </a:rPr>
              <a:t>• 00:00 · Pre-flight: 3 green pills, browser zoom 110 %</a:t>
            </a:r>
          </a:p>
          <a:p>
            <a:pPr/>
            <a:r>
              <a:rPr sz="1600" b="0">
                <a:solidFill>
                  <a:srgbClr val="FFFFFF"/>
                </a:solidFill>
              </a:rPr>
              <a:t>• 00:30 · Teacher Console — Lucas (DE Year-7) remediation plan, explainable</a:t>
            </a:r>
          </a:p>
          <a:p>
            <a:pPr/>
            <a:r>
              <a:rPr sz="1600" b="0">
                <a:solidFill>
                  <a:srgbClr val="FFFFFF"/>
                </a:solidFill>
              </a:rPr>
              <a:t>• 02:30 · Learner Web — adaptive ONNX picker (P-correct target ≈ 0.7)</a:t>
            </a:r>
          </a:p>
          <a:p>
            <a:pPr/>
            <a:r>
              <a:rPr sz="1600" b="0">
                <a:solidFill>
                  <a:srgbClr val="FFFFFF"/>
                </a:solidFill>
              </a:rPr>
              <a:t>• 04:30 · Parent Portal — GDPR Art. 8 question, native-language reply</a:t>
            </a:r>
          </a:p>
          <a:p>
            <a:pPr/>
            <a:r>
              <a:rPr sz="1600" b="0">
                <a:solidFill>
                  <a:srgbClr val="FFFFFF"/>
                </a:solidFill>
              </a:rPr>
              <a:t>• 06:00 · Admin Console — Activity + Safety panels, live audit trail</a:t>
            </a:r>
          </a:p>
          <a:p>
            <a:pPr/>
            <a:r>
              <a:rPr sz="1600" b="0">
                <a:solidFill>
                  <a:srgbClr val="FFFFFF"/>
                </a:solidFill>
              </a:rPr>
              <a:t>• 07:00 · Back to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€18–22M build, ~€6M/yr run — predictable, optimised, sustainable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Provisioned throughput where it matters, PAYG where it doesn't</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INVESTMENT SHAPE</a:t>
            </a:r>
          </a:p>
          <a:p>
            <a:pPr/>
            <a:r>
              <a:rPr sz="1800" b="0">
                <a:solidFill>
                  <a:srgbClr val="FFFFFF"/>
                </a:solidFill>
              </a:rPr>
              <a:t>• Build (12 months): €18–22M total — split 45% platform, 30% AI, 25% compliance/UX</a:t>
            </a:r>
          </a:p>
          <a:p>
            <a:pPr/>
            <a:r>
              <a:rPr sz="1800" b="0">
                <a:solidFill>
                  <a:srgbClr val="FFFFFF"/>
                </a:solidFill>
              </a:rPr>
              <a:t>• Run (steady-state): ~€6M/yr — Azure ~55%, people ~35%, sub-processors ~10%</a:t>
            </a:r>
          </a:p>
          <a:p>
            <a:pPr/>
            <a:r>
              <a:rPr sz="1800" b="0">
                <a:solidFill>
                  <a:srgbClr val="FFFFFF"/>
                </a:solidFill>
              </a:rPr>
              <a:t>• ~€2M contingency held against R8 (OpenAI cost runaway)</a:t>
            </a:r>
          </a:p>
          <a:p>
            <a:pPr/>
            <a:r>
              <a:rPr sz="1800" b="0">
                <a:solidFill>
                  <a:srgbClr val="FFFFFF"/>
                </a:solidFill>
              </a:rPr>
              <a:t>• Compliance cost = same whether done now or later — sunk</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FINOPS LEVERS</a:t>
            </a:r>
          </a:p>
          <a:p>
            <a:pPr/>
            <a:r>
              <a:rPr sz="1800" b="0">
                <a:solidFill>
                  <a:srgbClr val="FFFFFF"/>
                </a:solidFill>
              </a:rPr>
              <a:t>• Provisioned Throughput Units (PTU) on OpenAI for predictable localisation load</a:t>
            </a:r>
          </a:p>
          <a:p>
            <a:pPr/>
            <a:r>
              <a:rPr sz="1800" b="0">
                <a:solidFill>
                  <a:srgbClr val="FFFFFF"/>
                </a:solidFill>
              </a:rPr>
              <a:t>• Caching of repeated localisations — ≈ 30% cost avoidance modelled</a:t>
            </a:r>
          </a:p>
          <a:p>
            <a:pPr/>
            <a:r>
              <a:rPr sz="1800" b="0">
                <a:solidFill>
                  <a:srgbClr val="FFFFFF"/>
                </a:solidFill>
              </a:rPr>
              <a:t>• Fine-tuned smaller models for routine grading — vs frontier for edge cases</a:t>
            </a:r>
          </a:p>
          <a:p>
            <a:pPr/>
            <a:r>
              <a:rPr sz="1800" b="0">
                <a:solidFill>
                  <a:srgbClr val="FFFFFF"/>
                </a:solidFill>
              </a:rPr>
              <a:t>• Cost / learner / month is a board-reported KPI (with carbon proxy in A16)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Top 6 risks — owned, mitigated, contingent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None of them is a project-killer if managed actively</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TOP RISKS</a:t>
            </a:r>
          </a:p>
          <a:p>
            <a:pPr/>
            <a:r>
              <a:rPr sz="1800" b="0">
                <a:solidFill>
                  <a:srgbClr val="FFFFFF"/>
                </a:solidFill>
              </a:rPr>
              <a:t>• R1 · National DPA blocks DPIA (sev 15) — owner DPO</a:t>
            </a:r>
          </a:p>
          <a:p>
            <a:pPr/>
            <a:r>
              <a:rPr sz="1800" b="0">
                <a:solidFill>
                  <a:srgbClr val="FFFFFF"/>
                </a:solidFill>
              </a:rPr>
              <a:t>• R3 · Federated learning doesn't converge (sev 12) — owner ML Lead</a:t>
            </a:r>
          </a:p>
          <a:p>
            <a:pPr/>
            <a:r>
              <a:rPr sz="1800" b="0">
                <a:solidFill>
                  <a:srgbClr val="FFFFFF"/>
                </a:solidFill>
              </a:rPr>
              <a:t>• R4 · Localisation quality drift (sev 16) — owner Editorial Director</a:t>
            </a:r>
          </a:p>
          <a:p>
            <a:pPr/>
            <a:r>
              <a:rPr sz="1800" b="0">
                <a:solidFill>
                  <a:srgbClr val="FFFFFF"/>
                </a:solidFill>
              </a:rPr>
              <a:t>• R6 · Bias disparity &gt; 5pp on launched cohort (sev 15) — owner RAI</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MITIGATIONS &amp; CONTINGENCIES</a:t>
            </a:r>
          </a:p>
          <a:p>
            <a:pPr/>
            <a:r>
              <a:rPr sz="1600" b="0">
                <a:solidFill>
                  <a:srgbClr val="FFFFFF"/>
                </a:solidFill>
              </a:rPr>
              <a:t>• R1 → engage DPAs from M0 · contingency: delay that market only</a:t>
            </a:r>
          </a:p>
          <a:p>
            <a:pPr/>
            <a:r>
              <a:rPr sz="1600" b="0">
                <a:solidFill>
                  <a:srgbClr val="FFFFFF"/>
                </a:solidFill>
              </a:rPr>
              <a:t>• R3 → DP central-training fallback on opt-in cohort</a:t>
            </a:r>
          </a:p>
          <a:p>
            <a:pPr/>
            <a:r>
              <a:rPr sz="1600" b="0">
                <a:solidFill>
                  <a:srgbClr val="FFFFFF"/>
                </a:solidFill>
              </a:rPr>
              <a:t>• R4 → reviewer never optional · staff up if first-pass &lt; 80%</a:t>
            </a:r>
          </a:p>
          <a:p>
            <a:pPr/>
            <a:r>
              <a:rPr sz="1600" b="0">
                <a:solidFill>
                  <a:srgbClr val="FFFFFF"/>
                </a:solidFill>
              </a:rPr>
              <a:t>• R6 → per-cohort gates in release · same-day rollback ready</a:t>
            </a:r>
          </a:p>
          <a:p>
            <a:pPr/>
            <a:r>
              <a:rPr sz="1600" b="0">
                <a:solidFill>
                  <a:srgbClr val="FFFFFF"/>
                </a:solidFill>
              </a:rPr>
              <a:t>• R8 · OpenAI cost runaway → PTU + caching · contingency € reserved</a:t>
            </a:r>
          </a:p>
          <a:p>
            <a:pPr/>
            <a:r>
              <a:rPr sz="1600" b="0">
                <a:solidFill>
                  <a:srgbClr val="FFFFFF"/>
                </a:solidFill>
              </a:rPr>
              <a:t>• R10 · Art. 73 serious incident → kill switch + drilled IR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What the board will see every month</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5 KPIs · 6 risks · 1 compliance posture · 1 cost / learner</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OUTCOMES &amp; ADOPTION</a:t>
            </a:r>
          </a:p>
          <a:p>
            <a:pPr/>
            <a:r>
              <a:rPr sz="1800" b="0">
                <a:solidFill>
                  <a:srgbClr val="FFFFFF"/>
                </a:solidFill>
              </a:rPr>
              <a:t>• K1 outcome gap trajectory (per cohort, per market)</a:t>
            </a:r>
          </a:p>
          <a:p>
            <a:pPr/>
            <a:r>
              <a:rPr sz="1800" b="0">
                <a:solidFill>
                  <a:srgbClr val="FFFFFF"/>
                </a:solidFill>
              </a:rPr>
              <a:t>• K2 teacher minutes saved (telemetry + quarterly NPS)</a:t>
            </a:r>
          </a:p>
          <a:p>
            <a:pPr/>
            <a:r>
              <a:rPr sz="1800" b="0">
                <a:solidFill>
                  <a:srgbClr val="FFFFFF"/>
                </a:solidFill>
              </a:rPr>
              <a:t>• K3 localisation throughput (units / week / market)</a:t>
            </a:r>
          </a:p>
          <a:p>
            <a:pPr/>
            <a:r>
              <a:rPr sz="1800" b="0">
                <a:solidFill>
                  <a:srgbClr val="FFFFFF"/>
                </a:solidFill>
              </a:rPr>
              <a:t>• Adoption: schools onboarded · teacher trust NPS · parent active usage</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TRUST, RISK, COST</a:t>
            </a:r>
          </a:p>
          <a:p>
            <a:pPr/>
            <a:r>
              <a:rPr sz="1800" b="0">
                <a:solidFill>
                  <a:srgbClr val="FFFFFF"/>
                </a:solidFill>
              </a:rPr>
              <a:t>• K4 GDPR Art. 8 status (DPIA freshness, erasure SLA)</a:t>
            </a:r>
          </a:p>
          <a:p>
            <a:pPr/>
            <a:r>
              <a:rPr sz="1800" b="0">
                <a:solidFill>
                  <a:srgbClr val="FFFFFF"/>
                </a:solidFill>
              </a:rPr>
              <a:t>• K5 EU AI Act conformity (Annex IV coverage, override rate, incidents)</a:t>
            </a:r>
          </a:p>
          <a:p>
            <a:pPr/>
            <a:r>
              <a:rPr sz="1800" b="0">
                <a:solidFill>
                  <a:srgbClr val="FFFFFF"/>
                </a:solidFill>
              </a:rPr>
              <a:t>• Top 6 risks heat-map with owner + RAG status</a:t>
            </a:r>
          </a:p>
          <a:p>
            <a:pPr/>
            <a:r>
              <a:rPr sz="1800" b="0">
                <a:solidFill>
                  <a:srgbClr val="FFFFFF"/>
                </a:solidFill>
              </a:rPr>
              <a:t>• Cost / learner / month + carbon proxy (A16)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00" y="900000"/>
            <a:ext cx="10912000" cy="900000"/>
          </a:xfrm>
          <a:prstGeom prst="rect">
            <a:avLst/>
          </a:prstGeom>
          <a:noFill/>
        </p:spPr>
        <p:txBody>
          <a:bodyPr wrap="square">
            <a:spAutoFit/>
          </a:bodyPr>
          <a:lstStyle/>
          <a:p>
            <a:r>
              <a:rPr sz="4000" b="1">
                <a:solidFill>
                  <a:srgbClr val="FFFFFF"/>
                </a:solidFill>
              </a:rPr>
              <a:t>Three decisions, today</a:t>
            </a:r>
          </a:p>
        </p:txBody>
      </p:sp>
      <p:sp>
        <p:nvSpPr>
          <p:cNvPr id="3" name="TextBox 2"/>
          <p:cNvSpPr txBox="1"/>
          <p:nvPr/>
        </p:nvSpPr>
        <p:spPr>
          <a:xfrm>
            <a:off x="640000" y="1900000"/>
            <a:ext cx="10912000" cy="500000"/>
          </a:xfrm>
          <a:prstGeom prst="rect">
            <a:avLst/>
          </a:prstGeom>
          <a:noFill/>
        </p:spPr>
        <p:txBody>
          <a:bodyPr wrap="none">
            <a:spAutoFit/>
          </a:bodyPr>
          <a:lstStyle/>
          <a:p>
            <a:r>
              <a:rPr sz="2000" i="1">
                <a:solidFill>
                  <a:srgbClr val="C8D4E6"/>
                </a:solidFill>
              </a:rPr>
              <a:t>DPIA mandate · P0 budget · RAI Council chair</a:t>
            </a:r>
          </a:p>
        </p:txBody>
      </p:sp>
      <p:sp>
        <p:nvSpPr>
          <p:cNvPr id="4" name="Rounded Rectangle 3"/>
          <p:cNvSpPr/>
          <p:nvPr/>
        </p:nvSpPr>
        <p:spPr>
          <a:xfrm>
            <a:off x="900000" y="2600000"/>
            <a:ext cx="10392000" cy="355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WHAT WE ASK OF THE BOARD</a:t>
            </a:r>
          </a:p>
          <a:p>
            <a:pPr/>
            <a:r>
              <a:rPr sz="1800" b="0">
                <a:solidFill>
                  <a:srgbClr val="FFFFFF"/>
                </a:solidFill>
              </a:rPr>
              <a:t>• 1 · Approve the DPIA mandate across NL/BE/DE/PL/RO — enables Phase 0</a:t>
            </a:r>
          </a:p>
          <a:p>
            <a:pPr/>
            <a:r>
              <a:rPr sz="1800" b="0">
                <a:solidFill>
                  <a:srgbClr val="FFFFFF"/>
                </a:solidFill>
              </a:rPr>
              <a:t>• 2 · Release €3.5M for Phase 0 (M0–M2) — landing zone + DPIAs + Annex IV skeleton</a:t>
            </a:r>
          </a:p>
          <a:p>
            <a:pPr/>
            <a:r>
              <a:rPr sz="1800" b="0">
                <a:solidFill>
                  <a:srgbClr val="FFFFFF"/>
                </a:solidFill>
              </a:rPr>
              <a:t>• 3 · Name the Responsible AI Council chair — by next steering committee</a:t>
            </a:r>
          </a:p>
          <a:p>
            <a:pPr/>
            <a:r>
              <a:rPr sz="1800" b="0">
                <a:solidFill>
                  <a:srgbClr val="FFFFFF"/>
                </a:solidFill>
              </a:rPr>
              <a:t>• 4 · Endorse the outcome contract as KPI-bound (board scorecard, monthly)</a:t>
            </a:r>
          </a:p>
          <a:p>
            <a:pPr/>
            <a:r>
              <a:rPr sz="1800" b="0">
                <a:solidFill>
                  <a:srgbClr val="FFFFFF"/>
                </a:solidFill>
              </a:rPr>
              <a:t>• 5 · Confirm NL → DE sequencing; defer markets 3–5 to month 10 gate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 · Target architecture, layered view</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Sources → Ingestion → Storage → Processing → Serving → Governance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DATA PLANE</a:t>
            </a:r>
          </a:p>
          <a:p>
            <a:pPr/>
            <a:r>
              <a:rPr sz="1800" b="0">
                <a:solidFill>
                  <a:srgbClr val="FFFFFF"/>
                </a:solidFill>
              </a:rPr>
              <a:t>• Sources: SIS (pseudonymised), teacher content, national curricula, devices</a:t>
            </a:r>
          </a:p>
          <a:p>
            <a:pPr/>
            <a:r>
              <a:rPr sz="1800" b="0">
                <a:solidFill>
                  <a:srgbClr val="FFFFFF"/>
                </a:solidFill>
              </a:rPr>
              <a:t>• Ingestion: APIM (front door) + Event Hubs + ADF (batch)</a:t>
            </a:r>
          </a:p>
          <a:p>
            <a:pPr/>
            <a:r>
              <a:rPr sz="1800" b="0">
                <a:solidFill>
                  <a:srgbClr val="FFFFFF"/>
                </a:solidFill>
              </a:rPr>
              <a:t>• Storage: Fabric OneLake (Bronze/Silver/Gold) + Feature Store + immutable audit</a:t>
            </a:r>
          </a:p>
          <a:p>
            <a:pPr/>
            <a:r>
              <a:rPr sz="1800" b="0">
                <a:solidFill>
                  <a:srgbClr val="FFFFFF"/>
                </a:solidFill>
              </a:rPr>
              <a:t>• Keys: Azure Key Vault Managed HSM (CMK on all stores)</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AI + SERVING</a:t>
            </a:r>
          </a:p>
          <a:p>
            <a:pPr/>
            <a:r>
              <a:rPr sz="1800" b="0">
                <a:solidFill>
                  <a:srgbClr val="FFFFFF"/>
                </a:solidFill>
              </a:rPr>
              <a:t>• Training: Azure ML (federated runtime + DP) + Confidential Computing</a:t>
            </a:r>
          </a:p>
          <a:p>
            <a:pPr/>
            <a:r>
              <a:rPr sz="1800" b="0">
                <a:solidFill>
                  <a:srgbClr val="FFFFFF"/>
                </a:solidFill>
              </a:rPr>
              <a:t>• Generation: Azure OpenAI + AI Search (RAG) + Content Safety gate</a:t>
            </a:r>
          </a:p>
          <a:p>
            <a:pPr/>
            <a:r>
              <a:rPr sz="1800" b="0">
                <a:solidFill>
                  <a:srgbClr val="FFFFFF"/>
                </a:solidFill>
              </a:rPr>
              <a:t>• Serving: ONNX on-device (default) + AML Online Endpoints (fallback)</a:t>
            </a:r>
          </a:p>
          <a:p>
            <a:pPr/>
            <a:r>
              <a:rPr sz="1800" b="0">
                <a:solidFill>
                  <a:srgbClr val="FFFFFF"/>
                </a:solidFill>
              </a:rPr>
              <a:t>• Surfaces: Teacher Console · Learner Web · Parent Portal · Power BI in Fabric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A2 · Eight Azure services, EU-only, with role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Exact match to the case-study service list</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IDENTITY, DATA, SECURITY</a:t>
            </a:r>
          </a:p>
          <a:p>
            <a:pPr/>
            <a:r>
              <a:rPr sz="1800" b="0">
                <a:solidFill>
                  <a:srgbClr val="FFFFFF"/>
                </a:solidFill>
              </a:rPr>
              <a:t>• Azure AD B2C — parent/learner identity, per-country tenants</a:t>
            </a:r>
          </a:p>
          <a:p>
            <a:pPr/>
            <a:r>
              <a:rPr sz="1800" b="0">
                <a:solidFill>
                  <a:srgbClr val="FFFFFF"/>
                </a:solidFill>
              </a:rPr>
              <a:t>• Microsoft Fabric — OneLake + Notebooks + embedded Power BI</a:t>
            </a:r>
          </a:p>
          <a:p>
            <a:pPr/>
            <a:r>
              <a:rPr sz="1800" b="0">
                <a:solidFill>
                  <a:srgbClr val="FFFFFF"/>
                </a:solidFill>
              </a:rPr>
              <a:t>• Microsoft Purview — catalog, sensitivity labels, lineage, DLP</a:t>
            </a:r>
          </a:p>
          <a:p>
            <a:pPr/>
            <a:r>
              <a:rPr sz="1800" b="0">
                <a:solidFill>
                  <a:srgbClr val="FFFFFF"/>
                </a:solidFill>
              </a:rPr>
              <a:t>• Azure API Management — single entry, OAuth 2.0, rate-limit, OWASP</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AI + OBSERVABILITY</a:t>
            </a:r>
          </a:p>
          <a:p>
            <a:pPr/>
            <a:r>
              <a:rPr sz="1800" b="0">
                <a:solidFill>
                  <a:srgbClr val="FFFFFF"/>
                </a:solidFill>
              </a:rPr>
              <a:t>• Azure Machine Learning — adaptive + assessment models, registry, monitoring</a:t>
            </a:r>
          </a:p>
          <a:p>
            <a:pPr/>
            <a:r>
              <a:rPr sz="1800" b="0">
                <a:solidFill>
                  <a:srgbClr val="FFFFFF"/>
                </a:solidFill>
              </a:rPr>
              <a:t>• Azure OpenAI — localisation + formative feedback (EU Data Boundary)</a:t>
            </a:r>
          </a:p>
          <a:p>
            <a:pPr/>
            <a:r>
              <a:rPr sz="1800" b="0">
                <a:solidFill>
                  <a:srgbClr val="FFFFFF"/>
                </a:solidFill>
              </a:rPr>
              <a:t>• Azure AI Content Safety — gate on every generative output</a:t>
            </a:r>
          </a:p>
          <a:p>
            <a:pPr/>
            <a:r>
              <a:rPr sz="1800" b="0">
                <a:solidFill>
                  <a:srgbClr val="FFFFFF"/>
                </a:solidFill>
              </a:rPr>
              <a:t>• Power BI — teacher/school/ministry dashboards (embedded in Fabric)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A3 · Three data flows, three privacy regimes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Personalisation · grading · localisation</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PERSONALISATION LOOP</a:t>
            </a:r>
          </a:p>
          <a:p>
            <a:pPr/>
            <a:r>
              <a:rPr sz="1800" b="0">
                <a:solidFill>
                  <a:srgbClr val="FFFFFF"/>
                </a:solidFill>
              </a:rPr>
              <a:t>• Default = on-device inference (ONNX); no learner-level data sent</a:t>
            </a:r>
          </a:p>
          <a:p>
            <a:pPr/>
            <a:r>
              <a:rPr sz="1800" b="0">
                <a:solidFill>
                  <a:srgbClr val="FFFFFF"/>
                </a:solidFill>
              </a:rPr>
              <a:t>• Periodic federated round: device → DP-protected gradients → secure aggregation</a:t>
            </a:r>
          </a:p>
          <a:p>
            <a:pPr/>
            <a:r>
              <a:rPr sz="1800" b="0">
                <a:solidFill>
                  <a:srgbClr val="FFFFFF"/>
                </a:solidFill>
              </a:rPr>
              <a:t>• Updated model published to registry → re-deployed to devices</a:t>
            </a:r>
          </a:p>
          <a:p>
            <a:pPr/>
            <a:r>
              <a:rPr sz="1800" b="0">
                <a:solidFill>
                  <a:srgbClr val="FFFFFF"/>
                </a:solidFill>
              </a:rPr>
              <a:t>• Centralised training never sees raw learner data</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GRADING &amp; LOCALISATION</a:t>
            </a:r>
          </a:p>
          <a:p>
            <a:pPr/>
            <a:r>
              <a:rPr sz="1800" b="0">
                <a:solidFill>
                  <a:srgbClr val="FFFFFF"/>
                </a:solidFill>
              </a:rPr>
              <a:t>• Grading: submission → APIM → AML endpoint (no payload retention) → teacher review</a:t>
            </a:r>
          </a:p>
          <a:p>
            <a:pPr/>
            <a:r>
              <a:rPr sz="1800" b="0">
                <a:solidFill>
                  <a:srgbClr val="FFFFFF"/>
                </a:solidFill>
              </a:rPr>
              <a:t>• Localisation: source content → AI Search retrieval → Azure OpenAI → reviewer</a:t>
            </a:r>
          </a:p>
          <a:p>
            <a:pPr/>
            <a:r>
              <a:rPr sz="1800" b="0">
                <a:solidFill>
                  <a:srgbClr val="FFFFFF"/>
                </a:solidFill>
              </a:rPr>
              <a:t>• All generative outputs pass Content Safety before reaching surface</a:t>
            </a:r>
          </a:p>
          <a:p>
            <a:pPr/>
            <a:r>
              <a:rPr sz="1800" b="0">
                <a:solidFill>
                  <a:srgbClr val="FFFFFF"/>
                </a:solidFill>
              </a:rPr>
              <a:t>• Audit log written for every AI decision (AI Act Art. 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A4 · GDPR Article 8 — strictest interpretation, by default</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Consent age 16 · DPIA per market · erasure 30 days</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LAWFUL BASIS &amp; CONSENT</a:t>
            </a:r>
          </a:p>
          <a:p>
            <a:pPr/>
            <a:r>
              <a:rPr sz="1800" b="0">
                <a:solidFill>
                  <a:srgbClr val="FFFFFF"/>
                </a:solidFill>
              </a:rPr>
              <a:t>• Default consent age: 16 (NL standard, strictest of 5 markets)</a:t>
            </a:r>
          </a:p>
          <a:p>
            <a:pPr/>
            <a:r>
              <a:rPr sz="1800" b="0">
                <a:solidFill>
                  <a:srgbClr val="FFFFFF"/>
                </a:solidFill>
              </a:rPr>
              <a:t>• Guardian consent flow for under-16 via verifiable parent identity</a:t>
            </a:r>
          </a:p>
          <a:p>
            <a:pPr/>
            <a:r>
              <a:rPr sz="1800" b="0">
                <a:solidFill>
                  <a:srgbClr val="FFFFFF"/>
                </a:solidFill>
              </a:rPr>
              <a:t>• Lawful basis matrix: contract (school) + consent (personalisation) + legitimate interest (security)</a:t>
            </a:r>
          </a:p>
          <a:p>
            <a:pPr/>
            <a:r>
              <a:rPr sz="1800" b="0">
                <a:solidFill>
                  <a:srgbClr val="FFFFFF"/>
                </a:solidFill>
              </a:rPr>
              <a:t>• Records of Processing (Art. 30) maintained per market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RIGHTS &amp; EVIDENCE</a:t>
            </a:r>
          </a:p>
          <a:p>
            <a:pPr/>
            <a:r>
              <a:rPr sz="1800" b="0">
                <a:solidFill>
                  <a:srgbClr val="FFFFFF"/>
                </a:solidFill>
              </a:rPr>
              <a:t>• Subject Access Request — automated, 30-day SLA</a:t>
            </a:r>
          </a:p>
          <a:p>
            <a:pPr/>
            <a:r>
              <a:rPr sz="1800" b="0">
                <a:solidFill>
                  <a:srgbClr val="FFFFFF"/>
                </a:solidFill>
              </a:rPr>
              <a:t>• Right to erasure cascades through Purview lineage — vérifiable</a:t>
            </a:r>
          </a:p>
          <a:p>
            <a:pPr/>
            <a:r>
              <a:rPr sz="1800" b="0">
                <a:solidFill>
                  <a:srgbClr val="FFFFFF"/>
                </a:solidFill>
              </a:rPr>
              <a:t>• DPIA per market, refreshed annually or on material change</a:t>
            </a:r>
          </a:p>
          <a:p>
            <a:pPr/>
            <a:r>
              <a:rPr sz="1800" b="0">
                <a:solidFill>
                  <a:srgbClr val="FFFFFF"/>
                </a:solidFill>
              </a:rPr>
              <a:t>• Annual GDPR Art. 30 review at Steering Committee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A5 · High-risk obligations, mapped article-by-article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Annex III §3 · Art. 9, 10, 11, 12, 13, 14, 15, 43, 72, 73</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BUILD OBLIGATIONS</a:t>
            </a:r>
          </a:p>
          <a:p>
            <a:pPr/>
            <a:r>
              <a:rPr sz="1800" b="0">
                <a:solidFill>
                  <a:srgbClr val="FFFFFF"/>
                </a:solidFill>
              </a:rPr>
              <a:t>• Art. 9 · risk-management system per feature</a:t>
            </a:r>
          </a:p>
          <a:p>
            <a:pPr/>
            <a:r>
              <a:rPr sz="1800" b="0">
                <a:solidFill>
                  <a:srgbClr val="FFFFFF"/>
                </a:solidFill>
              </a:rPr>
              <a:t>• Art. 10 · data &amp; data governance (quality, bias, representativeness)</a:t>
            </a:r>
          </a:p>
          <a:p>
            <a:pPr/>
            <a:r>
              <a:rPr sz="1800" b="0">
                <a:solidFill>
                  <a:srgbClr val="FFFFFF"/>
                </a:solidFill>
              </a:rPr>
              <a:t>• Art. 11 · technical documentation (Annex IV file)</a:t>
            </a:r>
          </a:p>
          <a:p>
            <a:pPr/>
            <a:r>
              <a:rPr sz="1800" b="0">
                <a:solidFill>
                  <a:srgbClr val="FFFFFF"/>
                </a:solidFill>
              </a:rPr>
              <a:t>• Art. 12 · logging — immutable, 6-month minimum retention</a:t>
            </a:r>
          </a:p>
          <a:p>
            <a:pPr/>
            <a:r>
              <a:rPr sz="1800" b="0">
                <a:solidFill>
                  <a:srgbClr val="FFFFFF"/>
                </a:solidFill>
              </a:rPr>
              <a:t>• Art. 13 · transparency for users (teacher + parent)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OPERATE OBLIGATIONS</a:t>
            </a:r>
          </a:p>
          <a:p>
            <a:pPr/>
            <a:r>
              <a:rPr sz="1800" b="0">
                <a:solidFill>
                  <a:srgbClr val="FFFFFF"/>
                </a:solidFill>
              </a:rPr>
              <a:t>• Art. 14 · human oversight (teacher-in-the-loop, kill switch)</a:t>
            </a:r>
          </a:p>
          <a:p>
            <a:pPr/>
            <a:r>
              <a:rPr sz="1800" b="0">
                <a:solidFill>
                  <a:srgbClr val="FFFFFF"/>
                </a:solidFill>
              </a:rPr>
              <a:t>• Art. 15 · accuracy, robustness, cybersecurity</a:t>
            </a:r>
          </a:p>
          <a:p>
            <a:pPr/>
            <a:r>
              <a:rPr sz="1800" b="0">
                <a:solidFill>
                  <a:srgbClr val="FFFFFF"/>
                </a:solidFill>
              </a:rPr>
              <a:t>• Art. 43 · conformity assessment + CE marking (target M10)</a:t>
            </a:r>
          </a:p>
          <a:p>
            <a:pPr/>
            <a:r>
              <a:rPr sz="1800" b="0">
                <a:solidFill>
                  <a:srgbClr val="FFFFFF"/>
                </a:solidFill>
              </a:rPr>
              <a:t>• Art. 72 · post-market monitoring (live from first pilot)</a:t>
            </a:r>
          </a:p>
          <a:p>
            <a:pPr/>
            <a:r>
              <a:rPr sz="1800" b="0">
                <a:solidFill>
                  <a:srgbClr val="FFFFFF"/>
                </a:solidFill>
              </a:rPr>
              <a:t>• Art. 73 · serious-incident reporting (drilled IR, statutory window)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A6 · On-device · Federated · Differential Privacy · Confidential Compute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Production-grade, EU-resident, defensible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TECHNIQUES</a:t>
            </a:r>
          </a:p>
          <a:p>
            <a:pPr/>
            <a:r>
              <a:rPr sz="1800" b="0">
                <a:solidFill>
                  <a:srgbClr val="FFFFFF"/>
                </a:solidFill>
              </a:rPr>
              <a:t>• Default: on-device inference (ONNX Runtime Web / mobile)</a:t>
            </a:r>
          </a:p>
          <a:p>
            <a:pPr/>
            <a:r>
              <a:rPr sz="1800" b="0">
                <a:solidFill>
                  <a:srgbClr val="FFFFFF"/>
                </a:solidFill>
              </a:rPr>
              <a:t>• Federated training: device computes gradients locally</a:t>
            </a:r>
          </a:p>
          <a:p>
            <a:pPr/>
            <a:r>
              <a:rPr sz="1800" b="0">
                <a:solidFill>
                  <a:srgbClr val="FFFFFF"/>
                </a:solidFill>
              </a:rPr>
              <a:t>• Differential Privacy: noise added before transmission (ε budget tracked)</a:t>
            </a:r>
          </a:p>
          <a:p>
            <a:pPr/>
            <a:r>
              <a:rPr sz="1800" b="0">
                <a:solidFill>
                  <a:srgbClr val="FFFFFF"/>
                </a:solidFill>
              </a:rPr>
              <a:t>• Secure aggregation in Azure Confidential VMs / AKS</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WHY IT WORKS</a:t>
            </a:r>
          </a:p>
          <a:p>
            <a:pPr/>
            <a:r>
              <a:rPr sz="1800" b="0">
                <a:solidFill>
                  <a:srgbClr val="FFFFFF"/>
                </a:solidFill>
              </a:rPr>
              <a:t>• Raw learner data never leaves device under default flow</a:t>
            </a:r>
          </a:p>
          <a:p>
            <a:pPr/>
            <a:r>
              <a:rPr sz="1800" b="0">
                <a:solidFill>
                  <a:srgbClr val="FFFFFF"/>
                </a:solidFill>
              </a:rPr>
              <a:t>• Centralised training only on opt-in cohorts with explicit consent</a:t>
            </a:r>
          </a:p>
          <a:p>
            <a:pPr/>
            <a:r>
              <a:rPr sz="1800" b="0">
                <a:solidFill>
                  <a:srgbClr val="FFFFFF"/>
                </a:solidFill>
              </a:rPr>
              <a:t>• Confidential Computing protects against the cloud operator itself</a:t>
            </a:r>
          </a:p>
          <a:p>
            <a:pPr/>
            <a:r>
              <a:rPr sz="1800" b="0">
                <a:solidFill>
                  <a:srgbClr val="FFFFFF"/>
                </a:solidFill>
              </a:rPr>
              <a:t>• Feature store carries no PII; lineage proves it in Purview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A7 · Right-sized model per task, gated release</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Frontier where it matters; small + fine-tuned everywhere else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SELECTION</a:t>
            </a:r>
          </a:p>
          <a:p>
            <a:pPr/>
            <a:r>
              <a:rPr sz="1800" b="0">
                <a:solidFill>
                  <a:srgbClr val="FFFFFF"/>
                </a:solidFill>
              </a:rPr>
              <a:t>• Adaptive learner: custom small model trained on synthetic + federated data</a:t>
            </a:r>
          </a:p>
          <a:p>
            <a:pPr/>
            <a:r>
              <a:rPr sz="1800" b="0">
                <a:solidFill>
                  <a:srgbClr val="FFFFFF"/>
                </a:solidFill>
              </a:rPr>
              <a:t>• Assessment: fine-tuned Phi-class for structured grading</a:t>
            </a:r>
          </a:p>
          <a:p>
            <a:pPr/>
            <a:r>
              <a:rPr sz="1800" b="0">
                <a:solidFill>
                  <a:srgbClr val="FFFFFF"/>
                </a:solidFill>
              </a:rPr>
              <a:t>• Localisation: Azure OpenAI GPT-class with RAG + glossary grounding</a:t>
            </a:r>
          </a:p>
          <a:p>
            <a:pPr/>
            <a:r>
              <a:rPr sz="1800" b="0">
                <a:solidFill>
                  <a:srgbClr val="FFFFFF"/>
                </a:solidFill>
              </a:rPr>
              <a:t>• Routing: small-first, escalate only when confidence &lt; threshold</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EVALUATION GATES</a:t>
            </a:r>
          </a:p>
          <a:p>
            <a:pPr/>
            <a:r>
              <a:rPr sz="1800" b="0">
                <a:solidFill>
                  <a:srgbClr val="FFFFFF"/>
                </a:solidFill>
              </a:rPr>
              <a:t>• Fairness: per-cohort disparity ≤ 5 pp (gating)</a:t>
            </a:r>
          </a:p>
          <a:p>
            <a:pPr/>
            <a:r>
              <a:rPr sz="1800" b="0">
                <a:solidFill>
                  <a:srgbClr val="FFFFFF"/>
                </a:solidFill>
              </a:rPr>
              <a:t>• Calibration: ECE ≤ 0.05</a:t>
            </a:r>
          </a:p>
          <a:p>
            <a:pPr/>
            <a:r>
              <a:rPr sz="1800" b="0">
                <a:solidFill>
                  <a:srgbClr val="FFFFFF"/>
                </a:solidFill>
              </a:rPr>
              <a:t>• Safety: 0 critical Content Safety failures in eval suite</a:t>
            </a:r>
          </a:p>
          <a:p>
            <a:pPr/>
            <a:r>
              <a:rPr sz="1800" b="0">
                <a:solidFill>
                  <a:srgbClr val="FFFFFF"/>
                </a:solidFill>
              </a:rPr>
              <a:t>• Transparency: every decision must produce a teacher-readable explanation</a:t>
            </a:r>
          </a:p>
          <a:p>
            <a:pPr/>
            <a:r>
              <a:rPr sz="1800" b="0">
                <a:solidFill>
                  <a:srgbClr val="FFFFFF"/>
                </a:solidFill>
              </a:rPr>
              <a:t>• Re-evaluated quarterly; rollback playbook same-day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A8 · Nine specialist agents, one orchestrator, traceable decisions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Spec-driven · accountable · audited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ROLES</a:t>
            </a:r>
          </a:p>
          <a:p>
            <a:pPr/>
            <a:r>
              <a:rPr sz="1800" b="0">
                <a:solidFill>
                  <a:srgbClr val="FFFFFF"/>
                </a:solidFill>
              </a:rPr>
              <a:t>• EdTech Program Orchestrator — coordinates, synthesises</a:t>
            </a:r>
          </a:p>
          <a:p>
            <a:pPr/>
            <a:r>
              <a:rPr sz="1800" b="0">
                <a:solidFill>
                  <a:srgbClr val="FFFFFF"/>
                </a:solidFill>
              </a:rPr>
              <a:t>• EU AI Act Compliance Officer · GDPR Children's Data Specialist</a:t>
            </a:r>
          </a:p>
          <a:p>
            <a:pPr/>
            <a:r>
              <a:rPr sz="1800" b="0">
                <a:solidFill>
                  <a:srgbClr val="FFFFFF"/>
                </a:solidFill>
              </a:rPr>
              <a:t>• Privacy-Preserving ML Engineer · Learning Sciences Expert</a:t>
            </a:r>
          </a:p>
          <a:p>
            <a:pPr/>
            <a:r>
              <a:rPr sz="1800" b="0">
                <a:solidFill>
                  <a:srgbClr val="FFFFFF"/>
                </a:solidFill>
              </a:rPr>
              <a:t>• Multilingual Content Localisation Lead · Responsible AI Evaluator</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PATTERN</a:t>
            </a:r>
          </a:p>
          <a:p>
            <a:pPr/>
            <a:r>
              <a:rPr sz="1800" b="0">
                <a:solidFill>
                  <a:srgbClr val="FFFFFF"/>
                </a:solidFill>
              </a:rPr>
              <a:t>• Cross-Agent QA &amp; Verifier audits every other agent's output</a:t>
            </a:r>
          </a:p>
          <a:p>
            <a:pPr/>
            <a:r>
              <a:rPr sz="1800" b="0">
                <a:solidFill>
                  <a:srgbClr val="FFFFFF"/>
                </a:solidFill>
              </a:rPr>
              <a:t>• Demo Deployment Agent owns end-to-end environment provisioning</a:t>
            </a:r>
          </a:p>
          <a:p>
            <a:pPr/>
            <a:r>
              <a:rPr sz="1800" b="0">
                <a:solidFill>
                  <a:srgbClr val="FFFFFF"/>
                </a:solidFill>
              </a:rPr>
              <a:t>• Spec Kit slash commands: constitution → specify → clarify → plan →</a:t>
            </a:r>
          </a:p>
          <a:p>
            <a:pPr/>
            <a:r>
              <a:rPr sz="1800" b="0">
                <a:solidFill>
                  <a:srgbClr val="FFFFFF"/>
                </a:solidFill>
              </a:rPr>
              <a:t>• Every decision lands in specs/&lt;NNN-feature&gt;/ — traceable forever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A9 · App Insights + immutable audit = AI Act Art. 12 ready</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Every AI decision logged, queryable, defensible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TELEMETRY</a:t>
            </a:r>
          </a:p>
          <a:p>
            <a:pPr/>
            <a:r>
              <a:rPr sz="1800" b="0">
                <a:solidFill>
                  <a:srgbClr val="FFFFFF"/>
                </a:solidFill>
              </a:rPr>
              <a:t>• Application Insights per surface (Teacher · Learner · Parent · Admin)</a:t>
            </a:r>
          </a:p>
          <a:p>
            <a:pPr/>
            <a:r>
              <a:rPr sz="1800" b="0">
                <a:solidFill>
                  <a:srgbClr val="FFFFFF"/>
                </a:solidFill>
              </a:rPr>
              <a:t>• Custom events: ai_decision, override, content_safety_block, erasure_request</a:t>
            </a:r>
          </a:p>
          <a:p>
            <a:pPr/>
            <a:r>
              <a:rPr sz="1800" b="0">
                <a:solidFill>
                  <a:srgbClr val="FFFFFF"/>
                </a:solidFill>
              </a:rPr>
              <a:t>• Per-cohort fairness metrics aggregated continuously</a:t>
            </a:r>
          </a:p>
          <a:p>
            <a:pPr/>
            <a:r>
              <a:rPr sz="1800" b="0">
                <a:solidFill>
                  <a:srgbClr val="FFFFFF"/>
                </a:solidFill>
              </a:rPr>
              <a:t>• KQL workbooks for AI Act Art. 12 evidence on demand</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IMMUTABLE AUDIT</a:t>
            </a:r>
          </a:p>
          <a:p>
            <a:pPr/>
            <a:r>
              <a:rPr sz="1800" b="0">
                <a:solidFill>
                  <a:srgbClr val="FFFFFF"/>
                </a:solidFill>
              </a:rPr>
              <a:t>• Azure Blob WORM storage, EU regions, 6-month minimum retention</a:t>
            </a:r>
          </a:p>
          <a:p>
            <a:pPr/>
            <a:r>
              <a:rPr sz="1800" b="0">
                <a:solidFill>
                  <a:srgbClr val="FFFFFF"/>
                </a:solidFill>
              </a:rPr>
              <a:t>• Append-only stream of every AI decision + override</a:t>
            </a:r>
          </a:p>
          <a:p>
            <a:pPr/>
            <a:r>
              <a:rPr sz="1800" b="0">
                <a:solidFill>
                  <a:srgbClr val="FFFFFF"/>
                </a:solidFill>
              </a:rPr>
              <a:t>• Tamper-evident hashes; quarterly integrity check</a:t>
            </a:r>
          </a:p>
          <a:p>
            <a:pPr/>
            <a:r>
              <a:rPr sz="1800" b="0">
                <a:solidFill>
                  <a:srgbClr val="FFFFFF"/>
                </a:solidFill>
              </a:rPr>
              <a:t>• Surfaced to RAI Council dashboard + Steering Committee monthly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A10 · SLOs designed for school-day peaks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Latency, availability, scale — all measured on the wire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SLOS</a:t>
            </a:r>
          </a:p>
          <a:p>
            <a:pPr/>
            <a:r>
              <a:rPr sz="1800" b="0">
                <a:solidFill>
                  <a:srgbClr val="FFFFFF"/>
                </a:solidFill>
              </a:rPr>
              <a:t>• API availability: 99.9% (excl. planned maintenance windows out of school hours)</a:t>
            </a:r>
          </a:p>
          <a:p>
            <a:pPr/>
            <a:r>
              <a:rPr sz="1800" b="0">
                <a:solidFill>
                  <a:srgbClr val="FFFFFF"/>
                </a:solidFill>
              </a:rPr>
              <a:t>• Adaptive picker p95 latency: ≤ 200 ms (on-device); ≤ 800 ms (fallback)</a:t>
            </a:r>
          </a:p>
          <a:p>
            <a:pPr/>
            <a:r>
              <a:rPr sz="1800" b="0">
                <a:solidFill>
                  <a:srgbClr val="FFFFFF"/>
                </a:solidFill>
              </a:rPr>
              <a:t>• Assessment grading p95: ≤ 3 s</a:t>
            </a:r>
          </a:p>
          <a:p>
            <a:pPr/>
            <a:r>
              <a:rPr sz="1800" b="0">
                <a:solidFill>
                  <a:srgbClr val="FFFFFF"/>
                </a:solidFill>
              </a:rPr>
              <a:t>• Localisation batch: 6-week SLA per market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RESILIENCE</a:t>
            </a:r>
          </a:p>
          <a:p>
            <a:pPr/>
            <a:r>
              <a:rPr sz="1800" b="0">
                <a:solidFill>
                  <a:srgbClr val="FFFFFF"/>
                </a:solidFill>
              </a:rPr>
              <a:t>• Multi-region within EU (West Europe ↔ North Europe; DE primary in Germany)</a:t>
            </a:r>
          </a:p>
          <a:p>
            <a:pPr/>
            <a:r>
              <a:rPr sz="1800" b="0">
                <a:solidFill>
                  <a:srgbClr val="FFFFFF"/>
                </a:solidFill>
              </a:rPr>
              <a:t>• DR drill quarterly; RPO ≤ 15 min, RTO ≤ 2 h</a:t>
            </a:r>
          </a:p>
          <a:p>
            <a:pPr/>
            <a:r>
              <a:rPr sz="1800" b="0">
                <a:solidFill>
                  <a:srgbClr val="FFFFFF"/>
                </a:solidFill>
              </a:rPr>
              <a:t>• APIM rate-limit per school to prevent noisy-neighbour</a:t>
            </a:r>
          </a:p>
          <a:p>
            <a:pPr/>
            <a:r>
              <a:rPr sz="1800" b="0">
                <a:solidFill>
                  <a:srgbClr val="FFFFFF"/>
                </a:solidFill>
              </a:rPr>
              <a:t>• Kill-switch wired per AI feature (sub-5-minute disable)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A11 · Cost / learner / month is the FinOps north star</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Target ≤ €0.45 / learner / month at 3-market scale</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COST BREAKDOWN</a:t>
            </a:r>
          </a:p>
          <a:p>
            <a:pPr/>
            <a:r>
              <a:rPr sz="1800" b="0">
                <a:solidFill>
                  <a:srgbClr val="FFFFFF"/>
                </a:solidFill>
              </a:rPr>
              <a:t>• Azure compute &amp; storage: ~35% of run cost</a:t>
            </a:r>
          </a:p>
          <a:p>
            <a:pPr/>
            <a:r>
              <a:rPr sz="1800" b="0">
                <a:solidFill>
                  <a:srgbClr val="FFFFFF"/>
                </a:solidFill>
              </a:rPr>
              <a:t>• Azure OpenAI (localisation + grading): ~20% — biggest variable</a:t>
            </a:r>
          </a:p>
          <a:p>
            <a:pPr/>
            <a:r>
              <a:rPr sz="1800" b="0">
                <a:solidFill>
                  <a:srgbClr val="FFFFFF"/>
                </a:solidFill>
              </a:rPr>
              <a:t>• People (RAI, editorial, CSM, ops): ~35%</a:t>
            </a:r>
          </a:p>
          <a:p>
            <a:pPr/>
            <a:r>
              <a:rPr sz="1800" b="0">
                <a:solidFill>
                  <a:srgbClr val="FFFFFF"/>
                </a:solidFill>
              </a:rPr>
              <a:t>• Sub-processors + licences: ~10%</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OPTIMISATION LEVERS</a:t>
            </a:r>
          </a:p>
          <a:p>
            <a:pPr/>
            <a:r>
              <a:rPr sz="1800" b="0">
                <a:solidFill>
                  <a:srgbClr val="FFFFFF"/>
                </a:solidFill>
              </a:rPr>
              <a:t>• Provisioned Throughput Units (PTU) on OpenAI for predictable load</a:t>
            </a:r>
          </a:p>
          <a:p>
            <a:pPr/>
            <a:r>
              <a:rPr sz="1800" b="0">
                <a:solidFill>
                  <a:srgbClr val="FFFFFF"/>
                </a:solidFill>
              </a:rPr>
              <a:t>• Caching of repeated localisations (~30% cost avoidance modelled)</a:t>
            </a:r>
          </a:p>
          <a:p>
            <a:pPr/>
            <a:r>
              <a:rPr sz="1800" b="0">
                <a:solidFill>
                  <a:srgbClr val="FFFFFF"/>
                </a:solidFill>
              </a:rPr>
              <a:t>• Fine-tuned small models for routine tasks; frontier on edge cases</a:t>
            </a:r>
          </a:p>
          <a:p>
            <a:pPr/>
            <a:r>
              <a:rPr sz="1800" b="0">
                <a:solidFill>
                  <a:srgbClr val="FFFFFF"/>
                </a:solidFill>
              </a:rPr>
              <a:t>• Region pinning + reserved instances for Fabric capacity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A12 · 12 risks tracked, monthly Steering review</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Severity = Likelihood × Impact (1–5 each)</a:t>
            </a:r>
          </a:p>
        </p:txBody>
      </p:sp>
      <p:sp>
        <p:nvSpPr>
          <p:cNvPr id="4" name="Rounded Rectangle 3"/>
          <p:cNvSpPr/>
          <p:nvPr/>
        </p:nvSpPr>
        <p:spPr>
          <a:xfrm>
            <a:off x="600000" y="1400000"/>
            <a:ext cx="10992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400" b="0">
                <a:solidFill>
                  <a:srgbClr val="FFFFFF"/>
                </a:solidFill>
              </a:rPr>
              <a:t>• R1 · DPA blocks DPIA · sev 15 · DPO · engage early · delay that market</a:t>
            </a:r>
          </a:p>
          <a:p>
            <a:pPr/>
            <a:r>
              <a:rPr sz="1400" b="0">
                <a:solidFill>
                  <a:srgbClr val="FFFFFF"/>
                </a:solidFill>
              </a:rPr>
              <a:t>• R2 · AI Act conformity fails · sev 10 · AI Act CO · Annex IV from M0</a:t>
            </a:r>
          </a:p>
          <a:p>
            <a:pPr/>
            <a:r>
              <a:rPr sz="1400" b="0">
                <a:solidFill>
                  <a:srgbClr val="FFFFFF"/>
                </a:solidFill>
              </a:rPr>
              <a:t>• R3 · Federated runtime non-convergence · sev 12 · ML Lead · DP central fallback</a:t>
            </a:r>
          </a:p>
          <a:p>
            <a:pPr/>
            <a:r>
              <a:rPr sz="1400" b="0">
                <a:solidFill>
                  <a:srgbClr val="FFFFFF"/>
                </a:solidFill>
              </a:rPr>
              <a:t>• R4 · Localisation quality drift · sev 16 · Editorial · reviewer non-optional</a:t>
            </a:r>
          </a:p>
          <a:p>
            <a:pPr/>
            <a:r>
              <a:rPr sz="1400" b="0">
                <a:solidFill>
                  <a:srgbClr val="FFFFFF"/>
                </a:solidFill>
              </a:rPr>
              <a:t>• R5 · Teacher override explosion · sev 12 · UX/RAI · co-design + CPD</a:t>
            </a:r>
          </a:p>
          <a:p>
            <a:pPr/>
            <a:r>
              <a:rPr sz="1400" b="0">
                <a:solidFill>
                  <a:srgbClr val="FFFFFF"/>
                </a:solidFill>
              </a:rPr>
              <a:t>• R6 · Bias disparity &gt; 5pp · sev 15 · RAI · gate + same-day rollback</a:t>
            </a:r>
          </a:p>
          <a:p>
            <a:pPr/>
            <a:r>
              <a:rPr sz="1400" b="0">
                <a:solidFill>
                  <a:srgbClr val="FFFFFF"/>
                </a:solidFill>
              </a:rPr>
              <a:t>• R7 · Sub-processor change · sev 10 · DPO/Arch · quarterly review</a:t>
            </a:r>
          </a:p>
          <a:p>
            <a:pPr/>
            <a:r>
              <a:rPr sz="1400" b="0">
                <a:solidFill>
                  <a:srgbClr val="FFFFFF"/>
                </a:solidFill>
              </a:rPr>
              <a:t>• R8 · OpenAI cost runaway · sev 12 · FinOps · PTU + cache</a:t>
            </a:r>
          </a:p>
          <a:p>
            <a:pPr/>
            <a:r>
              <a:rPr sz="1400" b="0">
                <a:solidFill>
                  <a:srgbClr val="FFFFFF"/>
                </a:solidFill>
              </a:rPr>
              <a:t>• R9 · School onboarding lag · sev 12 · Country Mgrs · CSM per market</a:t>
            </a:r>
          </a:p>
          <a:p>
            <a:pPr/>
            <a:r>
              <a:rPr sz="1400" b="0">
                <a:solidFill>
                  <a:srgbClr val="FFFFFF"/>
                </a:solidFill>
              </a:rPr>
              <a:t>• R10 · Art. 73 serious incident · sev 5 · RAI/DPO · drilled IR</a:t>
            </a:r>
          </a:p>
          <a:p>
            <a:pPr/>
            <a:r>
              <a:rPr sz="1400" b="0">
                <a:solidFill>
                  <a:srgbClr val="FFFFFF"/>
                </a:solidFill>
              </a:rPr>
              <a:t>• R11 · SIS vulnerability exposes minors · sev 10 · Security · pen-test + Defender</a:t>
            </a:r>
          </a:p>
          <a:p>
            <a:pPr/>
            <a:r>
              <a:rPr sz="1400" b="0">
                <a:solidFill>
                  <a:srgbClr val="FFFFFF"/>
                </a:solidFill>
              </a:rPr>
              <a:t>• R12 · Content Safety false negative · sev 10 · RAI/Editorial · takedown &lt; 2h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A13 · Leading indicators per workstream</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What we watch weekly to know KPIs will land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LEARNER &amp; TEACHER</a:t>
            </a:r>
          </a:p>
          <a:p>
            <a:pPr/>
            <a:r>
              <a:rPr sz="1800" b="0">
                <a:solidFill>
                  <a:srgbClr val="FFFFFF"/>
                </a:solidFill>
              </a:rPr>
              <a:t>• Adaptive: mastery improvement, curriculum coverage breadth, time-on-task</a:t>
            </a:r>
          </a:p>
          <a:p>
            <a:pPr/>
            <a:r>
              <a:rPr sz="1800" b="0">
                <a:solidFill>
                  <a:srgbClr val="FFFFFF"/>
                </a:solidFill>
              </a:rPr>
              <a:t>• Adaptive: per-cohort fairness disparity (gating)</a:t>
            </a:r>
          </a:p>
          <a:p>
            <a:pPr/>
            <a:r>
              <a:rPr sz="1800" b="0">
                <a:solidFill>
                  <a:srgbClr val="FFFFFF"/>
                </a:solidFill>
              </a:rPr>
              <a:t>• Assessment: teacher minutes saved / assignment</a:t>
            </a:r>
          </a:p>
          <a:p>
            <a:pPr/>
            <a:r>
              <a:rPr sz="1800" b="0">
                <a:solidFill>
                  <a:srgbClr val="FFFFFF"/>
                </a:solidFill>
              </a:rPr>
              <a:t>• Assessment: override rate ≤ 10% target, ECE ≤ 0.05</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LOCALISATION &amp; COMPLIANCE</a:t>
            </a:r>
          </a:p>
          <a:p>
            <a:pPr/>
            <a:r>
              <a:rPr sz="1800" b="0">
                <a:solidFill>
                  <a:srgbClr val="FFFFFF"/>
                </a:solidFill>
              </a:rPr>
              <a:t>• Localisation: units / week / market, first-pass acceptance, reviewer cycle</a:t>
            </a:r>
          </a:p>
          <a:p>
            <a:pPr/>
            <a:r>
              <a:rPr sz="1800" b="0">
                <a:solidFill>
                  <a:srgbClr val="FFFFFF"/>
                </a:solidFill>
              </a:rPr>
              <a:t>• Localisation: glossary coverage % per subject</a:t>
            </a:r>
          </a:p>
          <a:p>
            <a:pPr/>
            <a:r>
              <a:rPr sz="1800" b="0">
                <a:solidFill>
                  <a:srgbClr val="FFFFFF"/>
                </a:solidFill>
              </a:rPr>
              <a:t>• Compliance: % features with current Annex IV, DPIA freshness &lt; 12mo</a:t>
            </a:r>
          </a:p>
          <a:p>
            <a:pPr/>
            <a:r>
              <a:rPr sz="1800" b="0">
                <a:solidFill>
                  <a:srgbClr val="FFFFFF"/>
                </a:solidFill>
              </a:rPr>
              <a:t>• Compliance: erasure mean cycle time, # overrides exercised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A14 · Who decides what, when</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Four bodies, named chairs, written charter</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BODIES</a:t>
            </a:r>
          </a:p>
          <a:p>
            <a:pPr/>
            <a:r>
              <a:rPr sz="1800" b="0">
                <a:solidFill>
                  <a:srgbClr val="FFFFFF"/>
                </a:solidFill>
              </a:rPr>
              <a:t>• Steering Committee — monthly · CEO chair · KPIs + risk + budget</a:t>
            </a:r>
          </a:p>
          <a:p>
            <a:pPr/>
            <a:r>
              <a:rPr sz="1800" b="0">
                <a:solidFill>
                  <a:srgbClr val="FFFFFF"/>
                </a:solidFill>
              </a:rPr>
              <a:t>• Responsible AI Council — bi-weekly · CAIO/RAI Evaluator chair · release gates</a:t>
            </a:r>
          </a:p>
          <a:p>
            <a:pPr/>
            <a:r>
              <a:rPr sz="1800" b="0">
                <a:solidFill>
                  <a:srgbClr val="FFFFFF"/>
                </a:solidFill>
              </a:rPr>
              <a:t>• Architecture Review Board — bi-weekly · CTO chair · technical decisions</a:t>
            </a:r>
          </a:p>
          <a:p>
            <a:pPr/>
            <a:r>
              <a:rPr sz="1800" b="0">
                <a:solidFill>
                  <a:srgbClr val="FFFFFF"/>
                </a:solidFill>
              </a:rPr>
              <a:t>• Teacher Council — per release · Learning Sciences chair · pedagogical sign-off</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RAI COUNCIL COMPOSITION</a:t>
            </a:r>
          </a:p>
          <a:p>
            <a:pPr/>
            <a:r>
              <a:rPr sz="1800" b="0">
                <a:solidFill>
                  <a:srgbClr val="FFFFFF"/>
                </a:solidFill>
              </a:rPr>
              <a:t>• Chair: independent (proposed)</a:t>
            </a:r>
          </a:p>
          <a:p>
            <a:pPr/>
            <a:r>
              <a:rPr sz="1800" b="0">
                <a:solidFill>
                  <a:srgbClr val="FFFFFF"/>
                </a:solidFill>
              </a:rPr>
              <a:t>• Members: RAI Evaluator, AI Act CO, GDPR Specialist, Learning Sciences,</a:t>
            </a:r>
          </a:p>
          <a:p>
            <a:pPr/>
            <a:r>
              <a:rPr sz="1800" b="0">
                <a:solidFill>
                  <a:srgbClr val="FFFFFF"/>
                </a:solidFill>
              </a:rPr>
              <a:t>• Authority: bind/release model versions, mandate rollback, escalate to Steering</a:t>
            </a:r>
          </a:p>
          <a:p>
            <a:pPr/>
            <a:r>
              <a:rPr sz="1800" b="0">
                <a:solidFill>
                  <a:srgbClr val="FFFFFF"/>
                </a:solidFill>
              </a:rPr>
              <a:t>• Outputs: weekly RAI dashboard, quarterly re-evaluation report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A15 · IR drilled, statutory windows known</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GDPR Art. 33/34 · AI Act Art. 73 · Content Safety takedown</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DETECTION &amp; TRIAGE</a:t>
            </a:r>
          </a:p>
          <a:p>
            <a:pPr/>
            <a:r>
              <a:rPr sz="1800" b="0">
                <a:solidFill>
                  <a:srgbClr val="FFFFFF"/>
                </a:solidFill>
              </a:rPr>
              <a:t>• Defender for Cloud + Sentinel — 24×7 SOC</a:t>
            </a:r>
          </a:p>
          <a:p>
            <a:pPr/>
            <a:r>
              <a:rPr sz="1800" b="0">
                <a:solidFill>
                  <a:srgbClr val="FFFFFF"/>
                </a:solidFill>
              </a:rPr>
              <a:t>• App Insights anomaly detection on AI decisions + Content Safety blocks</a:t>
            </a:r>
          </a:p>
          <a:p>
            <a:pPr/>
            <a:r>
              <a:rPr sz="1800" b="0">
                <a:solidFill>
                  <a:srgbClr val="FFFFFF"/>
                </a:solidFill>
              </a:rPr>
              <a:t>• Kill switch per AI feature (sub-5-minute disable)</a:t>
            </a:r>
          </a:p>
          <a:p>
            <a:pPr/>
            <a:r>
              <a:rPr sz="1800" b="0">
                <a:solidFill>
                  <a:srgbClr val="FFFFFF"/>
                </a:solidFill>
              </a:rPr>
              <a:t>• Severity matrix: P1 = learner data exposure or serious AI incident</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STATUTORY RESPONSE</a:t>
            </a:r>
          </a:p>
          <a:p>
            <a:pPr/>
            <a:r>
              <a:rPr sz="1800" b="0">
                <a:solidFill>
                  <a:srgbClr val="FFFFFF"/>
                </a:solidFill>
              </a:rPr>
              <a:t>• GDPR Art. 33: 72-hour DPA notification on breach (template ready)</a:t>
            </a:r>
          </a:p>
          <a:p>
            <a:pPr/>
            <a:r>
              <a:rPr sz="1800" b="0">
                <a:solidFill>
                  <a:srgbClr val="FFFFFF"/>
                </a:solidFill>
              </a:rPr>
              <a:t>• GDPR Art. 34: data-subject notification when high risk</a:t>
            </a:r>
          </a:p>
          <a:p>
            <a:pPr/>
            <a:r>
              <a:rPr sz="1800" b="0">
                <a:solidFill>
                  <a:srgbClr val="FFFFFF"/>
                </a:solidFill>
              </a:rPr>
              <a:t>• AI Act Art. 73: serious incident reporting to authority within statutory window</a:t>
            </a:r>
          </a:p>
          <a:p>
            <a:pPr/>
            <a:r>
              <a:rPr sz="1800" b="0">
                <a:solidFill>
                  <a:srgbClr val="FFFFFF"/>
                </a:solidFill>
              </a:rPr>
              <a:t>• Post-incident: root-cause analysis + RAI Council review within 5 working days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A16 · gCO₂e / learner / month — measured and reduced</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Aligned to group ESG report; auditable proxy</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BASELINE &amp; PROXY</a:t>
            </a:r>
          </a:p>
          <a:p>
            <a:pPr/>
            <a:r>
              <a:rPr sz="1800" b="0">
                <a:solidFill>
                  <a:srgbClr val="FFFFFF"/>
                </a:solidFill>
              </a:rPr>
              <a:t>• Carbon proxy = (Azure compute + storage emissions) / active learners</a:t>
            </a:r>
          </a:p>
          <a:p>
            <a:pPr/>
            <a:r>
              <a:rPr sz="1800" b="0">
                <a:solidFill>
                  <a:srgbClr val="FFFFFF"/>
                </a:solidFill>
              </a:rPr>
              <a:t>• Microsoft Emissions Impact Dashboard as primary source</a:t>
            </a:r>
          </a:p>
          <a:p>
            <a:pPr/>
            <a:r>
              <a:rPr sz="1800" b="0">
                <a:solidFill>
                  <a:srgbClr val="FFFFFF"/>
                </a:solidFill>
              </a:rPr>
              <a:t>• On-device inference reduces server-side carbon by design</a:t>
            </a:r>
          </a:p>
          <a:p>
            <a:pPr/>
            <a:r>
              <a:rPr sz="1800" b="0">
                <a:solidFill>
                  <a:srgbClr val="FFFFFF"/>
                </a:solidFill>
              </a:rPr>
              <a:t>• Reported quarterly into group ESG narrative</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REDUCTION LEVERS</a:t>
            </a:r>
          </a:p>
          <a:p>
            <a:pPr/>
            <a:r>
              <a:rPr sz="1800" b="0">
                <a:solidFill>
                  <a:srgbClr val="FFFFFF"/>
                </a:solidFill>
              </a:rPr>
              <a:t>• Region selection prioritises EU regions with high renewable share</a:t>
            </a:r>
          </a:p>
          <a:p>
            <a:pPr/>
            <a:r>
              <a:rPr sz="1800" b="0">
                <a:solidFill>
                  <a:srgbClr val="FFFFFF"/>
                </a:solidFill>
              </a:rPr>
              <a:t>• Small-first model routing (A07) directly reduces inference carbon</a:t>
            </a:r>
          </a:p>
          <a:p>
            <a:pPr/>
            <a:r>
              <a:rPr sz="1800" b="0">
                <a:solidFill>
                  <a:srgbClr val="FFFFFF"/>
                </a:solidFill>
              </a:rPr>
              <a:t>• Reserved capacity for predictable Fabric load → better PUE utilisation</a:t>
            </a:r>
          </a:p>
          <a:p>
            <a:pPr/>
            <a:r>
              <a:rPr sz="1800" b="0">
                <a:solidFill>
                  <a:srgbClr val="FFFFFF"/>
                </a:solidFill>
              </a:rPr>
              <a:t>• Decommissioning of legacy on-prem grading systems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FFFF"/>
                </a:solidFill>
              </a:rPr>
              <a:t>A17 · Acronyms and source documents</a:t>
            </a:r>
          </a:p>
        </p:txBody>
      </p:sp>
      <p:sp>
        <p:nvSpPr>
          <p:cNvPr id="3" name="TextBox 2"/>
          <p:cNvSpPr txBox="1"/>
          <p:nvPr/>
        </p:nvSpPr>
        <p:spPr>
          <a:xfrm>
            <a:off x="640000" y="950000"/>
            <a:ext cx="10912000" cy="360000"/>
          </a:xfrm>
          <a:prstGeom prst="rect">
            <a:avLst/>
          </a:prstGeom>
          <a:noFill/>
        </p:spPr>
        <p:txBody>
          <a:bodyPr wrap="square">
            <a:spAutoFit/>
          </a:bodyPr>
          <a:lstStyle/>
          <a:p>
            <a:r>
              <a:rPr sz="1800" i="1">
                <a:solidFill>
                  <a:srgbClr val="C8D4E6"/>
                </a:solidFill>
              </a:rPr>
              <a:t>Everything traceable, nothing invented</a:t>
            </a:r>
          </a:p>
        </p:txBody>
      </p:sp>
      <p:sp>
        <p:nvSpPr>
          <p:cNvPr id="4" name="Rounded Rectangle 3"/>
          <p:cNvSpPr/>
          <p:nvPr/>
        </p:nvSpPr>
        <p:spPr>
          <a:xfrm>
            <a:off x="600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ACRONYMS</a:t>
            </a:r>
          </a:p>
          <a:p>
            <a:pPr/>
            <a:r>
              <a:rPr sz="1600" b="0">
                <a:solidFill>
                  <a:srgbClr val="FFFFFF"/>
                </a:solidFill>
              </a:rPr>
              <a:t>• DPIA · Data Protection Impact Assessment (GDPR Art. 35)</a:t>
            </a:r>
          </a:p>
          <a:p>
            <a:pPr/>
            <a:r>
              <a:rPr sz="1600" b="0">
                <a:solidFill>
                  <a:srgbClr val="FFFFFF"/>
                </a:solidFill>
              </a:rPr>
              <a:t>• PPML · Privacy-Preserving Machine Learning (FL + DP + CC)</a:t>
            </a:r>
          </a:p>
          <a:p>
            <a:pPr/>
            <a:r>
              <a:rPr sz="1600" b="0">
                <a:solidFill>
                  <a:srgbClr val="FFFFFF"/>
                </a:solidFill>
              </a:rPr>
              <a:t>• RAI · Responsible AI · ECE · Expected Calibration Error</a:t>
            </a:r>
          </a:p>
          <a:p>
            <a:pPr/>
            <a:r>
              <a:rPr sz="1600" b="0">
                <a:solidFill>
                  <a:srgbClr val="FFFFFF"/>
                </a:solidFill>
              </a:rPr>
              <a:t>• APIM · Azure API Management · AML · Azure Machine Learning</a:t>
            </a:r>
          </a:p>
          <a:p>
            <a:pPr/>
            <a:r>
              <a:rPr sz="1600" b="0">
                <a:solidFill>
                  <a:srgbClr val="FFFFFF"/>
                </a:solidFill>
              </a:rPr>
              <a:t>• WORM · Write Once Read Many · CMK · Customer-Managed Keys</a:t>
            </a:r>
          </a:p>
          <a:p>
            <a:pPr/>
            <a:r>
              <a:rPr sz="1600" b="0">
                <a:solidFill>
                  <a:srgbClr val="FFFFFF"/>
                </a:solidFill>
              </a:rPr>
              <a:t>• PTU · Provisioned Throughput Units (Azure OpenAI)</a:t>
            </a:r>
          </a:p>
        </p:txBody>
      </p:sp>
      <p:sp>
        <p:nvSpPr>
          <p:cNvPr id="5" name="Rounded Rectangle 4"/>
          <p:cNvSpPr/>
          <p:nvPr/>
        </p:nvSpPr>
        <p:spPr>
          <a:xfrm>
            <a:off x="6216000" y="1400000"/>
            <a:ext cx="5376000" cy="5098000"/>
          </a:xfrm>
          <a:prstGeom prst="roundRect">
            <a:avLst/>
          </a:prstGeom>
          <a:solidFill>
            <a:srgbClr val="122A4A"/>
          </a:solidFill>
          <a:ln w="12700">
            <a:solidFill>
              <a:srgbClr val="2A4A78"/>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80000" bIns="80000"/>
          <a:lstStyle/>
          <a:p>
            <a:pPr algn="ctr"/>
            <a:r>
              <a:rPr sz="1600" b="1">
                <a:solidFill>
                  <a:srgbClr val="F28C00"/>
                </a:solidFill>
              </a:rPr>
              <a:t>SOURCE DOCUMENTS</a:t>
            </a:r>
          </a:p>
          <a:p>
            <a:pPr/>
            <a:r>
              <a:rPr sz="1600" b="0">
                <a:solidFill>
                  <a:srgbClr val="FFFFFF"/>
                </a:solidFill>
              </a:rPr>
              <a:t>• Subject/case-study-33-edtech-personalised-learning.md</a:t>
            </a:r>
          </a:p>
          <a:p>
            <a:pPr/>
            <a:r>
              <a:rPr sz="1600" b="0">
                <a:solidFill>
                  <a:srgbClr val="FFFFFF"/>
                </a:solidFill>
              </a:rPr>
              <a:t>• Subject/AMA_Rubric_Evaluation.md</a:t>
            </a:r>
          </a:p>
          <a:p>
            <a:pPr/>
            <a:r>
              <a:rPr sz="1600" b="0">
                <a:solidFill>
                  <a:srgbClr val="FFFFFF"/>
                </a:solidFill>
              </a:rPr>
              <a:t>• plan/00 → 09 (charter, roadmap, workstreams, architecture, compliance,</a:t>
            </a:r>
          </a:p>
          <a:p>
            <a:pPr/>
            <a:r>
              <a:rPr sz="1600" b="0">
                <a:solidFill>
                  <a:srgbClr val="FFFFFF"/>
                </a:solidFill>
              </a:rPr>
              <a:t>• demo/ARCHITECTURE.md · DEPLOYMENT-REPORT.md · DEMO-STORYTELLING.md</a:t>
            </a:r>
          </a:p>
          <a:p>
            <a:pPr/>
            <a:r>
              <a:rPr sz="1600" b="0">
                <a:solidFill>
                  <a:srgbClr val="FFFFFF"/>
                </a:solidFill>
              </a:rPr>
              <a:t>• agents/*.chatmode.md (9 specialist roles)</a:t>
            </a:r>
          </a:p>
          <a:p>
            <a:pPr/>
            <a:r>
              <a:rPr sz="1600" b="0">
                <a:solidFill>
                  <a:srgbClr val="FFFFFF"/>
                </a:solidFill>
              </a:rPr>
              <a:t>• restitution/deck-outline.md (technical sibling deck)</a:t>
            </a:r>
          </a:p>
        </p:txBody>
      </p:sp>
    </p:spTree>
  </p:cSld>
  <p:clrMapOvr>
    <a:masterClrMapping/>
  </p:clrMapOvr>
</p:sld>
</file>

<file path=ppt/theme/theme1.xml><?xml version="1.0" encoding="utf-8"?>
<a:theme xmlns:a="http://schemas.openxmlformats.org/drawingml/2006/main" name="Azure Master Architect Program">
  <a:themeElements>
    <a:clrScheme name="Custom 135">
      <a:dk1>
        <a:srgbClr val="091F2C"/>
      </a:dk1>
      <a:lt1>
        <a:srgbClr val="FFFFFF"/>
      </a:lt1>
      <a:dk2>
        <a:srgbClr val="2A446F"/>
      </a:dk2>
      <a:lt2>
        <a:srgbClr val="E8E6DF"/>
      </a:lt2>
      <a:accent1>
        <a:srgbClr val="8DC8E8"/>
      </a:accent1>
      <a:accent2>
        <a:srgbClr val="0078D4"/>
      </a:accent2>
      <a:accent3>
        <a:srgbClr val="C03BC4"/>
      </a:accent3>
      <a:accent4>
        <a:srgbClr val="D7D2CB"/>
      </a:accent4>
      <a:accent5>
        <a:srgbClr val="FFB900"/>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CAPS_Start2023_16-9_Event-template.potx" id="{757FA001-178F-4700-B49C-26A3D5283787}" vid="{96849954-06DF-4C81-84E4-E0323F64AD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342CBA-D417-4F32-A515-F1E8D4B1DE1D}">
  <we:reference id="wa200006038" version="1.0.0.3" store="en-US" storeType="OMEX"/>
  <we:alternateReferences>
    <we:reference id="wa200006038" version="1.0.0.3" store="en-US"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e79f37-1f0e-4bf7-bb3e-67cabedeea39">
      <Terms xmlns="http://schemas.microsoft.com/office/infopath/2007/PartnerControls"/>
    </lcf76f155ced4ddcb4097134ff3c332f>
    <TaxCatchAll xmlns="a96a0fda-9d77-4caa-b103-9eb7282ab7c7" xsi:nil="true"/>
    <_ip_UnifiedCompliancePolicyUIAction xmlns="http://schemas.microsoft.com/sharepoint/v3" xsi:nil="true"/>
    <IconOverlay xmlns="http://schemas.microsoft.com/sharepoint/v4" xsi:nil="true"/>
    <_ip_UnifiedCompliancePolicyProperties xmlns="http://schemas.microsoft.com/sharepoint/v3" xsi:nil="true"/>
    <_dlc_ExpireDateSaved xmlns="http://schemas.microsoft.com/sharepoint/v3" xsi:nil="true"/>
    <_dlc_ExpireDate xmlns="http://schemas.microsoft.com/sharepoint/v3">2026-01-12T03:34:14+00:00</_dlc_ExpireDate>
  </documentManagement>
</p:properties>
</file>

<file path=customXml/item2.xml><?xml version="1.0" encoding="utf-8"?>
<?mso-contentType ?>
<p:Policy xmlns:p="office.server.policy" id="" local="true">
  <p:Name>Document</p:Name>
  <p:Description/>
  <p:Statement/>
  <p:PolicyItems>
    <p:PolicyItem featureId="Microsoft.Office.RecordsManagement.PolicyFeatures.Expiration" staticId="0x01010098CF26BE9161E94EB79A57119623B6D1|-369733750" UniqueId="787e81f8-5d6e-4a2b-9781-9d79b9ec2699">
      <p:Name>Retention</p:Name>
      <p:Description>Automatic scheduling of content for processing, and performing a retention action on content that has reached its due date.</p:Description>
      <p:CustomData>
        <Schedules nextStageId="2">
          <Schedule type="Default">
            <stages>
              <data stageId="1" recur="true" offset="7" unit="days">
                <formula id="Microsoft.Office.RecordsManagement.PolicyFeatures.Expiration.Formula.BuiltIn">
                  <number>30</number>
                  <property>Modified</property>
                  <propertyId>28cf69c5-fa48-462a-b5cd-27b6f9d2bd5f</propertyId>
                  <period>days</period>
                </formula>
                <action type="action" id="Microsoft.Office.RecordsManagement.PolicyFeatures.Expiration.Action.DeletePreviousVersions"/>
              </data>
            </stages>
          </Schedule>
        </Schedules>
      </p:CustomData>
    </p:PolicyItem>
  </p:PolicyItems>
</p:Policy>
</file>

<file path=customXml/item3.xml><?xml version="1.0" encoding="utf-8"?>
<ct:contentTypeSchema xmlns:ct="http://schemas.microsoft.com/office/2006/metadata/contentType" xmlns:ma="http://schemas.microsoft.com/office/2006/metadata/properties/metaAttributes" ct:_="" ma:_="" ma:contentTypeName="Document" ma:contentTypeID="0x01010098CF26BE9161E94EB79A57119623B6D1" ma:contentTypeVersion="41" ma:contentTypeDescription="Create a new document." ma:contentTypeScope="" ma:versionID="2f9adfa47469579965e424a5547268a8">
  <xsd:schema xmlns:xsd="http://www.w3.org/2001/XMLSchema" xmlns:xs="http://www.w3.org/2001/XMLSchema" xmlns:p="http://schemas.microsoft.com/office/2006/metadata/properties" xmlns:ns1="http://schemas.microsoft.com/sharepoint/v3" xmlns:ns2="a96a0fda-9d77-4caa-b103-9eb7282ab7c7" xmlns:ns3="11e79f37-1f0e-4bf7-bb3e-67cabedeea39" xmlns:ns4="http://schemas.microsoft.com/sharepoint/v4" targetNamespace="http://schemas.microsoft.com/office/2006/metadata/properties" ma:root="true" ma:fieldsID="5e59fd074e0666e14ec0a40aa4220785" ns1:_="" ns2:_="" ns3:_="" ns4:_="">
    <xsd:import namespace="http://schemas.microsoft.com/sharepoint/v3"/>
    <xsd:import namespace="a96a0fda-9d77-4caa-b103-9eb7282ab7c7"/>
    <xsd:import namespace="11e79f37-1f0e-4bf7-bb3e-67cabedeea39"/>
    <xsd:import namespace="http://schemas.microsoft.com/sharepoint/v4"/>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EventHashCode" minOccurs="0"/>
                <xsd:element ref="ns3:MediaServiceGenerationTime" minOccurs="0"/>
                <xsd:element ref="ns3:MediaServiceOCR" minOccurs="0"/>
                <xsd:element ref="ns1:_ip_UnifiedCompliancePolicyProperties" minOccurs="0"/>
                <xsd:element ref="ns1:_ip_UnifiedCompliancePolicyUIAction" minOccurs="0"/>
                <xsd:element ref="ns3:MediaServiceAutoKeyPoints" minOccurs="0"/>
                <xsd:element ref="ns3:MediaServiceKeyPoints" minOccurs="0"/>
                <xsd:element ref="ns3:MediaServiceLocation" minOccurs="0"/>
                <xsd:element ref="ns3:MediaLengthInSeconds" minOccurs="0"/>
                <xsd:element ref="ns4:IconOverlay" minOccurs="0"/>
                <xsd:element ref="ns3:lcf76f155ced4ddcb4097134ff3c332f" minOccurs="0"/>
                <xsd:element ref="ns2:TaxCatchAll" minOccurs="0"/>
                <xsd:element ref="ns1:_dlc_Exempt" minOccurs="0"/>
                <xsd:element ref="ns1:_dlc_ExpireDateSaved" minOccurs="0"/>
                <xsd:element ref="ns1:_dlc_ExpireDate"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element name="_dlc_Exempt" ma:index="29" nillable="true" ma:displayName="Exempt from Policy" ma:hidden="true" ma:internalName="_dlc_Exempt" ma:readOnly="true">
      <xsd:simpleType>
        <xsd:restriction base="dms:Unknown"/>
      </xsd:simpleType>
    </xsd:element>
    <xsd:element name="_dlc_ExpireDateSaved" ma:index="30" nillable="true" ma:displayName="Original Expiration Date" ma:hidden="true" ma:internalName="_dlc_ExpireDateSaved" ma:readOnly="true">
      <xsd:simpleType>
        <xsd:restriction base="dms:DateTime"/>
      </xsd:simpleType>
    </xsd:element>
    <xsd:element name="_dlc_ExpireDate" ma:index="31" nillable="true" ma:displayName="Expiration Date" ma:description="" ma:hidden="true" ma:indexed="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a96a0fda-9d77-4caa-b103-9eb7282ab7c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8" nillable="true" ma:displayName="Taxonomy Catch All Column" ma:hidden="true" ma:list="{14225c2a-0f11-4912-ba07-acd5603f885b}" ma:internalName="TaxCatchAll" ma:showField="CatchAllData" ma:web="a96a0fda-9d77-4caa-b103-9eb7282ab7c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1e79f37-1f0e-4bf7-bb3e-67cabedeea39"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internalName="MediaServiceAutoTags"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d6d14119-9ae9-4cc6-a406-008d392c1a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5"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772DD3-90A8-4B0E-B011-70FB70144E03}">
  <ds:schemaRefs>
    <ds:schemaRef ds:uri="a96a0fda-9d77-4caa-b103-9eb7282ab7c7"/>
    <ds:schemaRef ds:uri="http://schemas.microsoft.com/sharepoint/v4"/>
    <ds:schemaRef ds:uri="http://schemas.openxmlformats.org/package/2006/metadata/core-properties"/>
    <ds:schemaRef ds:uri="http://purl.org/dc/terms/"/>
    <ds:schemaRef ds:uri="11e79f37-1f0e-4bf7-bb3e-67cabedeea39"/>
    <ds:schemaRef ds:uri="http://schemas.microsoft.com/office/2006/documentManagement/types"/>
    <ds:schemaRef ds:uri="http://schemas.microsoft.com/office/infopath/2007/PartnerControls"/>
    <ds:schemaRef ds:uri="http://www.w3.org/XML/1998/namespace"/>
    <ds:schemaRef ds:uri="http://purl.org/dc/elements/1.1/"/>
    <ds:schemaRef ds:uri="http://schemas.microsoft.com/sharepoint/v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721C011-250E-414E-B694-B5D234F0BCB9}">
  <ds:schemaRefs>
    <ds:schemaRef ds:uri="office.server.policy"/>
  </ds:schemaRefs>
</ds:datastoreItem>
</file>

<file path=customXml/itemProps3.xml><?xml version="1.0" encoding="utf-8"?>
<ds:datastoreItem xmlns:ds="http://schemas.openxmlformats.org/officeDocument/2006/customXml" ds:itemID="{FF928D17-6B84-416E-8B8C-4DC83F673DAE}">
  <ds:schemaRefs>
    <ds:schemaRef ds:uri="11e79f37-1f0e-4bf7-bb3e-67cabedeea39"/>
    <ds:schemaRef ds:uri="a96a0fda-9d77-4caa-b103-9eb7282ab7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72E6025E-C127-4B7B-AAF2-1F0FD425C31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M&amp;O Brand-M&amp;O PPT Template-full version (2)</Template>
  <TotalTime>0</TotalTime>
  <Words>605</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SemiBold</vt:lpstr>
      <vt:lpstr>Arial</vt:lpstr>
      <vt:lpstr>Segoe UI</vt:lpstr>
      <vt:lpstr>Segoe UI Semibold</vt:lpstr>
      <vt:lpstr>Wingdings</vt:lpstr>
      <vt:lpstr>Azure Master Architect Program</vt:lpstr>
      <vt:lpstr>Azure Master Architect Program</vt:lpstr>
      <vt:lpstr>AGENDA</vt:lpstr>
      <vt:lpstr>What Success Looks like?/Customer Objectives</vt:lpstr>
      <vt:lpstr>How to get there?/ Solution Details</vt:lpstr>
      <vt:lpstr>Solution Details</vt:lpstr>
      <vt:lpstr>Key Benefits and Value Delivery</vt:lpstr>
      <vt:lpstr>Next Steps</vt:lpstr>
      <vt:lpstr>PowerPoint Presentation</vt:lpstr>
    </vt:vector>
  </TitlesOfParts>
  <Manager/>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
  <dc:creator>Jesus Rodriguez</dc:creator>
  <cp:keywords/>
  <dc:description/>
  <cp:lastModifiedBy>Etienne Sigwald</cp:lastModifiedBy>
  <cp:revision>2</cp:revision>
  <cp:lastPrinted>2023-06-08T02:44:40Z</cp:lastPrinted>
  <dcterms:created xsi:type="dcterms:W3CDTF">2023-02-17T20:44:47Z</dcterms:created>
  <dcterms:modified xsi:type="dcterms:W3CDTF">2026-05-15T12:22:53Z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b562966-c66d-4b83-aa77-49bdfed04c11_Enabled">
    <vt:lpwstr>true</vt:lpwstr>
  </property>
  <property fmtid="{D5CDD505-2E9C-101B-9397-08002B2CF9AE}" pid="3" name="MSIP_Label_cb562966-c66d-4b83-aa77-49bdfed04c11_SetDate">
    <vt:lpwstr>2022-01-25T00:15:10Z</vt:lpwstr>
  </property>
  <property fmtid="{D5CDD505-2E9C-101B-9397-08002B2CF9AE}" pid="4" name="MSIP_Label_cb562966-c66d-4b83-aa77-49bdfed04c11_Method">
    <vt:lpwstr>Standard</vt:lpwstr>
  </property>
  <property fmtid="{D5CDD505-2E9C-101B-9397-08002B2CF9AE}" pid="5" name="MSIP_Label_cb562966-c66d-4b83-aa77-49bdfed04c11_Name">
    <vt:lpwstr>Non-Confidential</vt:lpwstr>
  </property>
  <property fmtid="{D5CDD505-2E9C-101B-9397-08002B2CF9AE}" pid="6" name="MSIP_Label_cb562966-c66d-4b83-aa77-49bdfed04c11_SiteId">
    <vt:lpwstr>a57507b2-d296-4dca-a9ae-67b1484e02a9</vt:lpwstr>
  </property>
  <property fmtid="{D5CDD505-2E9C-101B-9397-08002B2CF9AE}" pid="7" name="MSIP_Label_cb562966-c66d-4b83-aa77-49bdfed04c11_ActionId">
    <vt:lpwstr>e6f19365-f68f-4bd5-8a89-b119d81b90bd</vt:lpwstr>
  </property>
  <property fmtid="{D5CDD505-2E9C-101B-9397-08002B2CF9AE}" pid="8" name="MSIP_Label_cb562966-c66d-4b83-aa77-49bdfed04c11_ContentBits">
    <vt:lpwstr>0</vt:lpwstr>
  </property>
  <property fmtid="{D5CDD505-2E9C-101B-9397-08002B2CF9AE}" pid="9" name="MediaServiceImageTags">
    <vt:lpwstr/>
  </property>
  <property fmtid="{D5CDD505-2E9C-101B-9397-08002B2CF9AE}" pid="10" name="_dlc_policyId">
    <vt:lpwstr>0x01010098CF26BE9161E94EB79A57119623B6D1|-369733750</vt:lpwstr>
  </property>
  <property fmtid="{D5CDD505-2E9C-101B-9397-08002B2CF9AE}" pid="1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2" name="ContentTypeId">
    <vt:lpwstr>0x01010098CF26BE9161E94EB79A57119623B6D1</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